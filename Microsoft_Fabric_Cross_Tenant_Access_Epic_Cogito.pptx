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embeddedFontLst>
    <p:embeddedFont>
      <p:font typeface="Inter" panose="020B0604020202020204" charset="0"/>
      <p:regular r:id="rId20"/>
      <p:bold r:id="rId21"/>
    </p:embeddedFont>
    <p:embeddedFont>
      <p:font typeface="Poppins" panose="00000500000000000000" pitchFamily="2"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04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cross-tenant resource-tenant model is fully documented by Microsoft and works for lakehouses, warehouses, notebooks, and other Fabric items. However, Epic has not publicly confirmed whether Cogito exposes a Fabric workspace or whether B2B guest access is enabled in their tenant. Next step: engage Epic account management with the six questions listed in slide 9.
Sources:
- [1] Microsoft Learn, Collaborate with external users in Fabric (preview) https://learn.microsoft.com/en-us/fabric/security/security-external-data-sharing-overview
- [2] Microsoft Fabric Community, Cross-Tenant Access in Microsoft Fabric https://community.fabric.microsoft.com/t5/Service/Cross-Tenant-Access-in-Microsoft-Fabric/m-p/3546108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Fabric uses a resource-tenant model where the provider tenant owns the Fabric capacity and grants access to external identities from a consumer (home) tenant. Both sides have independent admin controls. The provider controls which external identities may access Fabric items; the consumer controls whether its users may accept invitations.
Sources:
- [1] Microsoft Learn, Collaborate with external users in Fabric (preview) https://learn.microsoft.com/en-us/fabric/security/security-external-data-sharing-overview
- [2] Microsoft Fabric Community, Cross-Tenant Access in Microsoft Fabric https://community.fabric.microsoft.com/t5/Service/Cross-Tenant-Access-in-Microsoft-Fabric/m-p/3546108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resource-tenant model creates a bilateral administrative structure. The provider tenant administrator decides which external identities can access Fabric items. The consumer tenant administrator decides whether its users can accept external invitations. Both sides must enable access for cross-tenant collaboration to work.
Sources:
- [1] Microsoft Learn, Collaborate with external users in Fabric (preview) https://learn.microsoft.com/en-us/fabric/security/security-external-data-sharing-overview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Consistent terminology is critical for cross-team communication. The resource tenant (also called the provider tenant) owns all Fabric assets. The home tenant (also called the consumer tenant) is where the user's identity is registered. The user 'travels' to the resource tenant to access shared items.
Sources:
- [1] Microsoft Learn, Collaborate with external users in Fabric (preview) https://learn.microsoft.com/en-us/fabric/security/security-external-data-sharing-overview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Cross-tenant access relies on Microsoft Entra B2B (business-to-business). Three identity types are supported. The consumer-side user appears as a guest in the provider tenant's Entra ID directory. Fabric then applies its own role-based and item-level permissions on top of the Entra identity.
Sources:
- [1] Microsoft Learn, Collaborate with external users in Fabric (preview) https://learn.microsoft.com/en-us/fabric/security/security-external-data-sharing-overview
- [3] Microsoft Learn, Entra B2B overview https://learn.microsoft.com/en-us/entra/external-id/what-is-b2b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settings in the provider tenant must be correctly configured for cross-tenant access to work. Additionally, guest users need a Fabric licence allocated in the resource (provider) tenant, not the home tenant. The provider tenant's Fabric capacity absorbs the compute cost.
Sources:
- [1] Microsoft Learn, Collaborate with external users in Fabric (preview) https://learn.microsoft.com/en-us/fabric/security/security-external-data-sharing-overview
- [2] Microsoft Fabric Community, Cross-Tenant Access in Microsoft Fabric https://community.fabric.microsoft.com/t5/Service/Cross-Tenant-Access-in-Microsoft-Fabric/m-p/3546108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Epic Cogito is Epic's analytics and reporting platform. Recent partnership announcements with Microsoft confirm Epic is adopting Fabric as an underlying technology. If Epic provisions a Fabric workspace inside their Entra ID tenant, they become the resource (provider) tenant. However, four critical operational details remain publicly unconfirmed.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should be directed to Epic account management to resolve the operational gaps identified in the validation findings. Answers will determine whether the cross-tenant architecture path is viable or whether the fallback self-hosted approach is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architecture scenarios described as process flows. Diagram A shows the standard cross-tenant path with B2B identity bridging. Diagram B shows the layered identity and permission stack from Entra ID through to row/column-level security. Diagram C shows the fallback when Epic does not expose Fabric — customer ingests data into their own Fabric instance.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Seven-step implementation checklist with clear ownership. Steps are sequential: start with Epic confirmation, then configure consumer-side identity, accept invitations, confirm licensing, validate access, apply governance, and document network requirements. Each step has a designated owner team.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governance areas require attention when enabling cross-tenant guest access. The resource (Epic) tenant's conditional access policies apply to guest sessions, including MFA, device compliance, and location requirements. Sensitivity labels and DLP policies govern data classification. Fabric audit logs record guest activity. B2B guest accounts should have expiry and access-review policies.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Epic provides data only via API or export (not a shared Fabric workspace), the customer must provision their own Fabric capacity and build an ingestion pipeline. This avoids cross-tenant access entirely but requires the customer to own and fund Fabric capacity and ETL development.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confidence ranges from High (Microsoft primary documentation) to Not Confirmed (Epic tenant settings). Microsoft Learn documentation provides the strongest evidence for the cross-tenant architecture. Epic-specific operational details remain the key gap.
Sources:
- [1] Microsoft Learn, Collaborate with external users in Fabric https://learn.microsoft.com/en-us/fabric/security/security-external-data-sharing-overview
- [2] Microsoft Fabric Community, Cross-Tenant Access https://community.fabric.microsoft.com/t5/Service/Cross-Tenant-Access-in-Microsoft-Fabric/m-p/3546108
- [3] Microsoft Learn, Entra B2B overview https://learn.microsoft.com/en-us/entra/external-id/what-is-b2b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cross-tenant model is the correct Microsoft-supported architecture for accessing Fabric resources in an external tenant. All technical prerequisites are documented. The sole gap is operational confirmation from Epic. Until Epic confirms, plan for both paths: the cross-tenant primary path and the self-hosted fallback ingestion path.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918179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703575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_MASTER">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0" y="0"/>
            <a:ext cx="9143771" cy="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0" y="0"/>
            <a:ext cx="95098" cy="6858000"/>
          </a:xfrm>
          <a:prstGeom prst="rect">
            <a:avLst/>
          </a:prstGeom>
          <a:solidFill>
            <a:srgbClr val="3ABAC8"/>
          </a:solidFill>
          <a:ln/>
        </p:spPr>
        <p:txBody>
          <a:bodyPr/>
          <a:lstStyle/>
          <a:p>
            <a:endParaRPr lang="en-US"/>
          </a:p>
        </p:txBody>
      </p:sp>
      <p:sp>
        <p:nvSpPr>
          <p:cNvPr id="3" name="Shape 1"/>
          <p:cNvSpPr/>
          <p:nvPr/>
        </p:nvSpPr>
        <p:spPr>
          <a:xfrm>
            <a:off x="914400" y="2103120"/>
            <a:ext cx="740664" cy="740664"/>
          </a:xfrm>
          <a:prstGeom prst="roundRect">
            <a:avLst>
              <a:gd name="adj" fmla="val 23457"/>
            </a:avLst>
          </a:prstGeom>
          <a:solidFill>
            <a:srgbClr val="1A4A6A"/>
          </a:solidFill>
          <a:ln w="12700">
            <a:solidFill>
              <a:srgbClr val="1A3A5E"/>
            </a:solidFill>
            <a:prstDash val="solid"/>
          </a:ln>
        </p:spPr>
        <p:txBody>
          <a:bodyPr/>
          <a:lstStyle/>
          <a:p>
            <a:endParaRPr lang="en-US"/>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 y="2272284"/>
            <a:ext cx="402336" cy="402336"/>
          </a:xfrm>
          <a:prstGeom prst="rect">
            <a:avLst/>
          </a:prstGeom>
        </p:spPr>
      </p:pic>
      <p:sp>
        <p:nvSpPr>
          <p:cNvPr id="5" name="Text 0"/>
          <p:cNvSpPr>
            <a:spLocks noGrp="1"/>
          </p:cNvSpPr>
          <p:nvPr>
            <p:ph type="title" idx="100" hasCustomPrompt="1"/>
          </p:nvPr>
        </p:nvSpPr>
        <p:spPr>
          <a:xfrm>
            <a:off x="914400" y="3017520"/>
            <a:ext cx="9875520" cy="1234440"/>
          </a:xfrm>
          <a:prstGeom prst="rect">
            <a:avLst/>
          </a:prstGeom>
          <a:noFill/>
          <a:ln/>
        </p:spPr>
        <p:txBody>
          <a:bodyPr wrap="square" lIns="0" tIns="0" rIns="0" bIns="0" rtlCol="0" anchor="t"/>
          <a:lstStyle/>
          <a:p>
            <a:pPr marL="0" indent="0" algn="l">
              <a:buNone/>
            </a:pPr>
            <a:r>
              <a:rPr lang="en-US" sz="4000" b="1" dirty="0">
                <a:solidFill>
                  <a:srgbClr val="FFFFFF"/>
                </a:solidFill>
                <a:latin typeface="Poppins" pitchFamily="34" charset="0"/>
                <a:ea typeface="Poppins" pitchFamily="34" charset="-122"/>
                <a:cs typeface="Poppins" pitchFamily="34" charset="-120"/>
              </a:rPr>
              <a:t>Microsoft Fabric Cross-Tenant Access</a:t>
            </a:r>
            <a:endParaRPr lang="en-US" sz="4000" dirty="0"/>
          </a:p>
        </p:txBody>
      </p:sp>
      <p:sp>
        <p:nvSpPr>
          <p:cNvPr id="6" name="Text 3"/>
          <p:cNvSpPr/>
          <p:nvPr/>
        </p:nvSpPr>
        <p:spPr>
          <a:xfrm>
            <a:off x="914400" y="4407408"/>
            <a:ext cx="8686800" cy="342900"/>
          </a:xfrm>
          <a:prstGeom prst="rect">
            <a:avLst/>
          </a:prstGeom>
          <a:noFill/>
          <a:ln/>
        </p:spPr>
        <p:txBody>
          <a:bodyPr wrap="square" lIns="0" tIns="0" rIns="0" bIns="0" rtlCol="0" anchor="t"/>
          <a:lstStyle/>
          <a:p>
            <a:pPr marL="0" indent="0" algn="l">
              <a:buNone/>
            </a:pPr>
            <a:r>
              <a:rPr lang="en-US" sz="1800" dirty="0">
                <a:solidFill>
                  <a:srgbClr val="B8CDE0"/>
                </a:solidFill>
                <a:latin typeface="Inter" pitchFamily="34" charset="0"/>
                <a:ea typeface="Inter" pitchFamily="34" charset="-122"/>
                <a:cs typeface="Inter" pitchFamily="34" charset="-120"/>
              </a:rPr>
              <a:t>Architecture assessment for Epic/Cogito as resource-tenant provider</a:t>
            </a:r>
            <a:endParaRPr lang="en-US" sz="1800" dirty="0"/>
          </a:p>
        </p:txBody>
      </p:sp>
      <p:sp>
        <p:nvSpPr>
          <p:cNvPr id="7" name="Shape 4"/>
          <p:cNvSpPr/>
          <p:nvPr/>
        </p:nvSpPr>
        <p:spPr>
          <a:xfrm>
            <a:off x="914400" y="5212080"/>
            <a:ext cx="990373" cy="384048"/>
          </a:xfrm>
          <a:prstGeom prst="roundRect">
            <a:avLst>
              <a:gd name="adj" fmla="val 50000"/>
            </a:avLst>
          </a:prstGeom>
          <a:solidFill>
            <a:srgbClr val="0B2A4A"/>
          </a:solidFill>
          <a:ln w="12700">
            <a:solidFill>
              <a:srgbClr val="1A3A5E"/>
            </a:solidFill>
            <a:prstDash val="solid"/>
          </a:ln>
        </p:spPr>
        <p:txBody>
          <a:bodyPr/>
          <a:lstStyle/>
          <a:p>
            <a:endParaRPr lang="en-US"/>
          </a:p>
        </p:txBody>
      </p:sp>
      <p:sp>
        <p:nvSpPr>
          <p:cNvPr id="8" name="Shape 5"/>
          <p:cNvSpPr/>
          <p:nvPr/>
        </p:nvSpPr>
        <p:spPr>
          <a:xfrm>
            <a:off x="1097280" y="5367528"/>
            <a:ext cx="73152" cy="73152"/>
          </a:xfrm>
          <a:prstGeom prst="ellipse">
            <a:avLst/>
          </a:prstGeom>
          <a:solidFill>
            <a:srgbClr val="3ABAC8"/>
          </a:solidFill>
          <a:ln/>
        </p:spPr>
        <p:txBody>
          <a:bodyPr/>
          <a:lstStyle/>
          <a:p>
            <a:endParaRPr lang="en-US"/>
          </a:p>
        </p:txBody>
      </p:sp>
      <p:sp>
        <p:nvSpPr>
          <p:cNvPr id="9" name="Text 6"/>
          <p:cNvSpPr/>
          <p:nvPr/>
        </p:nvSpPr>
        <p:spPr>
          <a:xfrm>
            <a:off x="1271016" y="5212080"/>
            <a:ext cx="441733" cy="384048"/>
          </a:xfrm>
          <a:prstGeom prst="rect">
            <a:avLst/>
          </a:prstGeom>
          <a:noFill/>
          <a:ln/>
        </p:spPr>
        <p:txBody>
          <a:bodyPr wrap="none" lIns="0" tIns="0" rIns="0" bIns="0" rtlCol="0" anchor="ctr"/>
          <a:lstStyle/>
          <a:p>
            <a:pPr marL="0" indent="0" algn="l">
              <a:buNone/>
            </a:pPr>
            <a:r>
              <a:rPr lang="en-US" sz="1050" dirty="0">
                <a:solidFill>
                  <a:srgbClr val="B8CDE0"/>
                </a:solidFill>
                <a:latin typeface="Inter" pitchFamily="34" charset="0"/>
                <a:ea typeface="Inter" pitchFamily="34" charset="-122"/>
                <a:cs typeface="Inter" pitchFamily="34" charset="-120"/>
              </a:rPr>
              <a:t>Fabric</a:t>
            </a:r>
            <a:endParaRPr lang="en-US" sz="1050" dirty="0"/>
          </a:p>
        </p:txBody>
      </p:sp>
      <p:sp>
        <p:nvSpPr>
          <p:cNvPr id="10" name="Shape 7"/>
          <p:cNvSpPr/>
          <p:nvPr/>
        </p:nvSpPr>
        <p:spPr>
          <a:xfrm>
            <a:off x="2051077" y="5212080"/>
            <a:ext cx="1439648" cy="384048"/>
          </a:xfrm>
          <a:prstGeom prst="roundRect">
            <a:avLst>
              <a:gd name="adj" fmla="val 50000"/>
            </a:avLst>
          </a:prstGeom>
          <a:solidFill>
            <a:srgbClr val="0B2A4A"/>
          </a:solidFill>
          <a:ln w="12700">
            <a:solidFill>
              <a:srgbClr val="1A3A5E"/>
            </a:solidFill>
            <a:prstDash val="solid"/>
          </a:ln>
        </p:spPr>
        <p:txBody>
          <a:bodyPr/>
          <a:lstStyle/>
          <a:p>
            <a:endParaRPr lang="en-US"/>
          </a:p>
        </p:txBody>
      </p:sp>
      <p:sp>
        <p:nvSpPr>
          <p:cNvPr id="11" name="Shape 8"/>
          <p:cNvSpPr/>
          <p:nvPr/>
        </p:nvSpPr>
        <p:spPr>
          <a:xfrm>
            <a:off x="2233957" y="5367528"/>
            <a:ext cx="73152" cy="73152"/>
          </a:xfrm>
          <a:prstGeom prst="ellipse">
            <a:avLst/>
          </a:prstGeom>
          <a:solidFill>
            <a:srgbClr val="3ABAC8"/>
          </a:solidFill>
          <a:ln/>
        </p:spPr>
        <p:txBody>
          <a:bodyPr/>
          <a:lstStyle/>
          <a:p>
            <a:endParaRPr lang="en-US"/>
          </a:p>
        </p:txBody>
      </p:sp>
      <p:sp>
        <p:nvSpPr>
          <p:cNvPr id="12" name="Text 9"/>
          <p:cNvSpPr/>
          <p:nvPr/>
        </p:nvSpPr>
        <p:spPr>
          <a:xfrm>
            <a:off x="2407693" y="5212080"/>
            <a:ext cx="891008" cy="384048"/>
          </a:xfrm>
          <a:prstGeom prst="rect">
            <a:avLst/>
          </a:prstGeom>
          <a:noFill/>
          <a:ln/>
        </p:spPr>
        <p:txBody>
          <a:bodyPr wrap="none" lIns="0" tIns="0" rIns="0" bIns="0" rtlCol="0" anchor="ctr"/>
          <a:lstStyle/>
          <a:p>
            <a:pPr marL="0" indent="0" algn="l">
              <a:buNone/>
            </a:pPr>
            <a:r>
              <a:rPr lang="en-US" sz="1050" dirty="0">
                <a:solidFill>
                  <a:srgbClr val="B8CDE0"/>
                </a:solidFill>
                <a:latin typeface="Inter" pitchFamily="34" charset="0"/>
                <a:ea typeface="Inter" pitchFamily="34" charset="-122"/>
                <a:cs typeface="Inter" pitchFamily="34" charset="-120"/>
              </a:rPr>
              <a:t>Cross-Tenant</a:t>
            </a:r>
            <a:endParaRPr lang="en-US" sz="1050" dirty="0"/>
          </a:p>
        </p:txBody>
      </p:sp>
      <p:sp>
        <p:nvSpPr>
          <p:cNvPr id="13" name="Shape 10"/>
          <p:cNvSpPr/>
          <p:nvPr/>
        </p:nvSpPr>
        <p:spPr>
          <a:xfrm>
            <a:off x="3637029" y="5212080"/>
            <a:ext cx="1348816" cy="384048"/>
          </a:xfrm>
          <a:prstGeom prst="roundRect">
            <a:avLst>
              <a:gd name="adj" fmla="val 50000"/>
            </a:avLst>
          </a:prstGeom>
          <a:solidFill>
            <a:srgbClr val="0B2A4A"/>
          </a:solidFill>
          <a:ln w="12700">
            <a:solidFill>
              <a:srgbClr val="1A3A5E"/>
            </a:solidFill>
            <a:prstDash val="solid"/>
          </a:ln>
        </p:spPr>
        <p:txBody>
          <a:bodyPr/>
          <a:lstStyle/>
          <a:p>
            <a:endParaRPr lang="en-US"/>
          </a:p>
        </p:txBody>
      </p:sp>
      <p:sp>
        <p:nvSpPr>
          <p:cNvPr id="14" name="Shape 11"/>
          <p:cNvSpPr/>
          <p:nvPr/>
        </p:nvSpPr>
        <p:spPr>
          <a:xfrm>
            <a:off x="3819909" y="5367528"/>
            <a:ext cx="73152" cy="73152"/>
          </a:xfrm>
          <a:prstGeom prst="ellipse">
            <a:avLst/>
          </a:prstGeom>
          <a:solidFill>
            <a:srgbClr val="3ABAC8"/>
          </a:solidFill>
          <a:ln/>
        </p:spPr>
        <p:txBody>
          <a:bodyPr/>
          <a:lstStyle/>
          <a:p>
            <a:endParaRPr lang="en-US"/>
          </a:p>
        </p:txBody>
      </p:sp>
      <p:sp>
        <p:nvSpPr>
          <p:cNvPr id="15" name="Text 12"/>
          <p:cNvSpPr/>
          <p:nvPr/>
        </p:nvSpPr>
        <p:spPr>
          <a:xfrm>
            <a:off x="3993645" y="5212080"/>
            <a:ext cx="800176" cy="384048"/>
          </a:xfrm>
          <a:prstGeom prst="rect">
            <a:avLst/>
          </a:prstGeom>
          <a:noFill/>
          <a:ln/>
        </p:spPr>
        <p:txBody>
          <a:bodyPr wrap="none" lIns="0" tIns="0" rIns="0" bIns="0" rtlCol="0" anchor="ctr"/>
          <a:lstStyle/>
          <a:p>
            <a:pPr marL="0" indent="0" algn="l">
              <a:buNone/>
            </a:pPr>
            <a:r>
              <a:rPr lang="en-US" sz="1050" dirty="0">
                <a:solidFill>
                  <a:srgbClr val="B8CDE0"/>
                </a:solidFill>
                <a:latin typeface="Inter" pitchFamily="34" charset="0"/>
                <a:ea typeface="Inter" pitchFamily="34" charset="-122"/>
                <a:cs typeface="Inter" pitchFamily="34" charset="-120"/>
              </a:rPr>
              <a:t>Epic/Cogito</a:t>
            </a:r>
            <a:endParaRPr lang="en-US" sz="1050" dirty="0"/>
          </a:p>
        </p:txBody>
      </p:sp>
      <p:sp>
        <p:nvSpPr>
          <p:cNvPr id="16" name="Shape 13"/>
          <p:cNvSpPr/>
          <p:nvPr/>
        </p:nvSpPr>
        <p:spPr>
          <a:xfrm>
            <a:off x="5132149" y="5212080"/>
            <a:ext cx="1262152" cy="384048"/>
          </a:xfrm>
          <a:prstGeom prst="roundRect">
            <a:avLst>
              <a:gd name="adj" fmla="val 50000"/>
            </a:avLst>
          </a:prstGeom>
          <a:solidFill>
            <a:srgbClr val="0B2A4A"/>
          </a:solidFill>
          <a:ln w="12700">
            <a:solidFill>
              <a:srgbClr val="1A3A5E"/>
            </a:solidFill>
            <a:prstDash val="solid"/>
          </a:ln>
        </p:spPr>
        <p:txBody>
          <a:bodyPr/>
          <a:lstStyle/>
          <a:p>
            <a:endParaRPr lang="en-US"/>
          </a:p>
        </p:txBody>
      </p:sp>
      <p:sp>
        <p:nvSpPr>
          <p:cNvPr id="17" name="Shape 14"/>
          <p:cNvSpPr/>
          <p:nvPr/>
        </p:nvSpPr>
        <p:spPr>
          <a:xfrm>
            <a:off x="5315029" y="5367528"/>
            <a:ext cx="73152" cy="73152"/>
          </a:xfrm>
          <a:prstGeom prst="ellipse">
            <a:avLst/>
          </a:prstGeom>
          <a:solidFill>
            <a:srgbClr val="3ABAC8"/>
          </a:solidFill>
          <a:ln/>
        </p:spPr>
        <p:txBody>
          <a:bodyPr/>
          <a:lstStyle/>
          <a:p>
            <a:endParaRPr lang="en-US"/>
          </a:p>
        </p:txBody>
      </p:sp>
      <p:sp>
        <p:nvSpPr>
          <p:cNvPr id="18" name="Text 15"/>
          <p:cNvSpPr/>
          <p:nvPr/>
        </p:nvSpPr>
        <p:spPr>
          <a:xfrm>
            <a:off x="5488765" y="5212080"/>
            <a:ext cx="713512" cy="384048"/>
          </a:xfrm>
          <a:prstGeom prst="rect">
            <a:avLst/>
          </a:prstGeom>
          <a:noFill/>
          <a:ln/>
        </p:spPr>
        <p:txBody>
          <a:bodyPr wrap="none" lIns="0" tIns="0" rIns="0" bIns="0" rtlCol="0" anchor="ctr"/>
          <a:lstStyle/>
          <a:p>
            <a:pPr marL="0" indent="0" algn="l">
              <a:buNone/>
            </a:pPr>
            <a:r>
              <a:rPr lang="en-US" sz="1050" dirty="0">
                <a:solidFill>
                  <a:srgbClr val="B8CDE0"/>
                </a:solidFill>
                <a:latin typeface="Inter" pitchFamily="34" charset="0"/>
                <a:ea typeface="Inter" pitchFamily="34" charset="-122"/>
                <a:cs typeface="Inter" pitchFamily="34" charset="-120"/>
              </a:rPr>
              <a:t>Entra B2B</a:t>
            </a:r>
            <a:endParaRPr lang="en-US" sz="1050" dirty="0"/>
          </a:p>
        </p:txBody>
      </p:sp>
      <p:sp>
        <p:nvSpPr>
          <p:cNvPr id="19" name="Text 16"/>
          <p:cNvSpPr/>
          <p:nvPr/>
        </p:nvSpPr>
        <p:spPr>
          <a:xfrm>
            <a:off x="11158423" y="6492240"/>
            <a:ext cx="731520" cy="182880"/>
          </a:xfrm>
          <a:prstGeom prst="rect">
            <a:avLst/>
          </a:prstGeom>
          <a:noFill/>
          <a:ln/>
        </p:spPr>
        <p:txBody>
          <a:bodyPr wrap="square" lIns="0" tIns="0" rIns="0" bIns="0" rtlCol="0" anchor="ctr"/>
          <a:lstStyle/>
          <a:p>
            <a:pPr marL="0" indent="0" algn="r">
              <a:buNone/>
            </a:pPr>
            <a:r>
              <a:rPr lang="en-US" sz="900" dirty="0">
                <a:solidFill>
                  <a:srgbClr val="FFFFFF"/>
                </a:solidFill>
                <a:latin typeface="Poppins" pitchFamily="34" charset="0"/>
                <a:ea typeface="Poppins" pitchFamily="34" charset="-122"/>
                <a:cs typeface="Poppi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628650" y="377922"/>
            <a:ext cx="182880" cy="182880"/>
          </a:xfrm>
          <a:prstGeom prst="rect">
            <a:avLst/>
          </a:prstGeom>
          <a:solidFill>
            <a:srgbClr val="1A7A8A"/>
          </a:solidFill>
          <a:ln/>
        </p:spPr>
        <p:txBody>
          <a:bodyPr/>
          <a:lstStyle/>
          <a:p>
            <a:endParaRPr lang="en-US"/>
          </a:p>
        </p:txBody>
      </p:sp>
      <p:sp>
        <p:nvSpPr>
          <p:cNvPr id="4" name="Text 1"/>
          <p:cNvSpPr/>
          <p:nvPr/>
        </p:nvSpPr>
        <p:spPr>
          <a:xfrm>
            <a:off x="921258" y="377922"/>
            <a:ext cx="10641787"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EXECUTIVE SUMMARY</a:t>
            </a:r>
            <a:endParaRPr lang="en-US" sz="1050" dirty="0"/>
          </a:p>
        </p:txBody>
      </p:sp>
      <p:sp>
        <p:nvSpPr>
          <p:cNvPr id="5" name="Text 0"/>
          <p:cNvSpPr>
            <a:spLocks noGrp="1"/>
          </p:cNvSpPr>
          <p:nvPr>
            <p:ph type="title" idx="100" hasCustomPrompt="1"/>
          </p:nvPr>
        </p:nvSpPr>
        <p:spPr>
          <a:xfrm>
            <a:off x="628650" y="670530"/>
            <a:ext cx="10934395"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Executive Conclusion</a:t>
            </a:r>
            <a:endParaRPr lang="en-US" sz="2200" dirty="0"/>
          </a:p>
        </p:txBody>
      </p:sp>
      <p:sp>
        <p:nvSpPr>
          <p:cNvPr id="6" name="Shape 3"/>
          <p:cNvSpPr/>
          <p:nvPr/>
        </p:nvSpPr>
        <p:spPr>
          <a:xfrm>
            <a:off x="628650" y="1415258"/>
            <a:ext cx="5343388" cy="3924838"/>
          </a:xfrm>
          <a:prstGeom prst="roundRect">
            <a:avLst>
              <a:gd name="adj" fmla="val 3099"/>
            </a:avLst>
          </a:prstGeom>
          <a:solidFill>
            <a:srgbClr val="F2F4F7"/>
          </a:solidFill>
          <a:ln w="9525">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7" name="Shape 4"/>
          <p:cNvSpPr/>
          <p:nvPr/>
        </p:nvSpPr>
        <p:spPr>
          <a:xfrm>
            <a:off x="914400" y="1701008"/>
            <a:ext cx="495330" cy="495330"/>
          </a:xfrm>
          <a:prstGeom prst="roundRect">
            <a:avLst>
              <a:gd name="adj" fmla="val 23076"/>
            </a:avLst>
          </a:prstGeom>
          <a:solidFill>
            <a:srgbClr val="E0F0F3"/>
          </a:solidFill>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3455" y="1820062"/>
            <a:ext cx="257221" cy="257221"/>
          </a:xfrm>
          <a:prstGeom prst="rect">
            <a:avLst/>
          </a:prstGeom>
        </p:spPr>
      </p:pic>
      <p:sp>
        <p:nvSpPr>
          <p:cNvPr id="9" name="Text 5"/>
          <p:cNvSpPr/>
          <p:nvPr/>
        </p:nvSpPr>
        <p:spPr>
          <a:xfrm>
            <a:off x="1562161" y="1701008"/>
            <a:ext cx="4124127" cy="495330"/>
          </a:xfrm>
          <a:prstGeom prst="rect">
            <a:avLst/>
          </a:prstGeom>
          <a:noFill/>
          <a:ln/>
        </p:spPr>
        <p:txBody>
          <a:bodyPr wrap="square" rtlCol="0" anchor="ctr"/>
          <a:lstStyle/>
          <a:p>
            <a:pPr marL="0" indent="0" algn="l">
              <a:buNone/>
            </a:pPr>
            <a:r>
              <a:rPr lang="en-US" sz="1650" b="1" dirty="0">
                <a:solidFill>
                  <a:srgbClr val="0B1D3A"/>
                </a:solidFill>
                <a:latin typeface="Poppins" pitchFamily="34" charset="0"/>
                <a:ea typeface="Poppins" pitchFamily="34" charset="-122"/>
                <a:cs typeface="Poppins" pitchFamily="34" charset="-120"/>
              </a:rPr>
              <a:t>Technically Feasible</a:t>
            </a:r>
            <a:endParaRPr lang="en-US" sz="1650" dirty="0"/>
          </a:p>
        </p:txBody>
      </p:sp>
      <p:sp>
        <p:nvSpPr>
          <p:cNvPr id="10" name="Text 6"/>
          <p:cNvSpPr/>
          <p:nvPr/>
        </p:nvSpPr>
        <p:spPr>
          <a:xfrm>
            <a:off x="914400" y="2405736"/>
            <a:ext cx="4771888" cy="18288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Resource-tenant model fully documented by Microsoft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Works for lakehouses, warehouses, notebooks</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B2B invitation and cross-tenant access policies supported</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Confirmed by official docs and community guidance</a:t>
            </a:r>
            <a:endParaRPr lang="en-US" sz="1500" dirty="0"/>
          </a:p>
        </p:txBody>
      </p:sp>
      <p:sp>
        <p:nvSpPr>
          <p:cNvPr id="11" name="Shape 7"/>
          <p:cNvSpPr/>
          <p:nvPr/>
        </p:nvSpPr>
        <p:spPr>
          <a:xfrm>
            <a:off x="6219657" y="1415258"/>
            <a:ext cx="5343388" cy="3924838"/>
          </a:xfrm>
          <a:prstGeom prst="roundRect">
            <a:avLst>
              <a:gd name="adj" fmla="val 3099"/>
            </a:avLst>
          </a:prstGeom>
          <a:solidFill>
            <a:srgbClr val="F2F4F7"/>
          </a:solidFill>
          <a:ln w="9525">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12" name="Shape 8"/>
          <p:cNvSpPr/>
          <p:nvPr/>
        </p:nvSpPr>
        <p:spPr>
          <a:xfrm>
            <a:off x="6505407" y="1701008"/>
            <a:ext cx="495330" cy="495330"/>
          </a:xfrm>
          <a:prstGeom prst="roundRect">
            <a:avLst>
              <a:gd name="adj" fmla="val 23076"/>
            </a:avLst>
          </a:prstGeom>
          <a:solidFill>
            <a:srgbClr val="E0F0F3"/>
          </a:solidFill>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4462" y="1820062"/>
            <a:ext cx="257221" cy="257221"/>
          </a:xfrm>
          <a:prstGeom prst="rect">
            <a:avLst/>
          </a:prstGeom>
        </p:spPr>
      </p:pic>
      <p:sp>
        <p:nvSpPr>
          <p:cNvPr id="14" name="Text 9"/>
          <p:cNvSpPr/>
          <p:nvPr/>
        </p:nvSpPr>
        <p:spPr>
          <a:xfrm>
            <a:off x="7153168" y="1701008"/>
            <a:ext cx="4124127" cy="495330"/>
          </a:xfrm>
          <a:prstGeom prst="rect">
            <a:avLst/>
          </a:prstGeom>
          <a:noFill/>
          <a:ln/>
        </p:spPr>
        <p:txBody>
          <a:bodyPr wrap="square" rtlCol="0" anchor="ctr"/>
          <a:lstStyle/>
          <a:p>
            <a:pPr marL="0" indent="0" algn="l">
              <a:buNone/>
            </a:pPr>
            <a:r>
              <a:rPr lang="en-US" sz="1650" b="1" dirty="0">
                <a:solidFill>
                  <a:srgbClr val="0B1D3A"/>
                </a:solidFill>
                <a:latin typeface="Poppins" pitchFamily="34" charset="0"/>
                <a:ea typeface="Poppins" pitchFamily="34" charset="-122"/>
                <a:cs typeface="Poppins" pitchFamily="34" charset="-120"/>
              </a:rPr>
              <a:t>Operationally Unverified</a:t>
            </a:r>
            <a:endParaRPr lang="en-US" sz="1650" dirty="0"/>
          </a:p>
        </p:txBody>
      </p:sp>
      <p:sp>
        <p:nvSpPr>
          <p:cNvPr id="15" name="Text 10"/>
          <p:cNvSpPr/>
          <p:nvPr/>
        </p:nvSpPr>
        <p:spPr>
          <a:xfrm>
            <a:off x="6505407" y="2405736"/>
            <a:ext cx="4771888" cy="20574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Epic has not published tenant-level Fabric settings</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No public confirmation of B2B guest access enablement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Cogito described as managed analytics service</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Identity requirements and CTAP status unknown</a:t>
            </a:r>
            <a:endParaRPr lang="en-US" sz="1500" dirty="0"/>
          </a:p>
        </p:txBody>
      </p:sp>
      <p:sp>
        <p:nvSpPr>
          <p:cNvPr id="16" name="Shape 11"/>
          <p:cNvSpPr/>
          <p:nvPr/>
        </p:nvSpPr>
        <p:spPr>
          <a:xfrm>
            <a:off x="628650" y="5632704"/>
            <a:ext cx="10934395" cy="548640"/>
          </a:xfrm>
          <a:prstGeom prst="rect">
            <a:avLst/>
          </a:prstGeom>
          <a:solidFill>
            <a:srgbClr val="1A7A8A"/>
          </a:solidFill>
          <a:ln/>
        </p:spPr>
        <p:txBody>
          <a:bodyPr/>
          <a:lstStyle/>
          <a:p>
            <a:endParaRPr lang="en-US"/>
          </a:p>
        </p:txBody>
      </p:sp>
      <p:sp>
        <p:nvSpPr>
          <p:cNvPr id="17" name="Shape 12"/>
          <p:cNvSpPr/>
          <p:nvPr/>
        </p:nvSpPr>
        <p:spPr>
          <a:xfrm>
            <a:off x="683514" y="5632704"/>
            <a:ext cx="10879531" cy="548640"/>
          </a:xfrm>
          <a:prstGeom prst="rect">
            <a:avLst/>
          </a:prstGeom>
          <a:solidFill>
            <a:srgbClr val="E0F0F3"/>
          </a:solidFill>
          <a:ln w="9525">
            <a:solidFill>
              <a:srgbClr val="DCE0E6"/>
            </a:solidFill>
            <a:prstDash val="solid"/>
          </a:ln>
        </p:spPr>
        <p:txBody>
          <a:bodyPr/>
          <a:lstStyle/>
          <a:p>
            <a:endParaRPr lang="en-US"/>
          </a:p>
        </p:txBody>
      </p:sp>
      <p:sp>
        <p:nvSpPr>
          <p:cNvPr id="18" name="Text 13"/>
          <p:cNvSpPr/>
          <p:nvPr/>
        </p:nvSpPr>
        <p:spPr>
          <a:xfrm>
            <a:off x="994410" y="5632704"/>
            <a:ext cx="10202875" cy="548640"/>
          </a:xfrm>
          <a:prstGeom prst="rect">
            <a:avLst/>
          </a:prstGeom>
          <a:noFill/>
          <a:ln/>
        </p:spPr>
        <p:txBody>
          <a:bodyPr wrap="square" rtlCol="0" anchor="ctr"/>
          <a:lstStyle/>
          <a:p>
            <a:pPr marL="0" indent="0" algn="l">
              <a:buNone/>
            </a:pPr>
            <a:r>
              <a:rPr lang="en-US" sz="1600" dirty="0">
                <a:solidFill>
                  <a:srgbClr val="0B1D3A"/>
                </a:solidFill>
                <a:latin typeface="Poppins" pitchFamily="34" charset="0"/>
                <a:ea typeface="Poppins" pitchFamily="34" charset="-122"/>
                <a:cs typeface="Poppins" pitchFamily="34" charset="-120"/>
              </a:rPr>
              <a:t>Recommendation: Engage Epic account management to confirm Fabric workspace access, B2B settings, and identity requirements</a:t>
            </a:r>
            <a:endParaRPr lang="en-US" sz="1600" dirty="0"/>
          </a:p>
        </p:txBody>
      </p:sp>
      <p:sp>
        <p:nvSpPr>
          <p:cNvPr id="19" name="Text 14"/>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20" name="Text 15"/>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548640" y="228600"/>
            <a:ext cx="182880" cy="182880"/>
          </a:xfrm>
          <a:prstGeom prst="rect">
            <a:avLst/>
          </a:prstGeom>
          <a:solidFill>
            <a:srgbClr val="1A7A8A"/>
          </a:solidFill>
          <a:ln/>
        </p:spPr>
        <p:txBody>
          <a:bodyPr/>
          <a:lstStyle/>
          <a:p>
            <a:endParaRPr lang="en-US"/>
          </a:p>
        </p:txBody>
      </p:sp>
      <p:sp>
        <p:nvSpPr>
          <p:cNvPr id="4" name="Text 1"/>
          <p:cNvSpPr/>
          <p:nvPr/>
        </p:nvSpPr>
        <p:spPr>
          <a:xfrm>
            <a:off x="841248" y="228600"/>
            <a:ext cx="10799064"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MICROSOFT ARCHITECTURE</a:t>
            </a:r>
            <a:endParaRPr lang="en-US" sz="1050" dirty="0"/>
          </a:p>
        </p:txBody>
      </p:sp>
      <p:sp>
        <p:nvSpPr>
          <p:cNvPr id="5" name="Text 0"/>
          <p:cNvSpPr>
            <a:spLocks noGrp="1"/>
          </p:cNvSpPr>
          <p:nvPr>
            <p:ph type="title" idx="100" hasCustomPrompt="1"/>
          </p:nvPr>
        </p:nvSpPr>
        <p:spPr>
          <a:xfrm>
            <a:off x="548640" y="521208"/>
            <a:ext cx="11091672"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Microsoft Fabric Cross-Tenant Architecture</a:t>
            </a:r>
            <a:endParaRPr lang="en-US" sz="2200" dirty="0"/>
          </a:p>
        </p:txBody>
      </p:sp>
      <p:sp>
        <p:nvSpPr>
          <p:cNvPr id="6" name="Shape 3"/>
          <p:cNvSpPr/>
          <p:nvPr/>
        </p:nvSpPr>
        <p:spPr>
          <a:xfrm>
            <a:off x="548640" y="1508760"/>
            <a:ext cx="5440680" cy="2272284"/>
          </a:xfrm>
          <a:prstGeom prst="rect">
            <a:avLst/>
          </a:prstGeom>
          <a:solidFill>
            <a:srgbClr val="1A7A8A"/>
          </a:solidFill>
          <a:ln/>
          <a:effectLst>
            <a:outerShdw blurRad="101600" dist="33871" dir="8100000" algn="bl" rotWithShape="0">
              <a:srgbClr val="DCE0E6">
                <a:alpha val="12000"/>
              </a:srgbClr>
            </a:outerShdw>
          </a:effectLst>
        </p:spPr>
        <p:txBody>
          <a:bodyPr/>
          <a:lstStyle/>
          <a:p>
            <a:endParaRPr lang="en-US"/>
          </a:p>
        </p:txBody>
      </p:sp>
      <p:sp>
        <p:nvSpPr>
          <p:cNvPr id="7" name="Shape 4"/>
          <p:cNvSpPr/>
          <p:nvPr/>
        </p:nvSpPr>
        <p:spPr>
          <a:xfrm>
            <a:off x="587045" y="1508760"/>
            <a:ext cx="5402275" cy="2272284"/>
          </a:xfrm>
          <a:prstGeom prst="rect">
            <a:avLst/>
          </a:prstGeom>
          <a:solidFill>
            <a:srgbClr val="F2F4F7"/>
          </a:solidFill>
          <a:ln w="9525">
            <a:solidFill>
              <a:srgbClr val="DCE0E6"/>
            </a:solidFill>
            <a:prstDash val="solid"/>
          </a:ln>
        </p:spPr>
        <p:txBody>
          <a:bodyPr/>
          <a:lstStyle/>
          <a:p>
            <a:endParaRPr lang="en-US"/>
          </a:p>
        </p:txBody>
      </p:sp>
      <p:sp>
        <p:nvSpPr>
          <p:cNvPr id="8" name="Shape 5"/>
          <p:cNvSpPr/>
          <p:nvPr/>
        </p:nvSpPr>
        <p:spPr>
          <a:xfrm>
            <a:off x="815645" y="1737360"/>
            <a:ext cx="475488" cy="475488"/>
          </a:xfrm>
          <a:prstGeom prst="roundRect">
            <a:avLst>
              <a:gd name="adj" fmla="val 24038"/>
            </a:avLst>
          </a:prstGeom>
          <a:solidFill>
            <a:srgbClr val="1A7A8A">
              <a:alpha val="14000"/>
            </a:srgbClr>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73" y="1847088"/>
            <a:ext cx="256032" cy="256032"/>
          </a:xfrm>
          <a:prstGeom prst="rect">
            <a:avLst/>
          </a:prstGeom>
        </p:spPr>
      </p:pic>
      <p:sp>
        <p:nvSpPr>
          <p:cNvPr id="10" name="Text 6"/>
          <p:cNvSpPr/>
          <p:nvPr/>
        </p:nvSpPr>
        <p:spPr>
          <a:xfrm>
            <a:off x="815645" y="2368296"/>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Resource Tenant</a:t>
            </a:r>
            <a:endParaRPr lang="en-US" sz="1500" dirty="0"/>
          </a:p>
        </p:txBody>
      </p:sp>
      <p:sp>
        <p:nvSpPr>
          <p:cNvPr id="11" name="Text 7"/>
          <p:cNvSpPr/>
          <p:nvPr/>
        </p:nvSpPr>
        <p:spPr>
          <a:xfrm>
            <a:off x="815645" y="2752344"/>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Provider tenant owns Fabric capacity, workspace, and data items</a:t>
            </a:r>
            <a:endParaRPr lang="en-US" sz="1360" dirty="0"/>
          </a:p>
        </p:txBody>
      </p:sp>
      <p:sp>
        <p:nvSpPr>
          <p:cNvPr id="12" name="Shape 8"/>
          <p:cNvSpPr/>
          <p:nvPr/>
        </p:nvSpPr>
        <p:spPr>
          <a:xfrm>
            <a:off x="6199632" y="1508760"/>
            <a:ext cx="5440680" cy="2272284"/>
          </a:xfrm>
          <a:prstGeom prst="rect">
            <a:avLst/>
          </a:prstGeom>
          <a:solidFill>
            <a:srgbClr val="2E5FA8"/>
          </a:solidFill>
          <a:ln/>
          <a:effectLst>
            <a:outerShdw blurRad="101600" dist="33871" dir="8100000" algn="bl" rotWithShape="0">
              <a:srgbClr val="DCE0E6">
                <a:alpha val="12000"/>
              </a:srgbClr>
            </a:outerShdw>
          </a:effectLst>
        </p:spPr>
        <p:txBody>
          <a:bodyPr/>
          <a:lstStyle/>
          <a:p>
            <a:endParaRPr lang="en-US"/>
          </a:p>
        </p:txBody>
      </p:sp>
      <p:sp>
        <p:nvSpPr>
          <p:cNvPr id="13" name="Shape 9"/>
          <p:cNvSpPr/>
          <p:nvPr/>
        </p:nvSpPr>
        <p:spPr>
          <a:xfrm>
            <a:off x="6238037" y="1508760"/>
            <a:ext cx="5402275" cy="2272284"/>
          </a:xfrm>
          <a:prstGeom prst="rect">
            <a:avLst/>
          </a:prstGeom>
          <a:solidFill>
            <a:srgbClr val="F2F4F7"/>
          </a:solidFill>
          <a:ln w="9525">
            <a:solidFill>
              <a:srgbClr val="DCE0E6"/>
            </a:solidFill>
            <a:prstDash val="solid"/>
          </a:ln>
        </p:spPr>
        <p:txBody>
          <a:bodyPr/>
          <a:lstStyle/>
          <a:p>
            <a:endParaRPr lang="en-US"/>
          </a:p>
        </p:txBody>
      </p:sp>
      <p:sp>
        <p:nvSpPr>
          <p:cNvPr id="14" name="Shape 10"/>
          <p:cNvSpPr/>
          <p:nvPr/>
        </p:nvSpPr>
        <p:spPr>
          <a:xfrm>
            <a:off x="6466637" y="1737360"/>
            <a:ext cx="475488" cy="475488"/>
          </a:xfrm>
          <a:prstGeom prst="roundRect">
            <a:avLst>
              <a:gd name="adj" fmla="val 24038"/>
            </a:avLst>
          </a:prstGeom>
          <a:solidFill>
            <a:srgbClr val="2E5FA8">
              <a:alpha val="14000"/>
            </a:srgbClr>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365" y="1847088"/>
            <a:ext cx="256032" cy="256032"/>
          </a:xfrm>
          <a:prstGeom prst="rect">
            <a:avLst/>
          </a:prstGeom>
        </p:spPr>
      </p:pic>
      <p:sp>
        <p:nvSpPr>
          <p:cNvPr id="16" name="Text 11"/>
          <p:cNvSpPr/>
          <p:nvPr/>
        </p:nvSpPr>
        <p:spPr>
          <a:xfrm>
            <a:off x="6466637" y="2368296"/>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Home Tenant</a:t>
            </a:r>
            <a:endParaRPr lang="en-US" sz="1500" dirty="0"/>
          </a:p>
        </p:txBody>
      </p:sp>
      <p:sp>
        <p:nvSpPr>
          <p:cNvPr id="17" name="Text 12"/>
          <p:cNvSpPr/>
          <p:nvPr/>
        </p:nvSpPr>
        <p:spPr>
          <a:xfrm>
            <a:off x="6466637" y="2752344"/>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Consumer tenant holds user identity; user travels to provider</a:t>
            </a:r>
            <a:endParaRPr lang="en-US" sz="1360" dirty="0"/>
          </a:p>
        </p:txBody>
      </p:sp>
      <p:sp>
        <p:nvSpPr>
          <p:cNvPr id="18" name="Shape 13"/>
          <p:cNvSpPr/>
          <p:nvPr/>
        </p:nvSpPr>
        <p:spPr>
          <a:xfrm>
            <a:off x="548640" y="3991356"/>
            <a:ext cx="5440680" cy="2272284"/>
          </a:xfrm>
          <a:prstGeom prst="rect">
            <a:avLst/>
          </a:prstGeom>
          <a:solidFill>
            <a:srgbClr val="4AAFB8"/>
          </a:solidFill>
          <a:ln/>
          <a:effectLst>
            <a:outerShdw blurRad="101600" dist="33871" dir="8100000" algn="bl" rotWithShape="0">
              <a:srgbClr val="DCE0E6">
                <a:alpha val="12000"/>
              </a:srgbClr>
            </a:outerShdw>
          </a:effectLst>
        </p:spPr>
        <p:txBody>
          <a:bodyPr/>
          <a:lstStyle/>
          <a:p>
            <a:endParaRPr lang="en-US"/>
          </a:p>
        </p:txBody>
      </p:sp>
      <p:sp>
        <p:nvSpPr>
          <p:cNvPr id="19" name="Shape 14"/>
          <p:cNvSpPr/>
          <p:nvPr/>
        </p:nvSpPr>
        <p:spPr>
          <a:xfrm>
            <a:off x="587045" y="3991356"/>
            <a:ext cx="5402275" cy="2272284"/>
          </a:xfrm>
          <a:prstGeom prst="rect">
            <a:avLst/>
          </a:prstGeom>
          <a:solidFill>
            <a:srgbClr val="F2F4F7"/>
          </a:solidFill>
          <a:ln w="9525">
            <a:solidFill>
              <a:srgbClr val="DCE0E6"/>
            </a:solidFill>
            <a:prstDash val="solid"/>
          </a:ln>
        </p:spPr>
        <p:txBody>
          <a:bodyPr/>
          <a:lstStyle/>
          <a:p>
            <a:endParaRPr lang="en-US"/>
          </a:p>
        </p:txBody>
      </p:sp>
      <p:sp>
        <p:nvSpPr>
          <p:cNvPr id="20" name="Shape 15"/>
          <p:cNvSpPr/>
          <p:nvPr/>
        </p:nvSpPr>
        <p:spPr>
          <a:xfrm>
            <a:off x="815645" y="4219956"/>
            <a:ext cx="475488" cy="475488"/>
          </a:xfrm>
          <a:prstGeom prst="roundRect">
            <a:avLst>
              <a:gd name="adj" fmla="val 24038"/>
            </a:avLst>
          </a:prstGeom>
          <a:solidFill>
            <a:srgbClr val="4AAFB8">
              <a:alpha val="14000"/>
            </a:srgbClr>
          </a:solidFill>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373" y="4329684"/>
            <a:ext cx="256032" cy="256032"/>
          </a:xfrm>
          <a:prstGeom prst="rect">
            <a:avLst/>
          </a:prstGeom>
        </p:spPr>
      </p:pic>
      <p:sp>
        <p:nvSpPr>
          <p:cNvPr id="22" name="Text 16"/>
          <p:cNvSpPr/>
          <p:nvPr/>
        </p:nvSpPr>
        <p:spPr>
          <a:xfrm>
            <a:off x="815645" y="4850892"/>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B2B Invitation</a:t>
            </a:r>
            <a:endParaRPr lang="en-US" sz="1500" dirty="0"/>
          </a:p>
        </p:txBody>
      </p:sp>
      <p:sp>
        <p:nvSpPr>
          <p:cNvPr id="23" name="Text 17"/>
          <p:cNvSpPr/>
          <p:nvPr/>
        </p:nvSpPr>
        <p:spPr>
          <a:xfrm>
            <a:off x="815645" y="5234940"/>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Entra B2B bridges identities across tenants via guest objects</a:t>
            </a:r>
            <a:endParaRPr lang="en-US" sz="1360" dirty="0"/>
          </a:p>
        </p:txBody>
      </p:sp>
      <p:sp>
        <p:nvSpPr>
          <p:cNvPr id="24" name="Shape 18"/>
          <p:cNvSpPr/>
          <p:nvPr/>
        </p:nvSpPr>
        <p:spPr>
          <a:xfrm>
            <a:off x="6199632" y="3991356"/>
            <a:ext cx="5440680" cy="2272284"/>
          </a:xfrm>
          <a:prstGeom prst="rect">
            <a:avLst/>
          </a:prstGeom>
          <a:solidFill>
            <a:srgbClr val="6B8DC8"/>
          </a:solidFill>
          <a:ln/>
          <a:effectLst>
            <a:outerShdw blurRad="101600" dist="33871" dir="8100000" algn="bl" rotWithShape="0">
              <a:srgbClr val="DCE0E6">
                <a:alpha val="12000"/>
              </a:srgbClr>
            </a:outerShdw>
          </a:effectLst>
        </p:spPr>
        <p:txBody>
          <a:bodyPr/>
          <a:lstStyle/>
          <a:p>
            <a:endParaRPr lang="en-US"/>
          </a:p>
        </p:txBody>
      </p:sp>
      <p:sp>
        <p:nvSpPr>
          <p:cNvPr id="25" name="Shape 19"/>
          <p:cNvSpPr/>
          <p:nvPr/>
        </p:nvSpPr>
        <p:spPr>
          <a:xfrm>
            <a:off x="6238037" y="3991356"/>
            <a:ext cx="5402275" cy="2272284"/>
          </a:xfrm>
          <a:prstGeom prst="rect">
            <a:avLst/>
          </a:prstGeom>
          <a:solidFill>
            <a:srgbClr val="F2F4F7"/>
          </a:solidFill>
          <a:ln w="9525">
            <a:solidFill>
              <a:srgbClr val="DCE0E6"/>
            </a:solidFill>
            <a:prstDash val="solid"/>
          </a:ln>
        </p:spPr>
        <p:txBody>
          <a:bodyPr/>
          <a:lstStyle/>
          <a:p>
            <a:endParaRPr lang="en-US"/>
          </a:p>
        </p:txBody>
      </p:sp>
      <p:sp>
        <p:nvSpPr>
          <p:cNvPr id="26" name="Shape 20"/>
          <p:cNvSpPr/>
          <p:nvPr/>
        </p:nvSpPr>
        <p:spPr>
          <a:xfrm>
            <a:off x="6466637" y="4219956"/>
            <a:ext cx="475488" cy="475488"/>
          </a:xfrm>
          <a:prstGeom prst="roundRect">
            <a:avLst>
              <a:gd name="adj" fmla="val 24038"/>
            </a:avLst>
          </a:prstGeom>
          <a:solidFill>
            <a:srgbClr val="6B8DC8">
              <a:alpha val="14000"/>
            </a:srgbClr>
          </a:solidFill>
          <a:ln/>
        </p:spPr>
        <p:txBody>
          <a:bodyPr/>
          <a:lstStyle/>
          <a:p>
            <a:endParaRPr lang="en-US"/>
          </a:p>
        </p:txBody>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6365" y="4329684"/>
            <a:ext cx="256032" cy="256032"/>
          </a:xfrm>
          <a:prstGeom prst="rect">
            <a:avLst/>
          </a:prstGeom>
        </p:spPr>
      </p:pic>
      <p:sp>
        <p:nvSpPr>
          <p:cNvPr id="28" name="Text 21"/>
          <p:cNvSpPr/>
          <p:nvPr/>
        </p:nvSpPr>
        <p:spPr>
          <a:xfrm>
            <a:off x="6466637" y="4850892"/>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Cross-Tenant Policies</a:t>
            </a:r>
            <a:endParaRPr lang="en-US" sz="1500" dirty="0"/>
          </a:p>
        </p:txBody>
      </p:sp>
      <p:sp>
        <p:nvSpPr>
          <p:cNvPr id="29" name="Text 22"/>
          <p:cNvSpPr/>
          <p:nvPr/>
        </p:nvSpPr>
        <p:spPr>
          <a:xfrm>
            <a:off x="6466637" y="5234940"/>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CTAP controls inbound/outbound access per tenant or as default</a:t>
            </a:r>
            <a:endParaRPr lang="en-US" sz="1360" dirty="0"/>
          </a:p>
        </p:txBody>
      </p:sp>
      <p:sp>
        <p:nvSpPr>
          <p:cNvPr id="30" name="Text 23"/>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31" name="Text 24"/>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0" y="0"/>
            <a:ext cx="4145176" cy="76200"/>
          </a:xfrm>
          <a:prstGeom prst="rect">
            <a:avLst/>
          </a:prstGeom>
          <a:solidFill>
            <a:srgbClr val="1A7A8A"/>
          </a:solidFill>
          <a:ln/>
        </p:spPr>
        <p:txBody>
          <a:bodyPr/>
          <a:lstStyle/>
          <a:p>
            <a:endParaRPr lang="en-US"/>
          </a:p>
        </p:txBody>
      </p:sp>
      <p:sp>
        <p:nvSpPr>
          <p:cNvPr id="4" name="Shape 1"/>
          <p:cNvSpPr/>
          <p:nvPr/>
        </p:nvSpPr>
        <p:spPr>
          <a:xfrm>
            <a:off x="4145176" y="0"/>
            <a:ext cx="8046519" cy="76200"/>
          </a:xfrm>
          <a:prstGeom prst="rect">
            <a:avLst/>
          </a:prstGeom>
          <a:solidFill>
            <a:srgbClr val="2E5FA8"/>
          </a:solidFill>
          <a:ln/>
        </p:spPr>
        <p:txBody>
          <a:bodyPr/>
          <a:lstStyle/>
          <a:p>
            <a:endParaRPr lang="en-US"/>
          </a:p>
        </p:txBody>
      </p:sp>
      <p:sp>
        <p:nvSpPr>
          <p:cNvPr id="5" name="Text 0"/>
          <p:cNvSpPr>
            <a:spLocks noGrp="1"/>
          </p:cNvSpPr>
          <p:nvPr>
            <p:ph type="title" idx="100" hasCustomPrompt="1"/>
          </p:nvPr>
        </p:nvSpPr>
        <p:spPr>
          <a:xfrm>
            <a:off x="0" y="419100"/>
            <a:ext cx="12191695" cy="571500"/>
          </a:xfrm>
          <a:prstGeom prst="rect">
            <a:avLst/>
          </a:prstGeom>
          <a:noFill/>
          <a:ln/>
        </p:spPr>
        <p:txBody>
          <a:bodyPr wrap="square" lIns="0" tIns="0" rIns="0" bIns="0" rtlCol="0" anchor="t"/>
          <a:lstStyle/>
          <a:p>
            <a:pPr marL="0" indent="0" algn="ctr">
              <a:buNone/>
            </a:pPr>
            <a:r>
              <a:rPr lang="en-US" sz="3100" b="1" dirty="0">
                <a:solidFill>
                  <a:srgbClr val="0B1D3A"/>
                </a:solidFill>
                <a:latin typeface="Poppins" pitchFamily="34" charset="0"/>
                <a:ea typeface="Poppins" pitchFamily="34" charset="-122"/>
                <a:cs typeface="Poppins" pitchFamily="34" charset="-120"/>
              </a:rPr>
              <a:t>Resource-Tenant Model in Detail</a:t>
            </a:r>
            <a:endParaRPr lang="en-US" sz="3100" dirty="0"/>
          </a:p>
        </p:txBody>
      </p:sp>
      <p:sp>
        <p:nvSpPr>
          <p:cNvPr id="6" name="Shape 3"/>
          <p:cNvSpPr/>
          <p:nvPr/>
        </p:nvSpPr>
        <p:spPr>
          <a:xfrm>
            <a:off x="5638800" y="1066800"/>
            <a:ext cx="914400" cy="47625"/>
          </a:xfrm>
          <a:prstGeom prst="roundRect">
            <a:avLst>
              <a:gd name="adj" fmla="val 50000"/>
            </a:avLst>
          </a:prstGeom>
          <a:solidFill>
            <a:srgbClr val="1A7A8A"/>
          </a:solidFill>
          <a:ln/>
        </p:spPr>
        <p:txBody>
          <a:bodyPr/>
          <a:lstStyle/>
          <a:p>
            <a:endParaRPr lang="en-US"/>
          </a:p>
        </p:txBody>
      </p:sp>
      <p:sp>
        <p:nvSpPr>
          <p:cNvPr id="7" name="Shape 4"/>
          <p:cNvSpPr/>
          <p:nvPr/>
        </p:nvSpPr>
        <p:spPr>
          <a:xfrm>
            <a:off x="533400" y="1438275"/>
            <a:ext cx="5067300" cy="4591050"/>
          </a:xfrm>
          <a:prstGeom prst="roundRect">
            <a:avLst>
              <a:gd name="adj" fmla="val 3320"/>
            </a:avLst>
          </a:prstGeom>
          <a:solidFill>
            <a:srgbClr val="F2F4F7"/>
          </a:solidFill>
          <a:ln w="12700">
            <a:solidFill>
              <a:srgbClr val="DCE0E6"/>
            </a:solidFill>
            <a:prstDash val="solid"/>
          </a:ln>
          <a:effectLst>
            <a:outerShdw blurRad="101600" dist="38100" dir="5400000" algn="bl" rotWithShape="0">
              <a:srgbClr val="DCE0E6">
                <a:alpha val="35000"/>
              </a:srgbClr>
            </a:outerShdw>
          </a:effectLst>
        </p:spPr>
        <p:txBody>
          <a:bodyPr/>
          <a:lstStyle/>
          <a:p>
            <a:endParaRPr lang="en-US"/>
          </a:p>
        </p:txBody>
      </p:sp>
      <p:sp>
        <p:nvSpPr>
          <p:cNvPr id="8" name="Shape 5"/>
          <p:cNvSpPr/>
          <p:nvPr/>
        </p:nvSpPr>
        <p:spPr>
          <a:xfrm>
            <a:off x="533400" y="1438275"/>
            <a:ext cx="5067300" cy="793432"/>
          </a:xfrm>
          <a:prstGeom prst="roundRect">
            <a:avLst>
              <a:gd name="adj" fmla="val 19208"/>
            </a:avLst>
          </a:prstGeom>
          <a:solidFill>
            <a:srgbClr val="1A7A8A"/>
          </a:solidFill>
          <a:ln/>
        </p:spPr>
        <p:txBody>
          <a:bodyPr/>
          <a:lstStyle/>
          <a:p>
            <a:endParaRPr lang="en-US"/>
          </a:p>
        </p:txBody>
      </p:sp>
      <p:sp>
        <p:nvSpPr>
          <p:cNvPr id="9" name="Shape 6"/>
          <p:cNvSpPr/>
          <p:nvPr/>
        </p:nvSpPr>
        <p:spPr>
          <a:xfrm>
            <a:off x="533400" y="2079307"/>
            <a:ext cx="5067300" cy="152400"/>
          </a:xfrm>
          <a:prstGeom prst="rect">
            <a:avLst/>
          </a:prstGeom>
          <a:solidFill>
            <a:srgbClr val="F2F4F7"/>
          </a:solidFill>
          <a:ln/>
        </p:spPr>
        <p:txBody>
          <a:bodyPr/>
          <a:lstStyle/>
          <a:p>
            <a:endParaRPr lang="en-US"/>
          </a:p>
        </p:txBody>
      </p:sp>
      <p:sp>
        <p:nvSpPr>
          <p:cNvPr id="10" name="Shape 7"/>
          <p:cNvSpPr/>
          <p:nvPr/>
        </p:nvSpPr>
        <p:spPr>
          <a:xfrm>
            <a:off x="6591300" y="1438275"/>
            <a:ext cx="5067300" cy="4591050"/>
          </a:xfrm>
          <a:prstGeom prst="roundRect">
            <a:avLst>
              <a:gd name="adj" fmla="val 3320"/>
            </a:avLst>
          </a:prstGeom>
          <a:solidFill>
            <a:srgbClr val="F2F4F7"/>
          </a:solidFill>
          <a:ln w="12700">
            <a:solidFill>
              <a:srgbClr val="DCE0E6"/>
            </a:solidFill>
            <a:prstDash val="solid"/>
          </a:ln>
          <a:effectLst>
            <a:outerShdw blurRad="101600" dist="38100" dir="5400000" algn="bl" rotWithShape="0">
              <a:srgbClr val="DCE0E6">
                <a:alpha val="35000"/>
              </a:srgbClr>
            </a:outerShdw>
          </a:effectLst>
        </p:spPr>
        <p:txBody>
          <a:bodyPr/>
          <a:lstStyle/>
          <a:p>
            <a:endParaRPr lang="en-US"/>
          </a:p>
        </p:txBody>
      </p:sp>
      <p:sp>
        <p:nvSpPr>
          <p:cNvPr id="11" name="Shape 8"/>
          <p:cNvSpPr/>
          <p:nvPr/>
        </p:nvSpPr>
        <p:spPr>
          <a:xfrm>
            <a:off x="6591300" y="1438275"/>
            <a:ext cx="5067300" cy="793432"/>
          </a:xfrm>
          <a:prstGeom prst="roundRect">
            <a:avLst>
              <a:gd name="adj" fmla="val 19208"/>
            </a:avLst>
          </a:prstGeom>
          <a:solidFill>
            <a:srgbClr val="2E5FA8"/>
          </a:solidFill>
          <a:ln/>
        </p:spPr>
        <p:txBody>
          <a:bodyPr/>
          <a:lstStyle/>
          <a:p>
            <a:endParaRPr lang="en-US"/>
          </a:p>
        </p:txBody>
      </p:sp>
      <p:sp>
        <p:nvSpPr>
          <p:cNvPr id="12" name="Shape 9"/>
          <p:cNvSpPr/>
          <p:nvPr/>
        </p:nvSpPr>
        <p:spPr>
          <a:xfrm>
            <a:off x="6591300" y="2079307"/>
            <a:ext cx="5067300" cy="152400"/>
          </a:xfrm>
          <a:prstGeom prst="rect">
            <a:avLst/>
          </a:prstGeom>
          <a:solidFill>
            <a:srgbClr val="F2F4F7"/>
          </a:solidFill>
          <a:ln/>
        </p:spPr>
        <p:txBody>
          <a:bodyPr/>
          <a:lstStyle/>
          <a:p>
            <a:endParaRPr lang="en-US"/>
          </a:p>
        </p:txBody>
      </p:sp>
      <p:sp>
        <p:nvSpPr>
          <p:cNvPr id="13" name="Text 10"/>
          <p:cNvSpPr/>
          <p:nvPr/>
        </p:nvSpPr>
        <p:spPr>
          <a:xfrm>
            <a:off x="781050" y="1438275"/>
            <a:ext cx="4572000" cy="641032"/>
          </a:xfrm>
          <a:prstGeom prst="rect">
            <a:avLst/>
          </a:prstGeom>
          <a:noFill/>
          <a:ln/>
        </p:spPr>
        <p:txBody>
          <a:bodyPr wrap="square" rtlCol="0" anchor="ctr"/>
          <a:lstStyle/>
          <a:p>
            <a:pPr marL="0" indent="0" algn="l">
              <a:buNone/>
            </a:pPr>
            <a:r>
              <a:rPr lang="en-US" sz="1700" b="1" dirty="0">
                <a:solidFill>
                  <a:srgbClr val="FAFBFC"/>
                </a:solidFill>
                <a:latin typeface="Poppins" pitchFamily="34" charset="0"/>
                <a:ea typeface="Poppins" pitchFamily="34" charset="-122"/>
                <a:cs typeface="Poppins" pitchFamily="34" charset="-120"/>
              </a:rPr>
              <a:t>Resource Tenant (Provider)</a:t>
            </a:r>
            <a:endParaRPr lang="en-US" sz="1700" dirty="0"/>
          </a:p>
        </p:txBody>
      </p:sp>
      <p:sp>
        <p:nvSpPr>
          <p:cNvPr id="14" name="Text 11"/>
          <p:cNvSpPr/>
          <p:nvPr/>
        </p:nvSpPr>
        <p:spPr>
          <a:xfrm>
            <a:off x="6838950" y="1438275"/>
            <a:ext cx="4572000" cy="641032"/>
          </a:xfrm>
          <a:prstGeom prst="rect">
            <a:avLst/>
          </a:prstGeom>
          <a:noFill/>
          <a:ln/>
        </p:spPr>
        <p:txBody>
          <a:bodyPr wrap="square" rtlCol="0" anchor="ctr"/>
          <a:lstStyle/>
          <a:p>
            <a:pPr marL="0" indent="0" algn="l">
              <a:buNone/>
            </a:pPr>
            <a:r>
              <a:rPr lang="en-US" sz="1700" b="1" dirty="0">
                <a:solidFill>
                  <a:srgbClr val="FAFBFC"/>
                </a:solidFill>
                <a:latin typeface="Poppins" pitchFamily="34" charset="0"/>
                <a:ea typeface="Poppins" pitchFamily="34" charset="-122"/>
                <a:cs typeface="Poppins" pitchFamily="34" charset="-120"/>
              </a:rPr>
              <a:t>Home Tenant (Consumer)</a:t>
            </a:r>
            <a:endParaRPr lang="en-US" sz="1700" dirty="0"/>
          </a:p>
        </p:txBody>
      </p:sp>
      <p:sp>
        <p:nvSpPr>
          <p:cNvPr id="15" name="Shape 12"/>
          <p:cNvSpPr/>
          <p:nvPr/>
        </p:nvSpPr>
        <p:spPr>
          <a:xfrm>
            <a:off x="844867" y="2267744"/>
            <a:ext cx="495300" cy="495300"/>
          </a:xfrm>
          <a:prstGeom prst="ellipse">
            <a:avLst/>
          </a:prstGeom>
          <a:solidFill>
            <a:srgbClr val="1A7A8A">
              <a:alpha val="14000"/>
            </a:srgbClr>
          </a:solidFill>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9167" y="2382044"/>
            <a:ext cx="266700" cy="266700"/>
          </a:xfrm>
          <a:prstGeom prst="rect">
            <a:avLst/>
          </a:prstGeom>
        </p:spPr>
      </p:pic>
      <p:sp>
        <p:nvSpPr>
          <p:cNvPr id="17" name="Text 13"/>
          <p:cNvSpPr/>
          <p:nvPr/>
        </p:nvSpPr>
        <p:spPr>
          <a:xfrm>
            <a:off x="1511617" y="2182019"/>
            <a:ext cx="3860482"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Owns Fabric capacity and compute</a:t>
            </a:r>
            <a:endParaRPr lang="en-US" sz="1300" dirty="0"/>
          </a:p>
        </p:txBody>
      </p:sp>
      <p:sp>
        <p:nvSpPr>
          <p:cNvPr id="18" name="Shape 14"/>
          <p:cNvSpPr/>
          <p:nvPr/>
        </p:nvSpPr>
        <p:spPr>
          <a:xfrm>
            <a:off x="844867" y="3037205"/>
            <a:ext cx="495300" cy="495300"/>
          </a:xfrm>
          <a:prstGeom prst="ellipse">
            <a:avLst/>
          </a:prstGeom>
          <a:solidFill>
            <a:srgbClr val="1A7A8A">
              <a:alpha val="14000"/>
            </a:srgbClr>
          </a:solidFill>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9167" y="3151505"/>
            <a:ext cx="266700" cy="266700"/>
          </a:xfrm>
          <a:prstGeom prst="rect">
            <a:avLst/>
          </a:prstGeom>
        </p:spPr>
      </p:pic>
      <p:sp>
        <p:nvSpPr>
          <p:cNvPr id="20" name="Text 15"/>
          <p:cNvSpPr/>
          <p:nvPr/>
        </p:nvSpPr>
        <p:spPr>
          <a:xfrm>
            <a:off x="1511617" y="2951480"/>
            <a:ext cx="3860482"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Hosts workspace and data items</a:t>
            </a:r>
            <a:endParaRPr lang="en-US" sz="1300" dirty="0"/>
          </a:p>
        </p:txBody>
      </p:sp>
      <p:sp>
        <p:nvSpPr>
          <p:cNvPr id="21" name="Shape 16"/>
          <p:cNvSpPr/>
          <p:nvPr/>
        </p:nvSpPr>
        <p:spPr>
          <a:xfrm>
            <a:off x="844867" y="3806666"/>
            <a:ext cx="495300" cy="495300"/>
          </a:xfrm>
          <a:prstGeom prst="ellipse">
            <a:avLst/>
          </a:prstGeom>
          <a:solidFill>
            <a:srgbClr val="1A7A8A">
              <a:alpha val="14000"/>
            </a:srgbClr>
          </a:solidFill>
          <a:ln/>
        </p:spPr>
        <p:txBody>
          <a:bodyPr/>
          <a:lstStyle/>
          <a:p>
            <a:endParaRPr lang="en-US"/>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9167" y="3920966"/>
            <a:ext cx="266700" cy="266700"/>
          </a:xfrm>
          <a:prstGeom prst="rect">
            <a:avLst/>
          </a:prstGeom>
        </p:spPr>
      </p:pic>
      <p:sp>
        <p:nvSpPr>
          <p:cNvPr id="23" name="Text 17"/>
          <p:cNvSpPr/>
          <p:nvPr/>
        </p:nvSpPr>
        <p:spPr>
          <a:xfrm>
            <a:off x="1511617" y="3720941"/>
            <a:ext cx="3860482"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Controls external identity access</a:t>
            </a:r>
            <a:endParaRPr lang="en-US" sz="1300" dirty="0"/>
          </a:p>
        </p:txBody>
      </p:sp>
      <p:sp>
        <p:nvSpPr>
          <p:cNvPr id="24" name="Shape 18"/>
          <p:cNvSpPr/>
          <p:nvPr/>
        </p:nvSpPr>
        <p:spPr>
          <a:xfrm>
            <a:off x="844867" y="4576128"/>
            <a:ext cx="495300" cy="495300"/>
          </a:xfrm>
          <a:prstGeom prst="ellipse">
            <a:avLst/>
          </a:prstGeom>
          <a:solidFill>
            <a:srgbClr val="1A7A8A">
              <a:alpha val="14000"/>
            </a:srgbClr>
          </a:solidFill>
          <a:ln/>
        </p:spPr>
        <p:txBody>
          <a:bodyPr/>
          <a:lstStyle/>
          <a:p>
            <a:endParaRPr lang="en-US"/>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9167" y="4690428"/>
            <a:ext cx="266700" cy="266700"/>
          </a:xfrm>
          <a:prstGeom prst="rect">
            <a:avLst/>
          </a:prstGeom>
        </p:spPr>
      </p:pic>
      <p:sp>
        <p:nvSpPr>
          <p:cNvPr id="26" name="Text 19"/>
          <p:cNvSpPr/>
          <p:nvPr/>
        </p:nvSpPr>
        <p:spPr>
          <a:xfrm>
            <a:off x="1511617" y="4490403"/>
            <a:ext cx="3860482"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Issues B2B invitations</a:t>
            </a:r>
            <a:endParaRPr lang="en-US" sz="1300" dirty="0"/>
          </a:p>
        </p:txBody>
      </p:sp>
      <p:sp>
        <p:nvSpPr>
          <p:cNvPr id="27" name="Shape 20"/>
          <p:cNvSpPr/>
          <p:nvPr/>
        </p:nvSpPr>
        <p:spPr>
          <a:xfrm>
            <a:off x="844867" y="5345589"/>
            <a:ext cx="495300" cy="495300"/>
          </a:xfrm>
          <a:prstGeom prst="ellipse">
            <a:avLst/>
          </a:prstGeom>
          <a:solidFill>
            <a:srgbClr val="1A7A8A">
              <a:alpha val="14000"/>
            </a:srgbClr>
          </a:solidFill>
          <a:ln/>
        </p:spPr>
        <p:txBody>
          <a:bodyPr/>
          <a:lstStyle/>
          <a:p>
            <a:endParaRPr lang="en-US"/>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9167" y="5459889"/>
            <a:ext cx="266700" cy="266700"/>
          </a:xfrm>
          <a:prstGeom prst="rect">
            <a:avLst/>
          </a:prstGeom>
        </p:spPr>
      </p:pic>
      <p:sp>
        <p:nvSpPr>
          <p:cNvPr id="29" name="Text 21"/>
          <p:cNvSpPr/>
          <p:nvPr/>
        </p:nvSpPr>
        <p:spPr>
          <a:xfrm>
            <a:off x="1511617" y="5259864"/>
            <a:ext cx="3860482"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Absorbs compute cost and licensing</a:t>
            </a:r>
            <a:endParaRPr lang="en-US" sz="1300" dirty="0"/>
          </a:p>
        </p:txBody>
      </p:sp>
      <p:sp>
        <p:nvSpPr>
          <p:cNvPr id="30" name="Shape 22"/>
          <p:cNvSpPr/>
          <p:nvPr/>
        </p:nvSpPr>
        <p:spPr>
          <a:xfrm>
            <a:off x="6902768" y="2267744"/>
            <a:ext cx="495300" cy="495300"/>
          </a:xfrm>
          <a:prstGeom prst="ellipse">
            <a:avLst/>
          </a:prstGeom>
          <a:solidFill>
            <a:srgbClr val="2E5FA8">
              <a:alpha val="14000"/>
            </a:srgbClr>
          </a:solidFill>
          <a:ln/>
        </p:spPr>
        <p:txBody>
          <a:bodyPr/>
          <a:lstStyle/>
          <a:p>
            <a:endParaRPr lang="en-US"/>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17068" y="2382044"/>
            <a:ext cx="266700" cy="266700"/>
          </a:xfrm>
          <a:prstGeom prst="rect">
            <a:avLst/>
          </a:prstGeom>
        </p:spPr>
      </p:pic>
      <p:sp>
        <p:nvSpPr>
          <p:cNvPr id="32" name="Text 23"/>
          <p:cNvSpPr/>
          <p:nvPr/>
        </p:nvSpPr>
        <p:spPr>
          <a:xfrm>
            <a:off x="7569517" y="2182019"/>
            <a:ext cx="3860483"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Holds user primary identity</a:t>
            </a:r>
            <a:endParaRPr lang="en-US" sz="1300" dirty="0"/>
          </a:p>
        </p:txBody>
      </p:sp>
      <p:sp>
        <p:nvSpPr>
          <p:cNvPr id="33" name="Shape 24"/>
          <p:cNvSpPr/>
          <p:nvPr/>
        </p:nvSpPr>
        <p:spPr>
          <a:xfrm>
            <a:off x="6902768" y="3037205"/>
            <a:ext cx="495300" cy="495300"/>
          </a:xfrm>
          <a:prstGeom prst="ellipse">
            <a:avLst/>
          </a:prstGeom>
          <a:solidFill>
            <a:srgbClr val="2E5FA8">
              <a:alpha val="14000"/>
            </a:srgbClr>
          </a:solidFill>
          <a:ln/>
        </p:spPr>
        <p:txBody>
          <a:bodyPr/>
          <a:lstStyle/>
          <a:p>
            <a:endParaRPr lang="en-US"/>
          </a:p>
        </p:txBody>
      </p:sp>
      <p:pic>
        <p:nvPicPr>
          <p:cNvPr id="3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17068" y="3151505"/>
            <a:ext cx="266700" cy="266700"/>
          </a:xfrm>
          <a:prstGeom prst="rect">
            <a:avLst/>
          </a:prstGeom>
        </p:spPr>
      </p:pic>
      <p:sp>
        <p:nvSpPr>
          <p:cNvPr id="35" name="Text 25"/>
          <p:cNvSpPr/>
          <p:nvPr/>
        </p:nvSpPr>
        <p:spPr>
          <a:xfrm>
            <a:off x="7569517" y="2951480"/>
            <a:ext cx="3860483"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User travels to provider tenant</a:t>
            </a:r>
            <a:endParaRPr lang="en-US" sz="1300" dirty="0"/>
          </a:p>
        </p:txBody>
      </p:sp>
      <p:sp>
        <p:nvSpPr>
          <p:cNvPr id="36" name="Shape 26"/>
          <p:cNvSpPr/>
          <p:nvPr/>
        </p:nvSpPr>
        <p:spPr>
          <a:xfrm>
            <a:off x="6902768" y="3806666"/>
            <a:ext cx="495300" cy="495300"/>
          </a:xfrm>
          <a:prstGeom prst="ellipse">
            <a:avLst/>
          </a:prstGeom>
          <a:solidFill>
            <a:srgbClr val="2E5FA8">
              <a:alpha val="14000"/>
            </a:srgbClr>
          </a:solidFill>
          <a:ln/>
        </p:spPr>
        <p:txBody>
          <a:bodyPr/>
          <a:lstStyle/>
          <a:p>
            <a:endParaRPr lang="en-US"/>
          </a:p>
        </p:txBody>
      </p:sp>
      <p:pic>
        <p:nvPicPr>
          <p:cNvPr id="37"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17068" y="3920966"/>
            <a:ext cx="266700" cy="266700"/>
          </a:xfrm>
          <a:prstGeom prst="rect">
            <a:avLst/>
          </a:prstGeom>
        </p:spPr>
      </p:pic>
      <p:sp>
        <p:nvSpPr>
          <p:cNvPr id="38" name="Text 27"/>
          <p:cNvSpPr/>
          <p:nvPr/>
        </p:nvSpPr>
        <p:spPr>
          <a:xfrm>
            <a:off x="7569517" y="3720941"/>
            <a:ext cx="3860483"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Controls outbound invitation acceptance</a:t>
            </a:r>
            <a:endParaRPr lang="en-US" sz="1300" dirty="0"/>
          </a:p>
        </p:txBody>
      </p:sp>
      <p:sp>
        <p:nvSpPr>
          <p:cNvPr id="39" name="Shape 28"/>
          <p:cNvSpPr/>
          <p:nvPr/>
        </p:nvSpPr>
        <p:spPr>
          <a:xfrm>
            <a:off x="6902768" y="4576128"/>
            <a:ext cx="495300" cy="495300"/>
          </a:xfrm>
          <a:prstGeom prst="ellipse">
            <a:avLst/>
          </a:prstGeom>
          <a:solidFill>
            <a:srgbClr val="2E5FA8">
              <a:alpha val="14000"/>
            </a:srgbClr>
          </a:solidFill>
          <a:ln/>
        </p:spPr>
        <p:txBody>
          <a:bodyPr/>
          <a:lstStyle/>
          <a:p>
            <a:endParaRPr lang="en-US"/>
          </a:p>
        </p:txBody>
      </p:sp>
      <p:pic>
        <p:nvPicPr>
          <p:cNvPr id="4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017068" y="4690428"/>
            <a:ext cx="266700" cy="266700"/>
          </a:xfrm>
          <a:prstGeom prst="rect">
            <a:avLst/>
          </a:prstGeom>
        </p:spPr>
      </p:pic>
      <p:sp>
        <p:nvSpPr>
          <p:cNvPr id="41" name="Text 29"/>
          <p:cNvSpPr/>
          <p:nvPr/>
        </p:nvSpPr>
        <p:spPr>
          <a:xfrm>
            <a:off x="7569517" y="4490403"/>
            <a:ext cx="3860483"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Configures cross-tenant access policies</a:t>
            </a:r>
            <a:endParaRPr lang="en-US" sz="1300" dirty="0"/>
          </a:p>
        </p:txBody>
      </p:sp>
      <p:sp>
        <p:nvSpPr>
          <p:cNvPr id="42" name="Shape 30"/>
          <p:cNvSpPr/>
          <p:nvPr/>
        </p:nvSpPr>
        <p:spPr>
          <a:xfrm>
            <a:off x="6902768" y="5345589"/>
            <a:ext cx="495300" cy="495300"/>
          </a:xfrm>
          <a:prstGeom prst="ellipse">
            <a:avLst/>
          </a:prstGeom>
          <a:solidFill>
            <a:srgbClr val="2E5FA8">
              <a:alpha val="14000"/>
            </a:srgbClr>
          </a:solidFill>
          <a:ln/>
        </p:spPr>
        <p:txBody>
          <a:bodyPr/>
          <a:lstStyle/>
          <a:p>
            <a:endParaRPr lang="en-US"/>
          </a:p>
        </p:txBody>
      </p:sp>
      <p:pic>
        <p:nvPicPr>
          <p:cNvPr id="4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017068" y="5459889"/>
            <a:ext cx="266700" cy="266700"/>
          </a:xfrm>
          <a:prstGeom prst="rect">
            <a:avLst/>
          </a:prstGeom>
        </p:spPr>
      </p:pic>
      <p:sp>
        <p:nvSpPr>
          <p:cNvPr id="44" name="Text 31"/>
          <p:cNvSpPr/>
          <p:nvPr/>
        </p:nvSpPr>
        <p:spPr>
          <a:xfrm>
            <a:off x="7569517" y="5259864"/>
            <a:ext cx="3860483" cy="666750"/>
          </a:xfrm>
          <a:prstGeom prst="rect">
            <a:avLst/>
          </a:prstGeom>
          <a:noFill/>
          <a:ln/>
        </p:spPr>
        <p:txBody>
          <a:bodyPr wrap="square" rtlCol="0" anchor="ctr"/>
          <a:lstStyle/>
          <a:p>
            <a:pPr marL="0" indent="0" algn="l">
              <a:buNone/>
            </a:pPr>
            <a:r>
              <a:rPr lang="en-US" sz="1300" dirty="0">
                <a:solidFill>
                  <a:srgbClr val="0B1D3A"/>
                </a:solidFill>
                <a:latin typeface="Inter" pitchFamily="34" charset="0"/>
                <a:ea typeface="Inter" pitchFamily="34" charset="-122"/>
                <a:cs typeface="Inter" pitchFamily="34" charset="-120"/>
              </a:rPr>
              <a:t>Appears as guest in provider Entra ID</a:t>
            </a:r>
            <a:endParaRPr lang="en-US" sz="1300" dirty="0"/>
          </a:p>
        </p:txBody>
      </p:sp>
      <p:sp>
        <p:nvSpPr>
          <p:cNvPr id="45" name="Shape 32"/>
          <p:cNvSpPr/>
          <p:nvPr/>
        </p:nvSpPr>
        <p:spPr>
          <a:xfrm>
            <a:off x="5676595" y="3719170"/>
            <a:ext cx="838810" cy="28346"/>
          </a:xfrm>
          <a:prstGeom prst="rect">
            <a:avLst/>
          </a:prstGeom>
          <a:solidFill>
            <a:srgbClr val="DCE0E6"/>
          </a:solidFill>
          <a:ln/>
        </p:spPr>
        <p:txBody>
          <a:bodyPr/>
          <a:lstStyle/>
          <a:p>
            <a:endParaRPr lang="en-US"/>
          </a:p>
        </p:txBody>
      </p:sp>
      <p:sp>
        <p:nvSpPr>
          <p:cNvPr id="46" name="Shape 33"/>
          <p:cNvSpPr/>
          <p:nvPr/>
        </p:nvSpPr>
        <p:spPr>
          <a:xfrm>
            <a:off x="5743575" y="3381375"/>
            <a:ext cx="704850" cy="704850"/>
          </a:xfrm>
          <a:prstGeom prst="ellipse">
            <a:avLst/>
          </a:prstGeom>
          <a:solidFill>
            <a:srgbClr val="E0F0F3"/>
          </a:solidFill>
          <a:ln/>
          <a:effectLst>
            <a:outerShdw blurRad="101600" dist="38100" dir="5400000" algn="bl" rotWithShape="0">
              <a:srgbClr val="DCE0E6">
                <a:alpha val="40000"/>
              </a:srgbClr>
            </a:outerShdw>
          </a:effectLst>
        </p:spPr>
        <p:txBody>
          <a:bodyPr/>
          <a:lstStyle/>
          <a:p>
            <a:endParaRPr lang="en-US"/>
          </a:p>
        </p:txBody>
      </p:sp>
      <p:sp>
        <p:nvSpPr>
          <p:cNvPr id="47" name="Text 34"/>
          <p:cNvSpPr/>
          <p:nvPr/>
        </p:nvSpPr>
        <p:spPr>
          <a:xfrm>
            <a:off x="5743575" y="3381375"/>
            <a:ext cx="704850" cy="704850"/>
          </a:xfrm>
          <a:prstGeom prst="rect">
            <a:avLst/>
          </a:prstGeom>
          <a:noFill/>
          <a:ln/>
        </p:spPr>
        <p:txBody>
          <a:bodyPr wrap="square" rtlCol="0" anchor="ctr"/>
          <a:lstStyle/>
          <a:p>
            <a:pPr marL="0" indent="0" algn="ctr">
              <a:buNone/>
            </a:pPr>
            <a:r>
              <a:rPr lang="en-US" sz="2000" b="1" dirty="0">
                <a:solidFill>
                  <a:srgbClr val="0B1D3A"/>
                </a:solidFill>
                <a:latin typeface="Poppins" pitchFamily="34" charset="0"/>
                <a:ea typeface="Poppins" pitchFamily="34" charset="-122"/>
                <a:cs typeface="Poppins" pitchFamily="34" charset="-120"/>
              </a:rPr>
              <a:t>VS</a:t>
            </a:r>
            <a:endParaRPr lang="en-US" sz="2000" dirty="0"/>
          </a:p>
        </p:txBody>
      </p:sp>
      <p:sp>
        <p:nvSpPr>
          <p:cNvPr id="48" name="Text 35"/>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49" name="Text 36"/>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548640" y="228600"/>
            <a:ext cx="182880" cy="182880"/>
          </a:xfrm>
          <a:prstGeom prst="rect">
            <a:avLst/>
          </a:prstGeom>
          <a:solidFill>
            <a:srgbClr val="1A7A8A"/>
          </a:solidFill>
          <a:ln/>
        </p:spPr>
        <p:txBody>
          <a:bodyPr/>
          <a:lstStyle/>
          <a:p>
            <a:endParaRPr lang="en-US"/>
          </a:p>
        </p:txBody>
      </p:sp>
      <p:sp>
        <p:nvSpPr>
          <p:cNvPr id="4" name="Text 1"/>
          <p:cNvSpPr/>
          <p:nvPr/>
        </p:nvSpPr>
        <p:spPr>
          <a:xfrm>
            <a:off x="841248" y="228600"/>
            <a:ext cx="10799064"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MICROSOFT ARCHITECTURE</a:t>
            </a:r>
            <a:endParaRPr lang="en-US" sz="1050" dirty="0"/>
          </a:p>
        </p:txBody>
      </p:sp>
      <p:sp>
        <p:nvSpPr>
          <p:cNvPr id="5" name="Text 0"/>
          <p:cNvSpPr>
            <a:spLocks noGrp="1"/>
          </p:cNvSpPr>
          <p:nvPr>
            <p:ph type="title" idx="100" hasCustomPrompt="1"/>
          </p:nvPr>
        </p:nvSpPr>
        <p:spPr>
          <a:xfrm>
            <a:off x="548640" y="521208"/>
            <a:ext cx="11091672"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Tenant Terminology</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35546" cy="2395728"/>
        </p:xfrm>
        <a:graphic>
          <a:graphicData uri="http://schemas.openxmlformats.org/drawingml/2006/table">
            <a:tbl>
              <a:tblPr/>
              <a:tblGrid>
                <a:gridCol w="2145182">
                  <a:extLst>
                    <a:ext uri="{9D8B030D-6E8A-4147-A177-3AD203B41FA5}">
                      <a16:colId xmlns:a16="http://schemas.microsoft.com/office/drawing/2014/main" val="20000"/>
                    </a:ext>
                  </a:extLst>
                </a:gridCol>
                <a:gridCol w="2145182">
                  <a:extLst>
                    <a:ext uri="{9D8B030D-6E8A-4147-A177-3AD203B41FA5}">
                      <a16:colId xmlns:a16="http://schemas.microsoft.com/office/drawing/2014/main" val="20001"/>
                    </a:ext>
                  </a:extLst>
                </a:gridCol>
                <a:gridCol w="2145182">
                  <a:extLst>
                    <a:ext uri="{9D8B030D-6E8A-4147-A177-3AD203B41FA5}">
                      <a16:colId xmlns:a16="http://schemas.microsoft.com/office/drawing/2014/main" val="20002"/>
                    </a:ext>
                  </a:extLst>
                </a:gridCol>
              </a:tblGrid>
              <a:tr h="566928">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Term</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Also Known As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extLst>
                  <a:ext uri="{0D108BD9-81ED-4DB2-BD59-A6C34878D82A}">
                    <a16:rowId xmlns:a16="http://schemas.microsoft.com/office/drawing/2014/main" val="10000"/>
                  </a:ext>
                </a:extLst>
              </a:tr>
              <a:tr h="822960">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Resource 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Provider 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Owns Fabric capacity, workspace, and data assets; grants access to external identities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1005840">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Home 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Consumer 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Tenant where user's primary identity is registered; user travels to resource 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2"/>
                  </a:ext>
                </a:extLst>
              </a:tr>
            </a:tbl>
          </a:graphicData>
        </a:graphic>
      </p:graphicFrame>
      <p:sp>
        <p:nvSpPr>
          <p:cNvPr id="7" name="Shape 3"/>
          <p:cNvSpPr/>
          <p:nvPr/>
        </p:nvSpPr>
        <p:spPr>
          <a:xfrm>
            <a:off x="7349947" y="1463040"/>
            <a:ext cx="4290365" cy="2851709"/>
          </a:xfrm>
          <a:prstGeom prst="rect">
            <a:avLst/>
          </a:prstGeom>
          <a:solidFill>
            <a:srgbClr val="1A7A8A"/>
          </a:solidFill>
          <a:ln/>
          <a:effectLst>
            <a:outerShdw blurRad="67729" dist="16929" dir="8100000" algn="bl" rotWithShape="0">
              <a:srgbClr val="DCE0E6">
                <a:alpha val="8000"/>
              </a:srgbClr>
            </a:outerShdw>
          </a:effectLst>
        </p:spPr>
        <p:txBody>
          <a:bodyPr/>
          <a:lstStyle/>
          <a:p>
            <a:endParaRPr lang="en-US"/>
          </a:p>
        </p:txBody>
      </p:sp>
      <p:sp>
        <p:nvSpPr>
          <p:cNvPr id="8" name="Shape 4"/>
          <p:cNvSpPr/>
          <p:nvPr/>
        </p:nvSpPr>
        <p:spPr>
          <a:xfrm>
            <a:off x="7400239" y="1463040"/>
            <a:ext cx="4240073" cy="2851709"/>
          </a:xfrm>
          <a:prstGeom prst="rect">
            <a:avLst/>
          </a:prstGeom>
          <a:solidFill>
            <a:srgbClr val="F2F4F7"/>
          </a:solidFill>
          <a:ln w="9525">
            <a:solidFill>
              <a:srgbClr val="DCE0E6"/>
            </a:solidFill>
            <a:prstDash val="solid"/>
          </a:ln>
        </p:spPr>
        <p:txBody>
          <a:bodyPr/>
          <a:lstStyle/>
          <a:p>
            <a:endParaRPr lang="en-US"/>
          </a:p>
        </p:txBody>
      </p:sp>
      <p:sp>
        <p:nvSpPr>
          <p:cNvPr id="9" name="Text 5"/>
          <p:cNvSpPr/>
          <p:nvPr/>
        </p:nvSpPr>
        <p:spPr>
          <a:xfrm>
            <a:off x="7551115" y="1664208"/>
            <a:ext cx="3888029" cy="419100"/>
          </a:xfrm>
          <a:prstGeom prst="rect">
            <a:avLst/>
          </a:prstGeom>
          <a:noFill/>
          <a:ln/>
        </p:spPr>
        <p:txBody>
          <a:bodyPr wrap="square" rtlCol="0" anchor="t"/>
          <a:lstStyle/>
          <a:p>
            <a:pPr marL="0" indent="0" algn="l">
              <a:buNone/>
            </a:pPr>
            <a:r>
              <a:rPr lang="en-US" sz="2200" b="1" dirty="0">
                <a:solidFill>
                  <a:srgbClr val="0B1D3A"/>
                </a:solidFill>
                <a:latin typeface="Inter" pitchFamily="34" charset="0"/>
                <a:ea typeface="Inter" pitchFamily="34" charset="-122"/>
                <a:cs typeface="Inter" pitchFamily="34" charset="-120"/>
              </a:rPr>
              <a:t>Key Distinction</a:t>
            </a:r>
            <a:endParaRPr lang="en-US" sz="2200" dirty="0"/>
          </a:p>
        </p:txBody>
      </p:sp>
      <p:sp>
        <p:nvSpPr>
          <p:cNvPr id="10" name="Text 6"/>
          <p:cNvSpPr/>
          <p:nvPr/>
        </p:nvSpPr>
        <p:spPr>
          <a:xfrm>
            <a:off x="7551115" y="2174748"/>
            <a:ext cx="3888029" cy="792480"/>
          </a:xfrm>
          <a:prstGeom prst="rect">
            <a:avLst/>
          </a:prstGeom>
          <a:noFill/>
          <a:ln/>
        </p:spPr>
        <p:txBody>
          <a:bodyPr wrap="square" rtlCol="0" anchor="t"/>
          <a:lstStyle/>
          <a:p>
            <a:pPr marL="0" indent="0" algn="l">
              <a:buNone/>
            </a:pPr>
            <a:r>
              <a:rPr lang="en-US" sz="1600" dirty="0">
                <a:solidFill>
                  <a:srgbClr val="3A4A5E"/>
                </a:solidFill>
                <a:latin typeface="Inter" pitchFamily="34" charset="0"/>
                <a:ea typeface="Inter" pitchFamily="34" charset="-122"/>
                <a:cs typeface="Inter" pitchFamily="34" charset="-120"/>
              </a:rPr>
              <a:t>The </a:t>
            </a:r>
            <a:r>
              <a:rPr lang="en-US" sz="1600" b="1" dirty="0">
                <a:solidFill>
                  <a:srgbClr val="1A7A8A"/>
                </a:solidFill>
                <a:latin typeface="Inter" pitchFamily="34" charset="0"/>
                <a:ea typeface="Inter" pitchFamily="34" charset="-122"/>
                <a:cs typeface="Inter" pitchFamily="34" charset="-120"/>
              </a:rPr>
              <a:t>resource tenant</a:t>
            </a:r>
            <a:r>
              <a:rPr lang="en-US" sz="1600" dirty="0">
                <a:solidFill>
                  <a:srgbClr val="3A4A5E"/>
                </a:solidFill>
                <a:latin typeface="Inter" pitchFamily="34" charset="0"/>
                <a:ea typeface="Inter" pitchFamily="34" charset="-122"/>
                <a:cs typeface="Inter" pitchFamily="34" charset="-120"/>
              </a:rPr>
              <a:t> controls the data and compute. The </a:t>
            </a:r>
            <a:r>
              <a:rPr lang="en-US" sz="1600" b="1" dirty="0">
                <a:solidFill>
                  <a:srgbClr val="1A7A8A"/>
                </a:solidFill>
                <a:latin typeface="Inter" pitchFamily="34" charset="0"/>
                <a:ea typeface="Inter" pitchFamily="34" charset="-122"/>
                <a:cs typeface="Inter" pitchFamily="34" charset="-120"/>
              </a:rPr>
              <a:t>home tenant</a:t>
            </a:r>
            <a:r>
              <a:rPr lang="en-US" sz="1600" dirty="0">
                <a:solidFill>
                  <a:srgbClr val="3A4A5E"/>
                </a:solidFill>
                <a:latin typeface="Inter" pitchFamily="34" charset="0"/>
                <a:ea typeface="Inter" pitchFamily="34" charset="-122"/>
                <a:cs typeface="Inter" pitchFamily="34" charset="-120"/>
              </a:rPr>
              <a:t> controls the identity.</a:t>
            </a:r>
            <a:endParaRPr lang="en-US" sz="1600" dirty="0"/>
          </a:p>
        </p:txBody>
      </p:sp>
      <p:sp>
        <p:nvSpPr>
          <p:cNvPr id="11" name="Text 7"/>
          <p:cNvSpPr/>
          <p:nvPr/>
        </p:nvSpPr>
        <p:spPr>
          <a:xfrm>
            <a:off x="7551115" y="3058668"/>
            <a:ext cx="3888029" cy="792480"/>
          </a:xfrm>
          <a:prstGeom prst="rect">
            <a:avLst/>
          </a:prstGeom>
          <a:noFill/>
          <a:ln/>
        </p:spPr>
        <p:txBody>
          <a:bodyPr wrap="square" rtlCol="0" anchor="t"/>
          <a:lstStyle/>
          <a:p>
            <a:pPr marL="0" indent="0" algn="l">
              <a:buNone/>
            </a:pPr>
            <a:r>
              <a:rPr lang="en-US" sz="1600" dirty="0">
                <a:solidFill>
                  <a:srgbClr val="3A4A5E"/>
                </a:solidFill>
                <a:latin typeface="Inter" pitchFamily="34" charset="0"/>
                <a:ea typeface="Inter" pitchFamily="34" charset="-122"/>
                <a:cs typeface="Inter" pitchFamily="34" charset="-120"/>
              </a:rPr>
              <a:t>Both administrators must independently enable cross-tenant access for collaboration to function.</a:t>
            </a:r>
            <a:endParaRPr lang="en-US" sz="1600" dirty="0"/>
          </a:p>
        </p:txBody>
      </p:sp>
      <p:sp>
        <p:nvSpPr>
          <p:cNvPr id="12" name="Text 8"/>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13" name="Text 9"/>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628650" y="377922"/>
            <a:ext cx="182880" cy="182880"/>
          </a:xfrm>
          <a:prstGeom prst="rect">
            <a:avLst/>
          </a:prstGeom>
          <a:solidFill>
            <a:srgbClr val="1A7A8A"/>
          </a:solidFill>
          <a:ln/>
        </p:spPr>
        <p:txBody>
          <a:bodyPr/>
          <a:lstStyle/>
          <a:p>
            <a:endParaRPr lang="en-US"/>
          </a:p>
        </p:txBody>
      </p:sp>
      <p:sp>
        <p:nvSpPr>
          <p:cNvPr id="4" name="Text 1"/>
          <p:cNvSpPr/>
          <p:nvPr/>
        </p:nvSpPr>
        <p:spPr>
          <a:xfrm>
            <a:off x="921258" y="377922"/>
            <a:ext cx="10641787"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IDENTITY MODEL</a:t>
            </a:r>
            <a:endParaRPr lang="en-US" sz="1050" dirty="0"/>
          </a:p>
        </p:txBody>
      </p:sp>
      <p:sp>
        <p:nvSpPr>
          <p:cNvPr id="5" name="Text 0"/>
          <p:cNvSpPr>
            <a:spLocks noGrp="1"/>
          </p:cNvSpPr>
          <p:nvPr>
            <p:ph type="title" idx="100" hasCustomPrompt="1"/>
          </p:nvPr>
        </p:nvSpPr>
        <p:spPr>
          <a:xfrm>
            <a:off x="628650" y="670530"/>
            <a:ext cx="10934395"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Supported Identity Model</a:t>
            </a:r>
            <a:endParaRPr lang="en-US" sz="2200" dirty="0"/>
          </a:p>
        </p:txBody>
      </p:sp>
      <p:sp>
        <p:nvSpPr>
          <p:cNvPr id="6" name="Shape 3"/>
          <p:cNvSpPr/>
          <p:nvPr/>
        </p:nvSpPr>
        <p:spPr>
          <a:xfrm>
            <a:off x="628650" y="1415258"/>
            <a:ext cx="3492398" cy="3924838"/>
          </a:xfrm>
          <a:prstGeom prst="rect">
            <a:avLst/>
          </a:prstGeom>
          <a:solidFill>
            <a:srgbClr val="1A7A8A"/>
          </a:solidFill>
          <a:ln/>
          <a:effectLst>
            <a:outerShdw blurRad="76200" dist="25400" dir="8100000" algn="bl" rotWithShape="0">
              <a:srgbClr val="DCE0E6">
                <a:alpha val="12000"/>
              </a:srgbClr>
            </a:outerShdw>
          </a:effectLst>
        </p:spPr>
        <p:txBody>
          <a:bodyPr/>
          <a:lstStyle/>
          <a:p>
            <a:endParaRPr lang="en-US"/>
          </a:p>
        </p:txBody>
      </p:sp>
      <p:sp>
        <p:nvSpPr>
          <p:cNvPr id="7" name="Shape 4"/>
          <p:cNvSpPr/>
          <p:nvPr/>
        </p:nvSpPr>
        <p:spPr>
          <a:xfrm>
            <a:off x="628650" y="1453662"/>
            <a:ext cx="3492398" cy="3886434"/>
          </a:xfrm>
          <a:prstGeom prst="rect">
            <a:avLst/>
          </a:prstGeom>
          <a:solidFill>
            <a:srgbClr val="F2F4F7"/>
          </a:solidFill>
          <a:ln w="9525">
            <a:solidFill>
              <a:srgbClr val="DCE0E6"/>
            </a:solidFill>
            <a:prstDash val="solid"/>
          </a:ln>
        </p:spPr>
        <p:txBody>
          <a:bodyPr/>
          <a:lstStyle/>
          <a:p>
            <a:endParaRPr lang="en-US"/>
          </a:p>
        </p:txBody>
      </p:sp>
      <p:sp>
        <p:nvSpPr>
          <p:cNvPr id="8" name="Shape 5"/>
          <p:cNvSpPr/>
          <p:nvPr/>
        </p:nvSpPr>
        <p:spPr>
          <a:xfrm>
            <a:off x="876270" y="1681988"/>
            <a:ext cx="514350" cy="514350"/>
          </a:xfrm>
          <a:prstGeom prst="roundRect">
            <a:avLst>
              <a:gd name="adj" fmla="val 22222"/>
            </a:avLst>
          </a:prstGeom>
          <a:solidFill>
            <a:srgbClr val="E0F0F3"/>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9" y="1805798"/>
            <a:ext cx="266730" cy="266730"/>
          </a:xfrm>
          <a:prstGeom prst="rect">
            <a:avLst/>
          </a:prstGeom>
        </p:spPr>
      </p:pic>
      <p:sp>
        <p:nvSpPr>
          <p:cNvPr id="10" name="Text 6"/>
          <p:cNvSpPr/>
          <p:nvPr/>
        </p:nvSpPr>
        <p:spPr>
          <a:xfrm>
            <a:off x="876270" y="2367788"/>
            <a:ext cx="2997159" cy="310896"/>
          </a:xfrm>
          <a:prstGeom prst="rect">
            <a:avLst/>
          </a:prstGeom>
          <a:noFill/>
          <a:ln/>
        </p:spPr>
        <p:txBody>
          <a:bodyPr wrap="square" rtlCol="0" anchor="t"/>
          <a:lstStyle/>
          <a:p>
            <a:pPr marL="0" indent="0" algn="l">
              <a:buNone/>
            </a:pPr>
            <a:r>
              <a:rPr lang="en-US" sz="1575" b="1" dirty="0">
                <a:solidFill>
                  <a:srgbClr val="0B1D3A"/>
                </a:solidFill>
                <a:latin typeface="Poppins" pitchFamily="34" charset="0"/>
                <a:ea typeface="Poppins" pitchFamily="34" charset="-122"/>
                <a:cs typeface="Poppins" pitchFamily="34" charset="-120"/>
              </a:rPr>
              <a:t>Entra ID (Work)</a:t>
            </a:r>
            <a:endParaRPr lang="en-US" sz="1575" dirty="0"/>
          </a:p>
        </p:txBody>
      </p:sp>
      <p:sp>
        <p:nvSpPr>
          <p:cNvPr id="11" name="Text 7"/>
          <p:cNvSpPr/>
          <p:nvPr/>
        </p:nvSpPr>
        <p:spPr>
          <a:xfrm>
            <a:off x="876270" y="2831114"/>
            <a:ext cx="2997159" cy="20574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Most common enterprise path</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Work/school accounts backed by Entra ID</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Full organizational identity governance</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Recommended for B2B scenarios</a:t>
            </a:r>
            <a:endParaRPr lang="en-US" sz="1500" dirty="0"/>
          </a:p>
        </p:txBody>
      </p:sp>
      <p:sp>
        <p:nvSpPr>
          <p:cNvPr id="12" name="Shape 8"/>
          <p:cNvSpPr/>
          <p:nvPr/>
        </p:nvSpPr>
        <p:spPr>
          <a:xfrm>
            <a:off x="4349648" y="1415258"/>
            <a:ext cx="3492398" cy="3924838"/>
          </a:xfrm>
          <a:prstGeom prst="rect">
            <a:avLst/>
          </a:prstGeom>
          <a:solidFill>
            <a:srgbClr val="1A7A8A"/>
          </a:solidFill>
          <a:ln/>
          <a:effectLst>
            <a:outerShdw blurRad="76200" dist="25400" dir="8100000" algn="bl" rotWithShape="0">
              <a:srgbClr val="DCE0E6">
                <a:alpha val="12000"/>
              </a:srgbClr>
            </a:outerShdw>
          </a:effectLst>
        </p:spPr>
        <p:txBody>
          <a:bodyPr/>
          <a:lstStyle/>
          <a:p>
            <a:endParaRPr lang="en-US"/>
          </a:p>
        </p:txBody>
      </p:sp>
      <p:sp>
        <p:nvSpPr>
          <p:cNvPr id="13" name="Shape 9"/>
          <p:cNvSpPr/>
          <p:nvPr/>
        </p:nvSpPr>
        <p:spPr>
          <a:xfrm>
            <a:off x="4349648" y="1453662"/>
            <a:ext cx="3492398" cy="3886434"/>
          </a:xfrm>
          <a:prstGeom prst="rect">
            <a:avLst/>
          </a:prstGeom>
          <a:solidFill>
            <a:srgbClr val="F2F4F7"/>
          </a:solidFill>
          <a:ln w="9525">
            <a:solidFill>
              <a:srgbClr val="DCE0E6"/>
            </a:solidFill>
            <a:prstDash val="solid"/>
          </a:ln>
        </p:spPr>
        <p:txBody>
          <a:bodyPr/>
          <a:lstStyle/>
          <a:p>
            <a:endParaRPr lang="en-US"/>
          </a:p>
        </p:txBody>
      </p:sp>
      <p:sp>
        <p:nvSpPr>
          <p:cNvPr id="14" name="Shape 10"/>
          <p:cNvSpPr/>
          <p:nvPr/>
        </p:nvSpPr>
        <p:spPr>
          <a:xfrm>
            <a:off x="4597268" y="1681988"/>
            <a:ext cx="514350" cy="514350"/>
          </a:xfrm>
          <a:prstGeom prst="roundRect">
            <a:avLst>
              <a:gd name="adj" fmla="val 22222"/>
            </a:avLst>
          </a:prstGeom>
          <a:solidFill>
            <a:srgbClr val="E0F0F3"/>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1078" y="1805798"/>
            <a:ext cx="266730" cy="266730"/>
          </a:xfrm>
          <a:prstGeom prst="rect">
            <a:avLst/>
          </a:prstGeom>
        </p:spPr>
      </p:pic>
      <p:sp>
        <p:nvSpPr>
          <p:cNvPr id="16" name="Text 11"/>
          <p:cNvSpPr/>
          <p:nvPr/>
        </p:nvSpPr>
        <p:spPr>
          <a:xfrm>
            <a:off x="4597268" y="2367788"/>
            <a:ext cx="2997159" cy="310896"/>
          </a:xfrm>
          <a:prstGeom prst="rect">
            <a:avLst/>
          </a:prstGeom>
          <a:noFill/>
          <a:ln/>
        </p:spPr>
        <p:txBody>
          <a:bodyPr wrap="square" rtlCol="0" anchor="t"/>
          <a:lstStyle/>
          <a:p>
            <a:pPr marL="0" indent="0" algn="l">
              <a:buNone/>
            </a:pPr>
            <a:r>
              <a:rPr lang="en-US" sz="1575" b="1" dirty="0">
                <a:solidFill>
                  <a:srgbClr val="0B1D3A"/>
                </a:solidFill>
                <a:latin typeface="Poppins" pitchFamily="34" charset="0"/>
                <a:ea typeface="Poppins" pitchFamily="34" charset="-122"/>
                <a:cs typeface="Poppins" pitchFamily="34" charset="-120"/>
              </a:rPr>
              <a:t>Microsoft Account</a:t>
            </a:r>
            <a:endParaRPr lang="en-US" sz="1575" dirty="0"/>
          </a:p>
        </p:txBody>
      </p:sp>
      <p:sp>
        <p:nvSpPr>
          <p:cNvPr id="17" name="Text 12"/>
          <p:cNvSpPr/>
          <p:nvPr/>
        </p:nvSpPr>
        <p:spPr>
          <a:xfrm>
            <a:off x="4597268" y="2831114"/>
            <a:ext cx="2997159" cy="16002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Personal Microsoft accounts</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Consumer-grade identity</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Less common in enterprise</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Suitable for individual access</a:t>
            </a:r>
            <a:endParaRPr lang="en-US" sz="1500" dirty="0"/>
          </a:p>
        </p:txBody>
      </p:sp>
      <p:sp>
        <p:nvSpPr>
          <p:cNvPr id="18" name="Shape 13"/>
          <p:cNvSpPr/>
          <p:nvPr/>
        </p:nvSpPr>
        <p:spPr>
          <a:xfrm>
            <a:off x="8070647" y="1415258"/>
            <a:ext cx="3492398" cy="3924838"/>
          </a:xfrm>
          <a:prstGeom prst="rect">
            <a:avLst/>
          </a:prstGeom>
          <a:solidFill>
            <a:srgbClr val="1A7A8A"/>
          </a:solidFill>
          <a:ln/>
          <a:effectLst>
            <a:outerShdw blurRad="76200" dist="25400" dir="8100000" algn="bl" rotWithShape="0">
              <a:srgbClr val="DCE0E6">
                <a:alpha val="12000"/>
              </a:srgbClr>
            </a:outerShdw>
          </a:effectLst>
        </p:spPr>
        <p:txBody>
          <a:bodyPr/>
          <a:lstStyle/>
          <a:p>
            <a:endParaRPr lang="en-US"/>
          </a:p>
        </p:txBody>
      </p:sp>
      <p:sp>
        <p:nvSpPr>
          <p:cNvPr id="19" name="Shape 14"/>
          <p:cNvSpPr/>
          <p:nvPr/>
        </p:nvSpPr>
        <p:spPr>
          <a:xfrm>
            <a:off x="8070647" y="1453662"/>
            <a:ext cx="3492398" cy="3886434"/>
          </a:xfrm>
          <a:prstGeom prst="rect">
            <a:avLst/>
          </a:prstGeom>
          <a:solidFill>
            <a:srgbClr val="F2F4F7"/>
          </a:solidFill>
          <a:ln w="9525">
            <a:solidFill>
              <a:srgbClr val="DCE0E6"/>
            </a:solidFill>
            <a:prstDash val="solid"/>
          </a:ln>
        </p:spPr>
        <p:txBody>
          <a:bodyPr/>
          <a:lstStyle/>
          <a:p>
            <a:endParaRPr lang="en-US"/>
          </a:p>
        </p:txBody>
      </p:sp>
      <p:sp>
        <p:nvSpPr>
          <p:cNvPr id="20" name="Shape 15"/>
          <p:cNvSpPr/>
          <p:nvPr/>
        </p:nvSpPr>
        <p:spPr>
          <a:xfrm>
            <a:off x="8318266" y="1681988"/>
            <a:ext cx="514350" cy="514350"/>
          </a:xfrm>
          <a:prstGeom prst="roundRect">
            <a:avLst>
              <a:gd name="adj" fmla="val 22222"/>
            </a:avLst>
          </a:prstGeom>
          <a:solidFill>
            <a:srgbClr val="E0F0F3"/>
          </a:solidFill>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42076" y="1805798"/>
            <a:ext cx="266730" cy="266730"/>
          </a:xfrm>
          <a:prstGeom prst="rect">
            <a:avLst/>
          </a:prstGeom>
        </p:spPr>
      </p:pic>
      <p:sp>
        <p:nvSpPr>
          <p:cNvPr id="22" name="Text 16"/>
          <p:cNvSpPr/>
          <p:nvPr/>
        </p:nvSpPr>
        <p:spPr>
          <a:xfrm>
            <a:off x="8318266" y="2367788"/>
            <a:ext cx="2997159" cy="310896"/>
          </a:xfrm>
          <a:prstGeom prst="rect">
            <a:avLst/>
          </a:prstGeom>
          <a:noFill/>
          <a:ln/>
        </p:spPr>
        <p:txBody>
          <a:bodyPr wrap="square" rtlCol="0" anchor="t"/>
          <a:lstStyle/>
          <a:p>
            <a:pPr marL="0" indent="0" algn="l">
              <a:buNone/>
            </a:pPr>
            <a:r>
              <a:rPr lang="en-US" sz="1575" b="1" dirty="0">
                <a:solidFill>
                  <a:srgbClr val="0B1D3A"/>
                </a:solidFill>
                <a:latin typeface="Poppins" pitchFamily="34" charset="0"/>
                <a:ea typeface="Poppins" pitchFamily="34" charset="-122"/>
                <a:cs typeface="Poppins" pitchFamily="34" charset="-120"/>
              </a:rPr>
              <a:t>Email OTP</a:t>
            </a:r>
            <a:endParaRPr lang="en-US" sz="1575" dirty="0"/>
          </a:p>
        </p:txBody>
      </p:sp>
      <p:sp>
        <p:nvSpPr>
          <p:cNvPr id="23" name="Text 17"/>
          <p:cNvSpPr/>
          <p:nvPr/>
        </p:nvSpPr>
        <p:spPr>
          <a:xfrm>
            <a:off x="8318266" y="2831114"/>
            <a:ext cx="2997159" cy="16002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One-time passcode via email</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No Microsoft account required</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Fallback for external users</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Lowest friction onboarding</a:t>
            </a:r>
            <a:endParaRPr lang="en-US" sz="1500" dirty="0"/>
          </a:p>
        </p:txBody>
      </p:sp>
      <p:sp>
        <p:nvSpPr>
          <p:cNvPr id="24" name="Shape 18"/>
          <p:cNvSpPr/>
          <p:nvPr/>
        </p:nvSpPr>
        <p:spPr>
          <a:xfrm>
            <a:off x="628650" y="5632704"/>
            <a:ext cx="10934395" cy="548640"/>
          </a:xfrm>
          <a:prstGeom prst="rect">
            <a:avLst/>
          </a:prstGeom>
          <a:solidFill>
            <a:srgbClr val="1A7A8A"/>
          </a:solidFill>
          <a:ln/>
        </p:spPr>
        <p:txBody>
          <a:bodyPr/>
          <a:lstStyle/>
          <a:p>
            <a:endParaRPr lang="en-US"/>
          </a:p>
        </p:txBody>
      </p:sp>
      <p:sp>
        <p:nvSpPr>
          <p:cNvPr id="25" name="Shape 19"/>
          <p:cNvSpPr/>
          <p:nvPr/>
        </p:nvSpPr>
        <p:spPr>
          <a:xfrm>
            <a:off x="683514" y="5632704"/>
            <a:ext cx="10879531" cy="548640"/>
          </a:xfrm>
          <a:prstGeom prst="rect">
            <a:avLst/>
          </a:prstGeom>
          <a:solidFill>
            <a:srgbClr val="E0F0F3"/>
          </a:solidFill>
          <a:ln w="9525">
            <a:solidFill>
              <a:srgbClr val="DCE0E6"/>
            </a:solidFill>
            <a:prstDash val="solid"/>
          </a:ln>
        </p:spPr>
        <p:txBody>
          <a:bodyPr/>
          <a:lstStyle/>
          <a:p>
            <a:endParaRPr lang="en-US"/>
          </a:p>
        </p:txBody>
      </p:sp>
      <p:sp>
        <p:nvSpPr>
          <p:cNvPr id="26" name="Text 20"/>
          <p:cNvSpPr/>
          <p:nvPr/>
        </p:nvSpPr>
        <p:spPr>
          <a:xfrm>
            <a:off x="994410" y="5632704"/>
            <a:ext cx="10202875" cy="548640"/>
          </a:xfrm>
          <a:prstGeom prst="rect">
            <a:avLst/>
          </a:prstGeom>
          <a:noFill/>
          <a:ln/>
        </p:spPr>
        <p:txBody>
          <a:bodyPr wrap="square" rtlCol="0" anchor="ctr"/>
          <a:lstStyle/>
          <a:p>
            <a:pPr marL="0" indent="0" algn="l">
              <a:buNone/>
            </a:pPr>
            <a:r>
              <a:rPr lang="en-US" sz="1600" dirty="0">
                <a:solidFill>
                  <a:srgbClr val="0B1D3A"/>
                </a:solidFill>
                <a:latin typeface="Poppins" pitchFamily="34" charset="0"/>
                <a:ea typeface="Poppins" pitchFamily="34" charset="-122"/>
                <a:cs typeface="Poppins" pitchFamily="34" charset="-120"/>
              </a:rPr>
              <a:t>Guest users appear in the provider tenant's Entra ID directory with Fabric RBAC and item-level permissions applied</a:t>
            </a:r>
            <a:endParaRPr lang="en-US" sz="1600" dirty="0"/>
          </a:p>
        </p:txBody>
      </p:sp>
      <p:sp>
        <p:nvSpPr>
          <p:cNvPr id="27" name="Text 21"/>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28" name="Text 22"/>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548640" y="228600"/>
            <a:ext cx="182880" cy="182880"/>
          </a:xfrm>
          <a:prstGeom prst="rect">
            <a:avLst/>
          </a:prstGeom>
          <a:solidFill>
            <a:srgbClr val="1A7A8A"/>
          </a:solidFill>
          <a:ln/>
        </p:spPr>
        <p:txBody>
          <a:bodyPr/>
          <a:lstStyle/>
          <a:p>
            <a:endParaRPr lang="en-US"/>
          </a:p>
        </p:txBody>
      </p:sp>
      <p:sp>
        <p:nvSpPr>
          <p:cNvPr id="4" name="Text 1"/>
          <p:cNvSpPr/>
          <p:nvPr/>
        </p:nvSpPr>
        <p:spPr>
          <a:xfrm>
            <a:off x="841248" y="228600"/>
            <a:ext cx="10799064"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CONFIGURATION</a:t>
            </a:r>
            <a:endParaRPr lang="en-US" sz="1050" dirty="0"/>
          </a:p>
        </p:txBody>
      </p:sp>
      <p:sp>
        <p:nvSpPr>
          <p:cNvPr id="5" name="Text 0"/>
          <p:cNvSpPr>
            <a:spLocks noGrp="1"/>
          </p:cNvSpPr>
          <p:nvPr>
            <p:ph type="title" idx="100" hasCustomPrompt="1"/>
          </p:nvPr>
        </p:nvSpPr>
        <p:spPr>
          <a:xfrm>
            <a:off x="548640" y="521208"/>
            <a:ext cx="11091672"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Required Fabric Settings &amp; Licensing</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04765" y="1463040"/>
          <a:ext cx="6435547" cy="3054096"/>
        </p:xfrm>
        <a:graphic>
          <a:graphicData uri="http://schemas.openxmlformats.org/drawingml/2006/table">
            <a:tbl>
              <a:tblPr/>
              <a:tblGrid>
                <a:gridCol w="2145182">
                  <a:extLst>
                    <a:ext uri="{9D8B030D-6E8A-4147-A177-3AD203B41FA5}">
                      <a16:colId xmlns:a16="http://schemas.microsoft.com/office/drawing/2014/main" val="20000"/>
                    </a:ext>
                  </a:extLst>
                </a:gridCol>
                <a:gridCol w="2145182">
                  <a:extLst>
                    <a:ext uri="{9D8B030D-6E8A-4147-A177-3AD203B41FA5}">
                      <a16:colId xmlns:a16="http://schemas.microsoft.com/office/drawing/2014/main" val="20001"/>
                    </a:ext>
                  </a:extLst>
                </a:gridCol>
                <a:gridCol w="2145182">
                  <a:extLst>
                    <a:ext uri="{9D8B030D-6E8A-4147-A177-3AD203B41FA5}">
                      <a16:colId xmlns:a16="http://schemas.microsoft.com/office/drawing/2014/main" val="20002"/>
                    </a:ext>
                  </a:extLst>
                </a:gridCol>
              </a:tblGrid>
              <a:tr h="566928">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Setting</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Guest invitation</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Entra ID &gt; External Identities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Allows provider to issue B2B invitations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640080">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Guest access to Fabric</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Fabric Admin Portal &gt; Tenant Settings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Enables guest interaction with Fabric items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2"/>
                  </a:ext>
                </a:extLst>
              </a:tr>
              <a:tr h="640080">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Guest edit/manage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Fabric Admin Portal &gt; Tenant Settings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Grants guests create/modify permissions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640080">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Cross-Tenant Access Policies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Entra ID &gt; Cross-tenant settings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Defines allowed tenants and applications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4"/>
                  </a:ext>
                </a:extLst>
              </a:tr>
            </a:tbl>
          </a:graphicData>
        </a:graphic>
      </p:graphicFrame>
      <p:sp>
        <p:nvSpPr>
          <p:cNvPr id="7" name="Shape 3"/>
          <p:cNvSpPr/>
          <p:nvPr/>
        </p:nvSpPr>
        <p:spPr>
          <a:xfrm>
            <a:off x="548640" y="1463040"/>
            <a:ext cx="4290365" cy="2578608"/>
          </a:xfrm>
          <a:prstGeom prst="rect">
            <a:avLst/>
          </a:prstGeom>
          <a:solidFill>
            <a:srgbClr val="1A7A8A"/>
          </a:solidFill>
          <a:ln/>
          <a:effectLst>
            <a:outerShdw blurRad="67729" dist="16929" dir="8100000" algn="bl" rotWithShape="0">
              <a:srgbClr val="DCE0E6">
                <a:alpha val="8000"/>
              </a:srgbClr>
            </a:outerShdw>
          </a:effectLst>
        </p:spPr>
        <p:txBody>
          <a:bodyPr/>
          <a:lstStyle/>
          <a:p>
            <a:endParaRPr lang="en-US"/>
          </a:p>
        </p:txBody>
      </p:sp>
      <p:sp>
        <p:nvSpPr>
          <p:cNvPr id="14" name="Shape 4"/>
          <p:cNvSpPr/>
          <p:nvPr/>
        </p:nvSpPr>
        <p:spPr>
          <a:xfrm>
            <a:off x="598932" y="1463040"/>
            <a:ext cx="4240073" cy="2578608"/>
          </a:xfrm>
          <a:prstGeom prst="rect">
            <a:avLst/>
          </a:prstGeom>
          <a:solidFill>
            <a:srgbClr val="F2F4F7"/>
          </a:solidFill>
          <a:ln w="9525">
            <a:solidFill>
              <a:srgbClr val="DCE0E6"/>
            </a:solidFill>
            <a:prstDash val="solid"/>
          </a:ln>
        </p:spPr>
        <p:txBody>
          <a:bodyPr/>
          <a:lstStyle/>
          <a:p>
            <a:endParaRPr lang="en-US"/>
          </a:p>
        </p:txBody>
      </p:sp>
      <p:sp>
        <p:nvSpPr>
          <p:cNvPr id="9" name="Text 5"/>
          <p:cNvSpPr/>
          <p:nvPr/>
        </p:nvSpPr>
        <p:spPr>
          <a:xfrm>
            <a:off x="749808" y="1664208"/>
            <a:ext cx="3888029" cy="419100"/>
          </a:xfrm>
          <a:prstGeom prst="rect">
            <a:avLst/>
          </a:prstGeom>
          <a:noFill/>
          <a:ln/>
        </p:spPr>
        <p:txBody>
          <a:bodyPr wrap="square" rtlCol="0" anchor="t"/>
          <a:lstStyle/>
          <a:p>
            <a:pPr marL="0" indent="0" algn="l">
              <a:buNone/>
            </a:pPr>
            <a:r>
              <a:rPr lang="en-US" sz="2200" b="1" dirty="0">
                <a:solidFill>
                  <a:srgbClr val="0B1D3A"/>
                </a:solidFill>
                <a:latin typeface="Inter" pitchFamily="34" charset="0"/>
                <a:ea typeface="Inter" pitchFamily="34" charset="-122"/>
                <a:cs typeface="Inter" pitchFamily="34" charset="-120"/>
              </a:rPr>
              <a:t>Licensing Rule</a:t>
            </a:r>
            <a:endParaRPr lang="en-US" sz="2200" dirty="0"/>
          </a:p>
        </p:txBody>
      </p:sp>
      <p:sp>
        <p:nvSpPr>
          <p:cNvPr id="10" name="Text 6"/>
          <p:cNvSpPr/>
          <p:nvPr/>
        </p:nvSpPr>
        <p:spPr>
          <a:xfrm>
            <a:off x="749808" y="2174748"/>
            <a:ext cx="3888029" cy="792480"/>
          </a:xfrm>
          <a:prstGeom prst="rect">
            <a:avLst/>
          </a:prstGeom>
          <a:noFill/>
          <a:ln/>
        </p:spPr>
        <p:txBody>
          <a:bodyPr wrap="square" rtlCol="0" anchor="t"/>
          <a:lstStyle/>
          <a:p>
            <a:pPr marL="0" indent="0" algn="l">
              <a:buNone/>
            </a:pPr>
            <a:r>
              <a:rPr lang="en-US" sz="1600" dirty="0">
                <a:solidFill>
                  <a:srgbClr val="3A4A5E"/>
                </a:solidFill>
                <a:latin typeface="Inter" pitchFamily="34" charset="0"/>
                <a:ea typeface="Inter" pitchFamily="34" charset="-122"/>
                <a:cs typeface="Inter" pitchFamily="34" charset="-120"/>
              </a:rPr>
              <a:t>Guest users need a </a:t>
            </a:r>
            <a:r>
              <a:rPr lang="en-US" sz="1600" b="1" dirty="0">
                <a:solidFill>
                  <a:srgbClr val="1A7A8A"/>
                </a:solidFill>
                <a:latin typeface="Inter" pitchFamily="34" charset="0"/>
                <a:ea typeface="Inter" pitchFamily="34" charset="-122"/>
                <a:cs typeface="Inter" pitchFamily="34" charset="-120"/>
              </a:rPr>
              <a:t>Fabric licence in the resource tenant</a:t>
            </a:r>
            <a:r>
              <a:rPr lang="en-US" sz="1600" dirty="0">
                <a:solidFill>
                  <a:srgbClr val="3A4A5E"/>
                </a:solidFill>
                <a:latin typeface="Inter" pitchFamily="34" charset="0"/>
                <a:ea typeface="Inter" pitchFamily="34" charset="-122"/>
                <a:cs typeface="Inter" pitchFamily="34" charset="-120"/>
              </a:rPr>
              <a:t>, not the home tenant.</a:t>
            </a:r>
            <a:endParaRPr lang="en-US" sz="1600" dirty="0"/>
          </a:p>
        </p:txBody>
      </p:sp>
      <p:sp>
        <p:nvSpPr>
          <p:cNvPr id="11" name="Text 7"/>
          <p:cNvSpPr/>
          <p:nvPr/>
        </p:nvSpPr>
        <p:spPr>
          <a:xfrm>
            <a:off x="749808" y="3058668"/>
            <a:ext cx="3888029" cy="548640"/>
          </a:xfrm>
          <a:prstGeom prst="rect">
            <a:avLst/>
          </a:prstGeom>
          <a:noFill/>
          <a:ln/>
        </p:spPr>
        <p:txBody>
          <a:bodyPr wrap="square" rtlCol="0" anchor="t"/>
          <a:lstStyle/>
          <a:p>
            <a:pPr marL="0" indent="0" algn="l">
              <a:buNone/>
            </a:pPr>
            <a:r>
              <a:rPr lang="en-US" sz="1600" dirty="0">
                <a:solidFill>
                  <a:srgbClr val="3A4A5E"/>
                </a:solidFill>
                <a:latin typeface="Inter" pitchFamily="34" charset="0"/>
                <a:ea typeface="Inter" pitchFamily="34" charset="-122"/>
                <a:cs typeface="Inter" pitchFamily="34" charset="-120"/>
              </a:rPr>
              <a:t>The provider tenant's Fabric capacity absorbs all compute cost.</a:t>
            </a:r>
            <a:endParaRPr lang="en-US" sz="1600" dirty="0"/>
          </a:p>
        </p:txBody>
      </p:sp>
      <p:sp>
        <p:nvSpPr>
          <p:cNvPr id="12" name="Text 8"/>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13" name="Text 9"/>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0" y="0"/>
            <a:ext cx="3619195" cy="6858000"/>
          </a:xfrm>
          <a:prstGeom prst="rect">
            <a:avLst/>
          </a:prstGeom>
          <a:solidFill>
            <a:srgbClr val="E0F0F3"/>
          </a:solidFill>
          <a:ln/>
        </p:spPr>
        <p:txBody>
          <a:bodyPr/>
          <a:lstStyle/>
          <a:p>
            <a:endParaRPr lang="en-US"/>
          </a:p>
        </p:txBody>
      </p:sp>
      <p:sp>
        <p:nvSpPr>
          <p:cNvPr id="4" name="Shape 1"/>
          <p:cNvSpPr/>
          <p:nvPr/>
        </p:nvSpPr>
        <p:spPr>
          <a:xfrm>
            <a:off x="437998" y="2462479"/>
            <a:ext cx="571500" cy="38405"/>
          </a:xfrm>
          <a:prstGeom prst="roundRect">
            <a:avLst>
              <a:gd name="adj" fmla="val 50000"/>
            </a:avLst>
          </a:prstGeom>
          <a:solidFill>
            <a:srgbClr val="1A7A8A"/>
          </a:solidFill>
          <a:ln/>
        </p:spPr>
        <p:txBody>
          <a:bodyPr/>
          <a:lstStyle/>
          <a:p>
            <a:endParaRPr lang="en-US"/>
          </a:p>
        </p:txBody>
      </p:sp>
      <p:sp>
        <p:nvSpPr>
          <p:cNvPr id="5" name="Text 0"/>
          <p:cNvSpPr>
            <a:spLocks noGrp="1"/>
          </p:cNvSpPr>
          <p:nvPr>
            <p:ph type="title" idx="100" hasCustomPrompt="1"/>
          </p:nvPr>
        </p:nvSpPr>
        <p:spPr>
          <a:xfrm>
            <a:off x="437998" y="2710282"/>
            <a:ext cx="2743200" cy="822960"/>
          </a:xfrm>
          <a:prstGeom prst="rect">
            <a:avLst/>
          </a:prstGeom>
          <a:noFill/>
          <a:ln/>
        </p:spPr>
        <p:txBody>
          <a:bodyPr wrap="square" lIns="0" tIns="0" rIns="0" bIns="0" rtlCol="0" anchor="t"/>
          <a:lstStyle/>
          <a:p>
            <a:pPr marL="0" indent="0" algn="l">
              <a:buNone/>
            </a:pPr>
            <a:r>
              <a:rPr lang="en-US" sz="2550" b="1" dirty="0">
                <a:solidFill>
                  <a:srgbClr val="0B1D3A"/>
                </a:solidFill>
                <a:latin typeface="Poppins" pitchFamily="34" charset="0"/>
                <a:ea typeface="Poppins" pitchFamily="34" charset="-122"/>
                <a:cs typeface="Poppins" pitchFamily="34" charset="-120"/>
              </a:rPr>
              <a:t>What Is Confirmed</a:t>
            </a:r>
            <a:endParaRPr lang="en-US" sz="2550" dirty="0"/>
          </a:p>
        </p:txBody>
      </p:sp>
      <p:sp>
        <p:nvSpPr>
          <p:cNvPr id="6" name="Text 3"/>
          <p:cNvSpPr/>
          <p:nvPr/>
        </p:nvSpPr>
        <p:spPr>
          <a:xfrm>
            <a:off x="437998" y="3666211"/>
            <a:ext cx="2743200" cy="1020128"/>
          </a:xfrm>
          <a:prstGeom prst="rect">
            <a:avLst/>
          </a:prstGeom>
          <a:noFill/>
          <a:ln/>
        </p:spPr>
        <p:txBody>
          <a:bodyPr wrap="square" rtlCol="0" anchor="t"/>
          <a:lstStyle/>
          <a:p>
            <a:pPr marL="0" indent="0" algn="l">
              <a:buNone/>
            </a:pPr>
            <a:r>
              <a:rPr lang="en-US" sz="1275" dirty="0">
                <a:solidFill>
                  <a:srgbClr val="4A5568"/>
                </a:solidFill>
                <a:latin typeface="Inter" pitchFamily="34" charset="0"/>
                <a:ea typeface="Inter" pitchFamily="34" charset="-122"/>
                <a:cs typeface="Inter" pitchFamily="34" charset="-120"/>
              </a:rPr>
              <a:t>Epic partnership with Microsoft confirmed. Fabric adoption for Cogito analytics workloads validated via public announcements.</a:t>
            </a:r>
            <a:endParaRPr lang="en-US" sz="1275" dirty="0"/>
          </a:p>
        </p:txBody>
      </p:sp>
      <p:sp>
        <p:nvSpPr>
          <p:cNvPr id="7" name="Shape 4"/>
          <p:cNvSpPr/>
          <p:nvPr/>
        </p:nvSpPr>
        <p:spPr>
          <a:xfrm>
            <a:off x="4209898" y="438912"/>
            <a:ext cx="182880" cy="182880"/>
          </a:xfrm>
          <a:prstGeom prst="rect">
            <a:avLst/>
          </a:prstGeom>
          <a:solidFill>
            <a:srgbClr val="1A7A8A"/>
          </a:solidFill>
          <a:ln/>
        </p:spPr>
        <p:txBody>
          <a:bodyPr/>
          <a:lstStyle/>
          <a:p>
            <a:endParaRPr lang="en-US"/>
          </a:p>
        </p:txBody>
      </p:sp>
      <p:sp>
        <p:nvSpPr>
          <p:cNvPr id="8" name="Text 5"/>
          <p:cNvSpPr/>
          <p:nvPr/>
        </p:nvSpPr>
        <p:spPr>
          <a:xfrm>
            <a:off x="4502506" y="438912"/>
            <a:ext cx="7098487"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EPIC/COGITO VALIDATION</a:t>
            </a:r>
            <a:endParaRPr lang="en-US" sz="1050" dirty="0"/>
          </a:p>
        </p:txBody>
      </p:sp>
      <p:sp>
        <p:nvSpPr>
          <p:cNvPr id="9" name="Text 6"/>
          <p:cNvSpPr/>
          <p:nvPr/>
        </p:nvSpPr>
        <p:spPr>
          <a:xfrm>
            <a:off x="4209898" y="731520"/>
            <a:ext cx="7391095"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Epic/Cogito Validation Findings</a:t>
            </a:r>
            <a:endParaRPr lang="en-US" sz="2200" dirty="0"/>
          </a:p>
        </p:txBody>
      </p:sp>
      <p:sp>
        <p:nvSpPr>
          <p:cNvPr id="10" name="Shape 7"/>
          <p:cNvSpPr/>
          <p:nvPr/>
        </p:nvSpPr>
        <p:spPr>
          <a:xfrm>
            <a:off x="4209898" y="1233526"/>
            <a:ext cx="3585820" cy="2428189"/>
          </a:xfrm>
          <a:prstGeom prst="rect">
            <a:avLst/>
          </a:prstGeom>
          <a:solidFill>
            <a:srgbClr val="1A7A8A"/>
          </a:solidFill>
          <a:ln/>
          <a:effectLst>
            <a:outerShdw blurRad="67729" dist="16929" dir="8100000" algn="bl" rotWithShape="0">
              <a:srgbClr val="DCE0E6">
                <a:alpha val="10000"/>
              </a:srgbClr>
            </a:outerShdw>
          </a:effectLst>
        </p:spPr>
        <p:txBody>
          <a:bodyPr/>
          <a:lstStyle/>
          <a:p>
            <a:endParaRPr lang="en-US"/>
          </a:p>
        </p:txBody>
      </p:sp>
      <p:sp>
        <p:nvSpPr>
          <p:cNvPr id="11" name="Shape 8"/>
          <p:cNvSpPr/>
          <p:nvPr/>
        </p:nvSpPr>
        <p:spPr>
          <a:xfrm>
            <a:off x="4209898" y="1270102"/>
            <a:ext cx="3585820" cy="2391613"/>
          </a:xfrm>
          <a:prstGeom prst="rect">
            <a:avLst/>
          </a:prstGeom>
          <a:solidFill>
            <a:srgbClr val="F2F4F7"/>
          </a:solidFill>
          <a:ln w="9525">
            <a:solidFill>
              <a:srgbClr val="DCE0E6"/>
            </a:solidFill>
            <a:prstDash val="solid"/>
          </a:ln>
        </p:spPr>
        <p:txBody>
          <a:bodyPr/>
          <a:lstStyle/>
          <a:p>
            <a:endParaRPr lang="en-US"/>
          </a:p>
        </p:txBody>
      </p:sp>
      <p:sp>
        <p:nvSpPr>
          <p:cNvPr id="12" name="Shape 9"/>
          <p:cNvSpPr/>
          <p:nvPr/>
        </p:nvSpPr>
        <p:spPr>
          <a:xfrm>
            <a:off x="4429354" y="1489558"/>
            <a:ext cx="457200" cy="457200"/>
          </a:xfrm>
          <a:prstGeom prst="roundRect">
            <a:avLst>
              <a:gd name="adj" fmla="val 24000"/>
            </a:avLst>
          </a:prstGeom>
          <a:solidFill>
            <a:srgbClr val="1A7A8A">
              <a:alpha val="14000"/>
            </a:srgbClr>
          </a:solidFill>
          <a:ln/>
        </p:spPr>
        <p:txBody>
          <a:bodyPr/>
          <a:lstStyle/>
          <a:p>
            <a:endParaRPr lang="en-US"/>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29938" y="1590142"/>
            <a:ext cx="256032" cy="256032"/>
          </a:xfrm>
          <a:prstGeom prst="rect">
            <a:avLst/>
          </a:prstGeom>
        </p:spPr>
      </p:pic>
      <p:sp>
        <p:nvSpPr>
          <p:cNvPr id="14" name="Text 10"/>
          <p:cNvSpPr/>
          <p:nvPr/>
        </p:nvSpPr>
        <p:spPr>
          <a:xfrm>
            <a:off x="4429354" y="2093062"/>
            <a:ext cx="3146908" cy="402336"/>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Fabric Workspace Exposure</a:t>
            </a:r>
            <a:endParaRPr lang="en-US" sz="1400" dirty="0"/>
          </a:p>
        </p:txBody>
      </p:sp>
      <p:sp>
        <p:nvSpPr>
          <p:cNvPr id="15" name="Text 11"/>
          <p:cNvSpPr/>
          <p:nvPr/>
        </p:nvSpPr>
        <p:spPr>
          <a:xfrm>
            <a:off x="4429354" y="2568550"/>
            <a:ext cx="3146908" cy="569595"/>
          </a:xfrm>
          <a:prstGeom prst="rect">
            <a:avLst/>
          </a:prstGeom>
          <a:noFill/>
          <a:ln/>
        </p:spPr>
        <p:txBody>
          <a:bodyPr wrap="square" rtlCol="0" anchor="t"/>
          <a:lstStyle/>
          <a:p>
            <a:pPr marL="0" indent="0" algn="l">
              <a:buNone/>
            </a:pPr>
            <a:r>
              <a:rPr lang="en-US" sz="1150" dirty="0">
                <a:solidFill>
                  <a:srgbClr val="4A5568"/>
                </a:solidFill>
                <a:latin typeface="Inter" pitchFamily="34" charset="0"/>
                <a:ea typeface="Inter" pitchFamily="34" charset="-122"/>
                <a:cs typeface="Inter" pitchFamily="34" charset="-120"/>
              </a:rPr>
              <a:t>Unknown if Epic exposes workspace/lakehouse directly to customers</a:t>
            </a:r>
            <a:endParaRPr lang="en-US" sz="1150" dirty="0"/>
          </a:p>
        </p:txBody>
      </p:sp>
      <p:sp>
        <p:nvSpPr>
          <p:cNvPr id="16" name="Shape 12"/>
          <p:cNvSpPr/>
          <p:nvPr/>
        </p:nvSpPr>
        <p:spPr>
          <a:xfrm>
            <a:off x="8015173" y="1233526"/>
            <a:ext cx="3585820" cy="2428189"/>
          </a:xfrm>
          <a:prstGeom prst="rect">
            <a:avLst/>
          </a:prstGeom>
          <a:solidFill>
            <a:srgbClr val="2E5FA8"/>
          </a:solidFill>
          <a:ln/>
          <a:effectLst>
            <a:outerShdw blurRad="67729" dist="16929" dir="8100000" algn="bl" rotWithShape="0">
              <a:srgbClr val="DCE0E6">
                <a:alpha val="10000"/>
              </a:srgbClr>
            </a:outerShdw>
          </a:effectLst>
        </p:spPr>
        <p:txBody>
          <a:bodyPr/>
          <a:lstStyle/>
          <a:p>
            <a:endParaRPr lang="en-US"/>
          </a:p>
        </p:txBody>
      </p:sp>
      <p:sp>
        <p:nvSpPr>
          <p:cNvPr id="17" name="Shape 13"/>
          <p:cNvSpPr/>
          <p:nvPr/>
        </p:nvSpPr>
        <p:spPr>
          <a:xfrm>
            <a:off x="8015173" y="1270102"/>
            <a:ext cx="3585820" cy="2391613"/>
          </a:xfrm>
          <a:prstGeom prst="rect">
            <a:avLst/>
          </a:prstGeom>
          <a:solidFill>
            <a:srgbClr val="F2F4F7"/>
          </a:solidFill>
          <a:ln w="9525">
            <a:solidFill>
              <a:srgbClr val="DCE0E6"/>
            </a:solidFill>
            <a:prstDash val="solid"/>
          </a:ln>
        </p:spPr>
        <p:txBody>
          <a:bodyPr/>
          <a:lstStyle/>
          <a:p>
            <a:endParaRPr lang="en-US"/>
          </a:p>
        </p:txBody>
      </p:sp>
      <p:sp>
        <p:nvSpPr>
          <p:cNvPr id="18" name="Shape 14"/>
          <p:cNvSpPr/>
          <p:nvPr/>
        </p:nvSpPr>
        <p:spPr>
          <a:xfrm>
            <a:off x="8234629" y="1489558"/>
            <a:ext cx="457200" cy="457200"/>
          </a:xfrm>
          <a:prstGeom prst="roundRect">
            <a:avLst>
              <a:gd name="adj" fmla="val 24000"/>
            </a:avLst>
          </a:prstGeom>
          <a:solidFill>
            <a:srgbClr val="2E5FA8">
              <a:alpha val="14000"/>
            </a:srgbClr>
          </a:solidFill>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35213" y="1590142"/>
            <a:ext cx="256032" cy="256032"/>
          </a:xfrm>
          <a:prstGeom prst="rect">
            <a:avLst/>
          </a:prstGeom>
        </p:spPr>
      </p:pic>
      <p:sp>
        <p:nvSpPr>
          <p:cNvPr id="20" name="Text 15"/>
          <p:cNvSpPr/>
          <p:nvPr/>
        </p:nvSpPr>
        <p:spPr>
          <a:xfrm>
            <a:off x="8234629" y="2093062"/>
            <a:ext cx="3146908" cy="402336"/>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Guest Access Settings</a:t>
            </a:r>
            <a:endParaRPr lang="en-US" sz="1400" dirty="0"/>
          </a:p>
        </p:txBody>
      </p:sp>
      <p:sp>
        <p:nvSpPr>
          <p:cNvPr id="21" name="Text 16"/>
          <p:cNvSpPr/>
          <p:nvPr/>
        </p:nvSpPr>
        <p:spPr>
          <a:xfrm>
            <a:off x="8234629" y="2568550"/>
            <a:ext cx="3146908" cy="394335"/>
          </a:xfrm>
          <a:prstGeom prst="rect">
            <a:avLst/>
          </a:prstGeom>
          <a:noFill/>
          <a:ln/>
        </p:spPr>
        <p:txBody>
          <a:bodyPr wrap="square" rtlCol="0" anchor="t"/>
          <a:lstStyle/>
          <a:p>
            <a:pPr marL="0" indent="0" algn="l">
              <a:buNone/>
            </a:pPr>
            <a:r>
              <a:rPr lang="en-US" sz="1150" dirty="0">
                <a:solidFill>
                  <a:srgbClr val="4A5568"/>
                </a:solidFill>
                <a:latin typeface="Inter" pitchFamily="34" charset="0"/>
                <a:ea typeface="Inter" pitchFamily="34" charset="-122"/>
                <a:cs typeface="Inter" pitchFamily="34" charset="-120"/>
              </a:rPr>
              <a:t>No confirmation of Fabric guest-access tenant settings in Epic's Entra ID</a:t>
            </a:r>
            <a:endParaRPr lang="en-US" sz="1150" dirty="0"/>
          </a:p>
        </p:txBody>
      </p:sp>
      <p:sp>
        <p:nvSpPr>
          <p:cNvPr id="22" name="Shape 17"/>
          <p:cNvSpPr/>
          <p:nvPr/>
        </p:nvSpPr>
        <p:spPr>
          <a:xfrm>
            <a:off x="4209898" y="3881171"/>
            <a:ext cx="3585820" cy="2428189"/>
          </a:xfrm>
          <a:prstGeom prst="rect">
            <a:avLst/>
          </a:prstGeom>
          <a:solidFill>
            <a:srgbClr val="4AAFB8"/>
          </a:solidFill>
          <a:ln/>
          <a:effectLst>
            <a:outerShdw blurRad="67729" dist="16929" dir="8100000" algn="bl" rotWithShape="0">
              <a:srgbClr val="DCE0E6">
                <a:alpha val="10000"/>
              </a:srgbClr>
            </a:outerShdw>
          </a:effectLst>
        </p:spPr>
        <p:txBody>
          <a:bodyPr/>
          <a:lstStyle/>
          <a:p>
            <a:endParaRPr lang="en-US"/>
          </a:p>
        </p:txBody>
      </p:sp>
      <p:sp>
        <p:nvSpPr>
          <p:cNvPr id="23" name="Shape 18"/>
          <p:cNvSpPr/>
          <p:nvPr/>
        </p:nvSpPr>
        <p:spPr>
          <a:xfrm>
            <a:off x="4209898" y="3917747"/>
            <a:ext cx="3585820" cy="2391613"/>
          </a:xfrm>
          <a:prstGeom prst="rect">
            <a:avLst/>
          </a:prstGeom>
          <a:solidFill>
            <a:srgbClr val="F2F4F7"/>
          </a:solidFill>
          <a:ln w="9525">
            <a:solidFill>
              <a:srgbClr val="DCE0E6"/>
            </a:solidFill>
            <a:prstDash val="solid"/>
          </a:ln>
        </p:spPr>
        <p:txBody>
          <a:bodyPr/>
          <a:lstStyle/>
          <a:p>
            <a:endParaRPr lang="en-US"/>
          </a:p>
        </p:txBody>
      </p:sp>
      <p:sp>
        <p:nvSpPr>
          <p:cNvPr id="24" name="Shape 19"/>
          <p:cNvSpPr/>
          <p:nvPr/>
        </p:nvSpPr>
        <p:spPr>
          <a:xfrm>
            <a:off x="4429354" y="4137203"/>
            <a:ext cx="457200" cy="457200"/>
          </a:xfrm>
          <a:prstGeom prst="roundRect">
            <a:avLst>
              <a:gd name="adj" fmla="val 24000"/>
            </a:avLst>
          </a:prstGeom>
          <a:solidFill>
            <a:srgbClr val="4AAFB8">
              <a:alpha val="14000"/>
            </a:srgbClr>
          </a:solidFill>
          <a:ln/>
        </p:spPr>
        <p:txBody>
          <a:bodyPr/>
          <a:lstStyle/>
          <a:p>
            <a:endParaRPr lang="en-US"/>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29938" y="4237787"/>
            <a:ext cx="256032" cy="256032"/>
          </a:xfrm>
          <a:prstGeom prst="rect">
            <a:avLst/>
          </a:prstGeom>
        </p:spPr>
      </p:pic>
      <p:sp>
        <p:nvSpPr>
          <p:cNvPr id="26" name="Text 20"/>
          <p:cNvSpPr/>
          <p:nvPr/>
        </p:nvSpPr>
        <p:spPr>
          <a:xfrm>
            <a:off x="4429354" y="4740707"/>
            <a:ext cx="3146908" cy="402336"/>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Identity Model</a:t>
            </a:r>
            <a:endParaRPr lang="en-US" sz="1400" dirty="0"/>
          </a:p>
        </p:txBody>
      </p:sp>
      <p:sp>
        <p:nvSpPr>
          <p:cNvPr id="27" name="Text 21"/>
          <p:cNvSpPr/>
          <p:nvPr/>
        </p:nvSpPr>
        <p:spPr>
          <a:xfrm>
            <a:off x="4429354" y="5216195"/>
            <a:ext cx="3146908" cy="394335"/>
          </a:xfrm>
          <a:prstGeom prst="rect">
            <a:avLst/>
          </a:prstGeom>
          <a:noFill/>
          <a:ln/>
        </p:spPr>
        <p:txBody>
          <a:bodyPr wrap="square" rtlCol="0" anchor="t"/>
          <a:lstStyle/>
          <a:p>
            <a:pPr marL="0" indent="0" algn="l">
              <a:buNone/>
            </a:pPr>
            <a:r>
              <a:rPr lang="en-US" sz="1150" dirty="0">
                <a:solidFill>
                  <a:srgbClr val="4A5568"/>
                </a:solidFill>
                <a:latin typeface="Inter" pitchFamily="34" charset="0"/>
                <a:ea typeface="Inter" pitchFamily="34" charset="-122"/>
                <a:cs typeface="Inter" pitchFamily="34" charset="-120"/>
              </a:rPr>
              <a:t>Which identity type Epic supports for external access is not published</a:t>
            </a:r>
            <a:endParaRPr lang="en-US" sz="1150" dirty="0"/>
          </a:p>
        </p:txBody>
      </p:sp>
      <p:sp>
        <p:nvSpPr>
          <p:cNvPr id="28" name="Shape 22"/>
          <p:cNvSpPr/>
          <p:nvPr/>
        </p:nvSpPr>
        <p:spPr>
          <a:xfrm>
            <a:off x="8015173" y="3881171"/>
            <a:ext cx="3585820" cy="2428189"/>
          </a:xfrm>
          <a:prstGeom prst="rect">
            <a:avLst/>
          </a:prstGeom>
          <a:solidFill>
            <a:srgbClr val="6B8DC8"/>
          </a:solidFill>
          <a:ln/>
          <a:effectLst>
            <a:outerShdw blurRad="67729" dist="16929" dir="8100000" algn="bl" rotWithShape="0">
              <a:srgbClr val="DCE0E6">
                <a:alpha val="10000"/>
              </a:srgbClr>
            </a:outerShdw>
          </a:effectLst>
        </p:spPr>
        <p:txBody>
          <a:bodyPr/>
          <a:lstStyle/>
          <a:p>
            <a:endParaRPr lang="en-US"/>
          </a:p>
        </p:txBody>
      </p:sp>
      <p:sp>
        <p:nvSpPr>
          <p:cNvPr id="29" name="Shape 23"/>
          <p:cNvSpPr/>
          <p:nvPr/>
        </p:nvSpPr>
        <p:spPr>
          <a:xfrm>
            <a:off x="8015173" y="3917747"/>
            <a:ext cx="3585820" cy="2391613"/>
          </a:xfrm>
          <a:prstGeom prst="rect">
            <a:avLst/>
          </a:prstGeom>
          <a:solidFill>
            <a:srgbClr val="F2F4F7"/>
          </a:solidFill>
          <a:ln w="9525">
            <a:solidFill>
              <a:srgbClr val="DCE0E6"/>
            </a:solidFill>
            <a:prstDash val="solid"/>
          </a:ln>
        </p:spPr>
        <p:txBody>
          <a:bodyPr/>
          <a:lstStyle/>
          <a:p>
            <a:endParaRPr lang="en-US"/>
          </a:p>
        </p:txBody>
      </p:sp>
      <p:sp>
        <p:nvSpPr>
          <p:cNvPr id="30" name="Shape 24"/>
          <p:cNvSpPr/>
          <p:nvPr/>
        </p:nvSpPr>
        <p:spPr>
          <a:xfrm>
            <a:off x="8234629" y="4137203"/>
            <a:ext cx="457200" cy="457200"/>
          </a:xfrm>
          <a:prstGeom prst="roundRect">
            <a:avLst>
              <a:gd name="adj" fmla="val 24000"/>
            </a:avLst>
          </a:prstGeom>
          <a:solidFill>
            <a:srgbClr val="6B8DC8">
              <a:alpha val="14000"/>
            </a:srgbClr>
          </a:solidFill>
          <a:ln/>
        </p:spPr>
        <p:txBody>
          <a:bodyPr/>
          <a:lstStyle/>
          <a:p>
            <a:endParaRPr lang="en-US"/>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35213" y="4237787"/>
            <a:ext cx="256032" cy="256032"/>
          </a:xfrm>
          <a:prstGeom prst="rect">
            <a:avLst/>
          </a:prstGeom>
        </p:spPr>
      </p:pic>
      <p:sp>
        <p:nvSpPr>
          <p:cNvPr id="32" name="Text 25"/>
          <p:cNvSpPr/>
          <p:nvPr/>
        </p:nvSpPr>
        <p:spPr>
          <a:xfrm>
            <a:off x="8234629" y="4740707"/>
            <a:ext cx="3146908" cy="402336"/>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CTAP Configuration</a:t>
            </a:r>
            <a:endParaRPr lang="en-US" sz="1400" dirty="0"/>
          </a:p>
        </p:txBody>
      </p:sp>
      <p:sp>
        <p:nvSpPr>
          <p:cNvPr id="33" name="Text 26"/>
          <p:cNvSpPr/>
          <p:nvPr/>
        </p:nvSpPr>
        <p:spPr>
          <a:xfrm>
            <a:off x="8234629" y="5216195"/>
            <a:ext cx="3146908" cy="569595"/>
          </a:xfrm>
          <a:prstGeom prst="rect">
            <a:avLst/>
          </a:prstGeom>
          <a:noFill/>
          <a:ln/>
        </p:spPr>
        <p:txBody>
          <a:bodyPr wrap="square" rtlCol="0" anchor="t"/>
          <a:lstStyle/>
          <a:p>
            <a:pPr marL="0" indent="0" algn="l">
              <a:buNone/>
            </a:pPr>
            <a:r>
              <a:rPr lang="en-US" sz="1150" dirty="0">
                <a:solidFill>
                  <a:srgbClr val="4A5568"/>
                </a:solidFill>
                <a:latin typeface="Inter" pitchFamily="34" charset="0"/>
                <a:ea typeface="Inter" pitchFamily="34" charset="-122"/>
                <a:cs typeface="Inter" pitchFamily="34" charset="-120"/>
              </a:rPr>
              <a:t>Unknown if customer must configure cross-tenant access policies independently</a:t>
            </a:r>
            <a:endParaRPr lang="en-US" sz="1150" dirty="0"/>
          </a:p>
        </p:txBody>
      </p:sp>
      <p:sp>
        <p:nvSpPr>
          <p:cNvPr id="34" name="Text 27"/>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658368" y="301752"/>
            <a:ext cx="182880" cy="182880"/>
          </a:xfrm>
          <a:prstGeom prst="rect">
            <a:avLst/>
          </a:prstGeom>
          <a:solidFill>
            <a:srgbClr val="1A7A8A"/>
          </a:solidFill>
          <a:ln/>
        </p:spPr>
        <p:txBody>
          <a:bodyPr/>
          <a:lstStyle/>
          <a:p>
            <a:endParaRPr lang="en-US"/>
          </a:p>
        </p:txBody>
      </p:sp>
      <p:sp>
        <p:nvSpPr>
          <p:cNvPr id="4" name="Text 1"/>
          <p:cNvSpPr/>
          <p:nvPr/>
        </p:nvSpPr>
        <p:spPr>
          <a:xfrm>
            <a:off x="950976" y="301752"/>
            <a:ext cx="10582351"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EPIC/COGITO VALIDATION</a:t>
            </a:r>
            <a:endParaRPr lang="en-US" sz="1050" dirty="0"/>
          </a:p>
        </p:txBody>
      </p:sp>
      <p:sp>
        <p:nvSpPr>
          <p:cNvPr id="5" name="Text 0"/>
          <p:cNvSpPr>
            <a:spLocks noGrp="1"/>
          </p:cNvSpPr>
          <p:nvPr>
            <p:ph type="title" idx="100" hasCustomPrompt="1"/>
          </p:nvPr>
        </p:nvSpPr>
        <p:spPr>
          <a:xfrm>
            <a:off x="658368" y="594360"/>
            <a:ext cx="10874959"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Required Epic Confirmation Questions</a:t>
            </a:r>
            <a:endParaRPr lang="en-US" sz="2200" dirty="0"/>
          </a:p>
        </p:txBody>
      </p:sp>
      <p:sp>
        <p:nvSpPr>
          <p:cNvPr id="6" name="Text 3"/>
          <p:cNvSpPr/>
          <p:nvPr/>
        </p:nvSpPr>
        <p:spPr>
          <a:xfrm>
            <a:off x="658368" y="1163066"/>
            <a:ext cx="10874959" cy="419100"/>
          </a:xfrm>
          <a:prstGeom prst="rect">
            <a:avLst/>
          </a:prstGeom>
          <a:noFill/>
          <a:ln/>
        </p:spPr>
        <p:txBody>
          <a:bodyPr wrap="square" rtlCol="0" anchor="t"/>
          <a:lstStyle/>
          <a:p>
            <a:pPr marL="0" indent="0" algn="l">
              <a:buNone/>
            </a:pPr>
            <a:r>
              <a:rPr lang="en-US" sz="2200" dirty="0">
                <a:solidFill>
                  <a:srgbClr val="3A4A5E"/>
                </a:solidFill>
                <a:latin typeface="Inter" pitchFamily="34" charset="0"/>
                <a:ea typeface="Inter" pitchFamily="34" charset="-122"/>
                <a:cs typeface="Inter" pitchFamily="34" charset="-120"/>
              </a:rPr>
              <a:t>Direct these questions to Epic account management</a:t>
            </a:r>
            <a:endParaRPr lang="en-US" sz="2200" dirty="0"/>
          </a:p>
        </p:txBody>
      </p:sp>
      <p:sp>
        <p:nvSpPr>
          <p:cNvPr id="7" name="Shape 4"/>
          <p:cNvSpPr/>
          <p:nvPr/>
        </p:nvSpPr>
        <p:spPr>
          <a:xfrm>
            <a:off x="658368" y="1821434"/>
            <a:ext cx="10874959" cy="656548"/>
          </a:xfrm>
          <a:prstGeom prst="rect">
            <a:avLst/>
          </a:prstGeom>
          <a:solidFill>
            <a:srgbClr val="1A7A8A"/>
          </a:solidFill>
          <a:ln/>
        </p:spPr>
        <p:txBody>
          <a:bodyPr/>
          <a:lstStyle/>
          <a:p>
            <a:endParaRPr lang="en-US"/>
          </a:p>
        </p:txBody>
      </p:sp>
      <p:sp>
        <p:nvSpPr>
          <p:cNvPr id="8" name="Shape 5"/>
          <p:cNvSpPr/>
          <p:nvPr/>
        </p:nvSpPr>
        <p:spPr>
          <a:xfrm>
            <a:off x="713232" y="1821434"/>
            <a:ext cx="10820095" cy="656548"/>
          </a:xfrm>
          <a:prstGeom prst="rect">
            <a:avLst/>
          </a:prstGeom>
          <a:solidFill>
            <a:srgbClr val="F2F4F7"/>
          </a:solidFill>
          <a:ln/>
        </p:spPr>
        <p:txBody>
          <a:bodyPr/>
          <a:lstStyle/>
          <a:p>
            <a:endParaRPr lang="en-US"/>
          </a:p>
        </p:txBody>
      </p:sp>
      <p:sp>
        <p:nvSpPr>
          <p:cNvPr id="9" name="Shape 6"/>
          <p:cNvSpPr/>
          <p:nvPr/>
        </p:nvSpPr>
        <p:spPr>
          <a:xfrm>
            <a:off x="969264" y="1957684"/>
            <a:ext cx="384048" cy="384048"/>
          </a:xfrm>
          <a:prstGeom prst="ellipse">
            <a:avLst/>
          </a:prstGeom>
          <a:solidFill>
            <a:srgbClr val="E0F0F3"/>
          </a:solidFill>
          <a:ln/>
        </p:spPr>
        <p:txBody>
          <a:bodyPr/>
          <a:lstStyle/>
          <a:p>
            <a:endParaRPr lang="en-US"/>
          </a:p>
        </p:txBody>
      </p:sp>
      <p:sp>
        <p:nvSpPr>
          <p:cNvPr id="10" name="Text 7"/>
          <p:cNvSpPr/>
          <p:nvPr/>
        </p:nvSpPr>
        <p:spPr>
          <a:xfrm>
            <a:off x="969264" y="1957684"/>
            <a:ext cx="384048" cy="384048"/>
          </a:xfrm>
          <a:prstGeom prst="rect">
            <a:avLst/>
          </a:prstGeom>
          <a:noFill/>
          <a:ln/>
        </p:spPr>
        <p:txBody>
          <a:bodyPr wrap="square" rtlCol="0" anchor="ctr"/>
          <a:lstStyle/>
          <a:p>
            <a:pPr marL="0" indent="0" algn="ctr">
              <a:buNone/>
            </a:pPr>
            <a:r>
              <a:rPr lang="en-US" sz="1400" b="1" dirty="0">
                <a:solidFill>
                  <a:srgbClr val="1A7A8A"/>
                </a:solidFill>
                <a:latin typeface="Inter" pitchFamily="34" charset="0"/>
                <a:ea typeface="Inter" pitchFamily="34" charset="-122"/>
                <a:cs typeface="Inter" pitchFamily="34" charset="-120"/>
              </a:rPr>
              <a:t>1</a:t>
            </a:r>
            <a:endParaRPr lang="en-US" sz="1400" dirty="0"/>
          </a:p>
        </p:txBody>
      </p:sp>
      <p:sp>
        <p:nvSpPr>
          <p:cNvPr id="11" name="Text 8"/>
          <p:cNvSpPr/>
          <p:nvPr/>
        </p:nvSpPr>
        <p:spPr>
          <a:xfrm>
            <a:off x="1554480" y="1931162"/>
            <a:ext cx="9722815" cy="304292"/>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Fabric Workspace Access</a:t>
            </a:r>
            <a:endParaRPr lang="en-US" sz="1400" dirty="0"/>
          </a:p>
        </p:txBody>
      </p:sp>
      <p:sp>
        <p:nvSpPr>
          <p:cNvPr id="12" name="Text 9"/>
          <p:cNvSpPr/>
          <p:nvPr/>
        </p:nvSpPr>
        <p:spPr>
          <a:xfrm>
            <a:off x="1554480" y="2208022"/>
            <a:ext cx="9722815" cy="228600"/>
          </a:xfrm>
          <a:prstGeom prst="rect">
            <a:avLst/>
          </a:prstGeom>
          <a:noFill/>
          <a:ln/>
        </p:spPr>
        <p:txBody>
          <a:bodyPr wrap="square" rtlCol="0" anchor="t"/>
          <a:lstStyle/>
          <a:p>
            <a:pPr marL="0" indent="0" algn="l">
              <a:buNone/>
            </a:pPr>
            <a:r>
              <a:rPr lang="en-US" sz="1200" dirty="0">
                <a:solidFill>
                  <a:srgbClr val="3A4A5E"/>
                </a:solidFill>
                <a:latin typeface="Inter" pitchFamily="34" charset="0"/>
                <a:ea typeface="Inter" pitchFamily="34" charset="-122"/>
                <a:cs typeface="Inter" pitchFamily="34" charset="-120"/>
              </a:rPr>
              <a:t>Does Cogito include direct access to a Fabric workspace, lakehouse, or warehouse in Epic's tenant?</a:t>
            </a:r>
            <a:endParaRPr lang="en-US" sz="1200" dirty="0"/>
          </a:p>
        </p:txBody>
      </p:sp>
      <p:sp>
        <p:nvSpPr>
          <p:cNvPr id="13" name="Shape 10"/>
          <p:cNvSpPr/>
          <p:nvPr/>
        </p:nvSpPr>
        <p:spPr>
          <a:xfrm>
            <a:off x="658368" y="2605998"/>
            <a:ext cx="10874959" cy="656548"/>
          </a:xfrm>
          <a:prstGeom prst="rect">
            <a:avLst/>
          </a:prstGeom>
          <a:solidFill>
            <a:srgbClr val="1A7A8A"/>
          </a:solidFill>
          <a:ln/>
        </p:spPr>
        <p:txBody>
          <a:bodyPr/>
          <a:lstStyle/>
          <a:p>
            <a:endParaRPr lang="en-US"/>
          </a:p>
        </p:txBody>
      </p:sp>
      <p:sp>
        <p:nvSpPr>
          <p:cNvPr id="14" name="Shape 11"/>
          <p:cNvSpPr/>
          <p:nvPr/>
        </p:nvSpPr>
        <p:spPr>
          <a:xfrm>
            <a:off x="713232" y="2605998"/>
            <a:ext cx="10820095" cy="656548"/>
          </a:xfrm>
          <a:prstGeom prst="rect">
            <a:avLst/>
          </a:prstGeom>
          <a:solidFill>
            <a:srgbClr val="F2F4F7"/>
          </a:solidFill>
          <a:ln/>
        </p:spPr>
        <p:txBody>
          <a:bodyPr/>
          <a:lstStyle/>
          <a:p>
            <a:endParaRPr lang="en-US"/>
          </a:p>
        </p:txBody>
      </p:sp>
      <p:sp>
        <p:nvSpPr>
          <p:cNvPr id="15" name="Shape 12"/>
          <p:cNvSpPr/>
          <p:nvPr/>
        </p:nvSpPr>
        <p:spPr>
          <a:xfrm>
            <a:off x="969264" y="2742248"/>
            <a:ext cx="384048" cy="384048"/>
          </a:xfrm>
          <a:prstGeom prst="ellipse">
            <a:avLst/>
          </a:prstGeom>
          <a:solidFill>
            <a:srgbClr val="E0F0F3"/>
          </a:solidFill>
          <a:ln/>
        </p:spPr>
        <p:txBody>
          <a:bodyPr/>
          <a:lstStyle/>
          <a:p>
            <a:endParaRPr lang="en-US"/>
          </a:p>
        </p:txBody>
      </p:sp>
      <p:sp>
        <p:nvSpPr>
          <p:cNvPr id="16" name="Text 13"/>
          <p:cNvSpPr/>
          <p:nvPr/>
        </p:nvSpPr>
        <p:spPr>
          <a:xfrm>
            <a:off x="969264" y="2742248"/>
            <a:ext cx="384048" cy="384048"/>
          </a:xfrm>
          <a:prstGeom prst="rect">
            <a:avLst/>
          </a:prstGeom>
          <a:noFill/>
          <a:ln/>
        </p:spPr>
        <p:txBody>
          <a:bodyPr wrap="square" rtlCol="0" anchor="ctr"/>
          <a:lstStyle/>
          <a:p>
            <a:pPr marL="0" indent="0" algn="ctr">
              <a:buNone/>
            </a:pPr>
            <a:r>
              <a:rPr lang="en-US" sz="1400" b="1" dirty="0">
                <a:solidFill>
                  <a:srgbClr val="1A7A8A"/>
                </a:solidFill>
                <a:latin typeface="Inter" pitchFamily="34" charset="0"/>
                <a:ea typeface="Inter" pitchFamily="34" charset="-122"/>
                <a:cs typeface="Inter" pitchFamily="34" charset="-120"/>
              </a:rPr>
              <a:t>2</a:t>
            </a:r>
            <a:endParaRPr lang="en-US" sz="1400" dirty="0"/>
          </a:p>
        </p:txBody>
      </p:sp>
      <p:sp>
        <p:nvSpPr>
          <p:cNvPr id="17" name="Text 14"/>
          <p:cNvSpPr/>
          <p:nvPr/>
        </p:nvSpPr>
        <p:spPr>
          <a:xfrm>
            <a:off x="1554480" y="2715726"/>
            <a:ext cx="9722815" cy="304292"/>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Guest Access Enabled</a:t>
            </a:r>
            <a:endParaRPr lang="en-US" sz="1400" dirty="0"/>
          </a:p>
        </p:txBody>
      </p:sp>
      <p:sp>
        <p:nvSpPr>
          <p:cNvPr id="18" name="Text 15"/>
          <p:cNvSpPr/>
          <p:nvPr/>
        </p:nvSpPr>
        <p:spPr>
          <a:xfrm>
            <a:off x="1554480" y="2992586"/>
            <a:ext cx="9722815" cy="228600"/>
          </a:xfrm>
          <a:prstGeom prst="rect">
            <a:avLst/>
          </a:prstGeom>
          <a:noFill/>
          <a:ln/>
        </p:spPr>
        <p:txBody>
          <a:bodyPr wrap="square" rtlCol="0" anchor="t"/>
          <a:lstStyle/>
          <a:p>
            <a:pPr marL="0" indent="0" algn="l">
              <a:buNone/>
            </a:pPr>
            <a:r>
              <a:rPr lang="en-US" sz="1200" dirty="0">
                <a:solidFill>
                  <a:srgbClr val="3A4A5E"/>
                </a:solidFill>
                <a:latin typeface="Inter" pitchFamily="34" charset="0"/>
                <a:ea typeface="Inter" pitchFamily="34" charset="-122"/>
                <a:cs typeface="Inter" pitchFamily="34" charset="-120"/>
              </a:rPr>
              <a:t>Has Epic enabled 'Allow Azure AD guest users to access Microsoft Fabric' in their admin portal?</a:t>
            </a:r>
            <a:endParaRPr lang="en-US" sz="1200" dirty="0"/>
          </a:p>
        </p:txBody>
      </p:sp>
      <p:sp>
        <p:nvSpPr>
          <p:cNvPr id="19" name="Shape 16"/>
          <p:cNvSpPr/>
          <p:nvPr/>
        </p:nvSpPr>
        <p:spPr>
          <a:xfrm>
            <a:off x="658368" y="3390561"/>
            <a:ext cx="10874959" cy="656548"/>
          </a:xfrm>
          <a:prstGeom prst="rect">
            <a:avLst/>
          </a:prstGeom>
          <a:solidFill>
            <a:srgbClr val="1A7A8A"/>
          </a:solidFill>
          <a:ln/>
        </p:spPr>
        <p:txBody>
          <a:bodyPr/>
          <a:lstStyle/>
          <a:p>
            <a:endParaRPr lang="en-US"/>
          </a:p>
        </p:txBody>
      </p:sp>
      <p:sp>
        <p:nvSpPr>
          <p:cNvPr id="20" name="Shape 17"/>
          <p:cNvSpPr/>
          <p:nvPr/>
        </p:nvSpPr>
        <p:spPr>
          <a:xfrm>
            <a:off x="713232" y="3390561"/>
            <a:ext cx="10820095" cy="656548"/>
          </a:xfrm>
          <a:prstGeom prst="rect">
            <a:avLst/>
          </a:prstGeom>
          <a:solidFill>
            <a:srgbClr val="F2F4F7"/>
          </a:solidFill>
          <a:ln/>
        </p:spPr>
        <p:txBody>
          <a:bodyPr/>
          <a:lstStyle/>
          <a:p>
            <a:endParaRPr lang="en-US"/>
          </a:p>
        </p:txBody>
      </p:sp>
      <p:sp>
        <p:nvSpPr>
          <p:cNvPr id="21" name="Shape 18"/>
          <p:cNvSpPr/>
          <p:nvPr/>
        </p:nvSpPr>
        <p:spPr>
          <a:xfrm>
            <a:off x="969264" y="3526811"/>
            <a:ext cx="384048" cy="384048"/>
          </a:xfrm>
          <a:prstGeom prst="ellipse">
            <a:avLst/>
          </a:prstGeom>
          <a:solidFill>
            <a:srgbClr val="E0F0F3"/>
          </a:solidFill>
          <a:ln/>
        </p:spPr>
        <p:txBody>
          <a:bodyPr/>
          <a:lstStyle/>
          <a:p>
            <a:endParaRPr lang="en-US"/>
          </a:p>
        </p:txBody>
      </p:sp>
      <p:sp>
        <p:nvSpPr>
          <p:cNvPr id="22" name="Text 19"/>
          <p:cNvSpPr/>
          <p:nvPr/>
        </p:nvSpPr>
        <p:spPr>
          <a:xfrm>
            <a:off x="969264" y="3526811"/>
            <a:ext cx="384048" cy="384048"/>
          </a:xfrm>
          <a:prstGeom prst="rect">
            <a:avLst/>
          </a:prstGeom>
          <a:noFill/>
          <a:ln/>
        </p:spPr>
        <p:txBody>
          <a:bodyPr wrap="square" rtlCol="0" anchor="ctr"/>
          <a:lstStyle/>
          <a:p>
            <a:pPr marL="0" indent="0" algn="ctr">
              <a:buNone/>
            </a:pPr>
            <a:r>
              <a:rPr lang="en-US" sz="1400" b="1" dirty="0">
                <a:solidFill>
                  <a:srgbClr val="1A7A8A"/>
                </a:solidFill>
                <a:latin typeface="Inter" pitchFamily="34" charset="0"/>
                <a:ea typeface="Inter" pitchFamily="34" charset="-122"/>
                <a:cs typeface="Inter" pitchFamily="34" charset="-120"/>
              </a:rPr>
              <a:t>3</a:t>
            </a:r>
            <a:endParaRPr lang="en-US" sz="1400" dirty="0"/>
          </a:p>
        </p:txBody>
      </p:sp>
      <p:sp>
        <p:nvSpPr>
          <p:cNvPr id="23" name="Text 20"/>
          <p:cNvSpPr/>
          <p:nvPr/>
        </p:nvSpPr>
        <p:spPr>
          <a:xfrm>
            <a:off x="1554480" y="3500289"/>
            <a:ext cx="9722815" cy="304292"/>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Identity Requirements</a:t>
            </a:r>
            <a:endParaRPr lang="en-US" sz="1400" dirty="0"/>
          </a:p>
        </p:txBody>
      </p:sp>
      <p:sp>
        <p:nvSpPr>
          <p:cNvPr id="24" name="Text 21"/>
          <p:cNvSpPr/>
          <p:nvPr/>
        </p:nvSpPr>
        <p:spPr>
          <a:xfrm>
            <a:off x="1554480" y="3777149"/>
            <a:ext cx="9722815" cy="228600"/>
          </a:xfrm>
          <a:prstGeom prst="rect">
            <a:avLst/>
          </a:prstGeom>
          <a:noFill/>
          <a:ln/>
        </p:spPr>
        <p:txBody>
          <a:bodyPr wrap="square" rtlCol="0" anchor="t"/>
          <a:lstStyle/>
          <a:p>
            <a:pPr marL="0" indent="0" algn="l">
              <a:buNone/>
            </a:pPr>
            <a:r>
              <a:rPr lang="en-US" sz="1200" dirty="0">
                <a:solidFill>
                  <a:srgbClr val="3A4A5E"/>
                </a:solidFill>
                <a:latin typeface="Inter" pitchFamily="34" charset="0"/>
                <a:ea typeface="Inter" pitchFamily="34" charset="-122"/>
                <a:cs typeface="Inter" pitchFamily="34" charset="-120"/>
              </a:rPr>
              <a:t>What identity type is required? Entra ID B2B guest, Microsoft Account, or email OTP?</a:t>
            </a:r>
            <a:endParaRPr lang="en-US" sz="1200" dirty="0"/>
          </a:p>
        </p:txBody>
      </p:sp>
      <p:sp>
        <p:nvSpPr>
          <p:cNvPr id="25" name="Shape 22"/>
          <p:cNvSpPr/>
          <p:nvPr/>
        </p:nvSpPr>
        <p:spPr>
          <a:xfrm>
            <a:off x="658368" y="4175125"/>
            <a:ext cx="10874959" cy="656548"/>
          </a:xfrm>
          <a:prstGeom prst="rect">
            <a:avLst/>
          </a:prstGeom>
          <a:solidFill>
            <a:srgbClr val="1A7A8A"/>
          </a:solidFill>
          <a:ln/>
        </p:spPr>
        <p:txBody>
          <a:bodyPr/>
          <a:lstStyle/>
          <a:p>
            <a:endParaRPr lang="en-US"/>
          </a:p>
        </p:txBody>
      </p:sp>
      <p:sp>
        <p:nvSpPr>
          <p:cNvPr id="26" name="Shape 23"/>
          <p:cNvSpPr/>
          <p:nvPr/>
        </p:nvSpPr>
        <p:spPr>
          <a:xfrm>
            <a:off x="713232" y="4175125"/>
            <a:ext cx="10820095" cy="656548"/>
          </a:xfrm>
          <a:prstGeom prst="rect">
            <a:avLst/>
          </a:prstGeom>
          <a:solidFill>
            <a:srgbClr val="F2F4F7"/>
          </a:solidFill>
          <a:ln/>
        </p:spPr>
        <p:txBody>
          <a:bodyPr/>
          <a:lstStyle/>
          <a:p>
            <a:endParaRPr lang="en-US"/>
          </a:p>
        </p:txBody>
      </p:sp>
      <p:sp>
        <p:nvSpPr>
          <p:cNvPr id="27" name="Shape 24"/>
          <p:cNvSpPr/>
          <p:nvPr/>
        </p:nvSpPr>
        <p:spPr>
          <a:xfrm>
            <a:off x="969264" y="4311375"/>
            <a:ext cx="384048" cy="384048"/>
          </a:xfrm>
          <a:prstGeom prst="ellipse">
            <a:avLst/>
          </a:prstGeom>
          <a:solidFill>
            <a:srgbClr val="E0F0F3"/>
          </a:solidFill>
          <a:ln/>
        </p:spPr>
        <p:txBody>
          <a:bodyPr/>
          <a:lstStyle/>
          <a:p>
            <a:endParaRPr lang="en-US"/>
          </a:p>
        </p:txBody>
      </p:sp>
      <p:sp>
        <p:nvSpPr>
          <p:cNvPr id="28" name="Text 25"/>
          <p:cNvSpPr/>
          <p:nvPr/>
        </p:nvSpPr>
        <p:spPr>
          <a:xfrm>
            <a:off x="969264" y="4311375"/>
            <a:ext cx="384048" cy="384048"/>
          </a:xfrm>
          <a:prstGeom prst="rect">
            <a:avLst/>
          </a:prstGeom>
          <a:noFill/>
          <a:ln/>
        </p:spPr>
        <p:txBody>
          <a:bodyPr wrap="square" rtlCol="0" anchor="ctr"/>
          <a:lstStyle/>
          <a:p>
            <a:pPr marL="0" indent="0" algn="ctr">
              <a:buNone/>
            </a:pPr>
            <a:r>
              <a:rPr lang="en-US" sz="1400" b="1" dirty="0">
                <a:solidFill>
                  <a:srgbClr val="1A7A8A"/>
                </a:solidFill>
                <a:latin typeface="Inter" pitchFamily="34" charset="0"/>
                <a:ea typeface="Inter" pitchFamily="34" charset="-122"/>
                <a:cs typeface="Inter" pitchFamily="34" charset="-120"/>
              </a:rPr>
              <a:t>4</a:t>
            </a:r>
            <a:endParaRPr lang="en-US" sz="1400" dirty="0"/>
          </a:p>
        </p:txBody>
      </p:sp>
      <p:sp>
        <p:nvSpPr>
          <p:cNvPr id="29" name="Text 26"/>
          <p:cNvSpPr/>
          <p:nvPr/>
        </p:nvSpPr>
        <p:spPr>
          <a:xfrm>
            <a:off x="1554480" y="4284853"/>
            <a:ext cx="9722815" cy="304292"/>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Invitation Mechanism</a:t>
            </a:r>
            <a:endParaRPr lang="en-US" sz="1400" dirty="0"/>
          </a:p>
        </p:txBody>
      </p:sp>
      <p:sp>
        <p:nvSpPr>
          <p:cNvPr id="30" name="Text 27"/>
          <p:cNvSpPr/>
          <p:nvPr/>
        </p:nvSpPr>
        <p:spPr>
          <a:xfrm>
            <a:off x="1554480" y="4561713"/>
            <a:ext cx="9722815" cy="228600"/>
          </a:xfrm>
          <a:prstGeom prst="rect">
            <a:avLst/>
          </a:prstGeom>
          <a:noFill/>
          <a:ln/>
        </p:spPr>
        <p:txBody>
          <a:bodyPr wrap="square" rtlCol="0" anchor="t"/>
          <a:lstStyle/>
          <a:p>
            <a:pPr marL="0" indent="0" algn="l">
              <a:buNone/>
            </a:pPr>
            <a:r>
              <a:rPr lang="en-US" sz="1200" dirty="0">
                <a:solidFill>
                  <a:srgbClr val="3A4A5E"/>
                </a:solidFill>
                <a:latin typeface="Inter" pitchFamily="34" charset="0"/>
                <a:ea typeface="Inter" pitchFamily="34" charset="-122"/>
                <a:cs typeface="Inter" pitchFamily="34" charset="-120"/>
              </a:rPr>
              <a:t>Does Epic issue B2B invitations, or must the customer configure CTAP independently?</a:t>
            </a:r>
            <a:endParaRPr lang="en-US" sz="1200" dirty="0"/>
          </a:p>
        </p:txBody>
      </p:sp>
      <p:sp>
        <p:nvSpPr>
          <p:cNvPr id="31" name="Shape 28"/>
          <p:cNvSpPr/>
          <p:nvPr/>
        </p:nvSpPr>
        <p:spPr>
          <a:xfrm>
            <a:off x="658368" y="4959689"/>
            <a:ext cx="10874959" cy="656548"/>
          </a:xfrm>
          <a:prstGeom prst="rect">
            <a:avLst/>
          </a:prstGeom>
          <a:solidFill>
            <a:srgbClr val="1A7A8A"/>
          </a:solidFill>
          <a:ln/>
        </p:spPr>
        <p:txBody>
          <a:bodyPr/>
          <a:lstStyle/>
          <a:p>
            <a:endParaRPr lang="en-US"/>
          </a:p>
        </p:txBody>
      </p:sp>
      <p:sp>
        <p:nvSpPr>
          <p:cNvPr id="32" name="Shape 29"/>
          <p:cNvSpPr/>
          <p:nvPr/>
        </p:nvSpPr>
        <p:spPr>
          <a:xfrm>
            <a:off x="713232" y="4959689"/>
            <a:ext cx="10820095" cy="656548"/>
          </a:xfrm>
          <a:prstGeom prst="rect">
            <a:avLst/>
          </a:prstGeom>
          <a:solidFill>
            <a:srgbClr val="F2F4F7"/>
          </a:solidFill>
          <a:ln/>
        </p:spPr>
        <p:txBody>
          <a:bodyPr/>
          <a:lstStyle/>
          <a:p>
            <a:endParaRPr lang="en-US"/>
          </a:p>
        </p:txBody>
      </p:sp>
      <p:sp>
        <p:nvSpPr>
          <p:cNvPr id="33" name="Shape 30"/>
          <p:cNvSpPr/>
          <p:nvPr/>
        </p:nvSpPr>
        <p:spPr>
          <a:xfrm>
            <a:off x="969264" y="5095939"/>
            <a:ext cx="384048" cy="384048"/>
          </a:xfrm>
          <a:prstGeom prst="ellipse">
            <a:avLst/>
          </a:prstGeom>
          <a:solidFill>
            <a:srgbClr val="E0F0F3"/>
          </a:solidFill>
          <a:ln/>
        </p:spPr>
        <p:txBody>
          <a:bodyPr/>
          <a:lstStyle/>
          <a:p>
            <a:endParaRPr lang="en-US"/>
          </a:p>
        </p:txBody>
      </p:sp>
      <p:sp>
        <p:nvSpPr>
          <p:cNvPr id="34" name="Text 31"/>
          <p:cNvSpPr/>
          <p:nvPr/>
        </p:nvSpPr>
        <p:spPr>
          <a:xfrm>
            <a:off x="969264" y="5095939"/>
            <a:ext cx="384048" cy="384048"/>
          </a:xfrm>
          <a:prstGeom prst="rect">
            <a:avLst/>
          </a:prstGeom>
          <a:noFill/>
          <a:ln/>
        </p:spPr>
        <p:txBody>
          <a:bodyPr wrap="square" rtlCol="0" anchor="ctr"/>
          <a:lstStyle/>
          <a:p>
            <a:pPr marL="0" indent="0" algn="ctr">
              <a:buNone/>
            </a:pPr>
            <a:r>
              <a:rPr lang="en-US" sz="1400" b="1" dirty="0">
                <a:solidFill>
                  <a:srgbClr val="1A7A8A"/>
                </a:solidFill>
                <a:latin typeface="Inter" pitchFamily="34" charset="0"/>
                <a:ea typeface="Inter" pitchFamily="34" charset="-122"/>
                <a:cs typeface="Inter" pitchFamily="34" charset="-120"/>
              </a:rPr>
              <a:t>5</a:t>
            </a:r>
            <a:endParaRPr lang="en-US" sz="1400" dirty="0"/>
          </a:p>
        </p:txBody>
      </p:sp>
      <p:sp>
        <p:nvSpPr>
          <p:cNvPr id="35" name="Text 32"/>
          <p:cNvSpPr/>
          <p:nvPr/>
        </p:nvSpPr>
        <p:spPr>
          <a:xfrm>
            <a:off x="1554480" y="5069417"/>
            <a:ext cx="9722815" cy="304292"/>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Permission Level</a:t>
            </a:r>
            <a:endParaRPr lang="en-US" sz="1400" dirty="0"/>
          </a:p>
        </p:txBody>
      </p:sp>
      <p:sp>
        <p:nvSpPr>
          <p:cNvPr id="36" name="Text 33"/>
          <p:cNvSpPr/>
          <p:nvPr/>
        </p:nvSpPr>
        <p:spPr>
          <a:xfrm>
            <a:off x="1554480" y="5346277"/>
            <a:ext cx="9722815" cy="228600"/>
          </a:xfrm>
          <a:prstGeom prst="rect">
            <a:avLst/>
          </a:prstGeom>
          <a:noFill/>
          <a:ln/>
        </p:spPr>
        <p:txBody>
          <a:bodyPr wrap="square" rtlCol="0" anchor="t"/>
          <a:lstStyle/>
          <a:p>
            <a:pPr marL="0" indent="0" algn="l">
              <a:buNone/>
            </a:pPr>
            <a:r>
              <a:rPr lang="en-US" sz="1200" dirty="0">
                <a:solidFill>
                  <a:srgbClr val="3A4A5E"/>
                </a:solidFill>
                <a:latin typeface="Inter" pitchFamily="34" charset="0"/>
                <a:ea typeface="Inter" pitchFamily="34" charset="-122"/>
                <a:cs typeface="Inter" pitchFamily="34" charset="-120"/>
              </a:rPr>
              <a:t>What Fabric item-level permissions are granted to guest users? Viewer, Contributor, Member, or Admin?</a:t>
            </a:r>
            <a:endParaRPr lang="en-US" sz="1200" dirty="0"/>
          </a:p>
        </p:txBody>
      </p:sp>
      <p:sp>
        <p:nvSpPr>
          <p:cNvPr id="37" name="Shape 34"/>
          <p:cNvSpPr/>
          <p:nvPr/>
        </p:nvSpPr>
        <p:spPr>
          <a:xfrm>
            <a:off x="658368" y="5744252"/>
            <a:ext cx="10874959" cy="656548"/>
          </a:xfrm>
          <a:prstGeom prst="rect">
            <a:avLst/>
          </a:prstGeom>
          <a:solidFill>
            <a:srgbClr val="1A7A8A"/>
          </a:solidFill>
          <a:ln/>
        </p:spPr>
        <p:txBody>
          <a:bodyPr/>
          <a:lstStyle/>
          <a:p>
            <a:endParaRPr lang="en-US"/>
          </a:p>
        </p:txBody>
      </p:sp>
      <p:sp>
        <p:nvSpPr>
          <p:cNvPr id="38" name="Shape 35"/>
          <p:cNvSpPr/>
          <p:nvPr/>
        </p:nvSpPr>
        <p:spPr>
          <a:xfrm>
            <a:off x="713232" y="5744252"/>
            <a:ext cx="10820095" cy="656548"/>
          </a:xfrm>
          <a:prstGeom prst="rect">
            <a:avLst/>
          </a:prstGeom>
          <a:solidFill>
            <a:srgbClr val="F2F4F7"/>
          </a:solidFill>
          <a:ln/>
        </p:spPr>
        <p:txBody>
          <a:bodyPr/>
          <a:lstStyle/>
          <a:p>
            <a:endParaRPr lang="en-US"/>
          </a:p>
        </p:txBody>
      </p:sp>
      <p:sp>
        <p:nvSpPr>
          <p:cNvPr id="39" name="Shape 36"/>
          <p:cNvSpPr/>
          <p:nvPr/>
        </p:nvSpPr>
        <p:spPr>
          <a:xfrm>
            <a:off x="969264" y="5880502"/>
            <a:ext cx="384048" cy="384048"/>
          </a:xfrm>
          <a:prstGeom prst="ellipse">
            <a:avLst/>
          </a:prstGeom>
          <a:solidFill>
            <a:srgbClr val="E0F0F3"/>
          </a:solidFill>
          <a:ln/>
        </p:spPr>
        <p:txBody>
          <a:bodyPr/>
          <a:lstStyle/>
          <a:p>
            <a:endParaRPr lang="en-US"/>
          </a:p>
        </p:txBody>
      </p:sp>
      <p:sp>
        <p:nvSpPr>
          <p:cNvPr id="40" name="Text 37"/>
          <p:cNvSpPr/>
          <p:nvPr/>
        </p:nvSpPr>
        <p:spPr>
          <a:xfrm>
            <a:off x="969264" y="5880502"/>
            <a:ext cx="384048" cy="384048"/>
          </a:xfrm>
          <a:prstGeom prst="rect">
            <a:avLst/>
          </a:prstGeom>
          <a:noFill/>
          <a:ln/>
        </p:spPr>
        <p:txBody>
          <a:bodyPr wrap="square" rtlCol="0" anchor="ctr"/>
          <a:lstStyle/>
          <a:p>
            <a:pPr marL="0" indent="0" algn="ctr">
              <a:buNone/>
            </a:pPr>
            <a:r>
              <a:rPr lang="en-US" sz="1400" b="1" dirty="0">
                <a:solidFill>
                  <a:srgbClr val="1A7A8A"/>
                </a:solidFill>
                <a:latin typeface="Inter" pitchFamily="34" charset="0"/>
                <a:ea typeface="Inter" pitchFamily="34" charset="-122"/>
                <a:cs typeface="Inter" pitchFamily="34" charset="-120"/>
              </a:rPr>
              <a:t>6</a:t>
            </a:r>
            <a:endParaRPr lang="en-US" sz="1400" dirty="0"/>
          </a:p>
        </p:txBody>
      </p:sp>
      <p:sp>
        <p:nvSpPr>
          <p:cNvPr id="41" name="Text 38"/>
          <p:cNvSpPr/>
          <p:nvPr/>
        </p:nvSpPr>
        <p:spPr>
          <a:xfrm>
            <a:off x="1554480" y="5853980"/>
            <a:ext cx="9722815" cy="304292"/>
          </a:xfrm>
          <a:prstGeom prst="rect">
            <a:avLst/>
          </a:prstGeom>
          <a:noFill/>
          <a:ln/>
        </p:spPr>
        <p:txBody>
          <a:bodyPr wrap="square" rtlCol="0" anchor="t"/>
          <a:lstStyle/>
          <a:p>
            <a:pPr marL="0" indent="0" algn="l">
              <a:buNone/>
            </a:pPr>
            <a:r>
              <a:rPr lang="en-US" sz="1400" b="1" dirty="0">
                <a:solidFill>
                  <a:srgbClr val="0B1D3A"/>
                </a:solidFill>
                <a:latin typeface="Poppins" pitchFamily="34" charset="0"/>
                <a:ea typeface="Poppins" pitchFamily="34" charset="-122"/>
                <a:cs typeface="Poppins" pitchFamily="34" charset="-120"/>
              </a:rPr>
              <a:t>Licensing Allocation</a:t>
            </a:r>
            <a:endParaRPr lang="en-US" sz="1400" dirty="0"/>
          </a:p>
        </p:txBody>
      </p:sp>
      <p:sp>
        <p:nvSpPr>
          <p:cNvPr id="42" name="Text 39"/>
          <p:cNvSpPr/>
          <p:nvPr/>
        </p:nvSpPr>
        <p:spPr>
          <a:xfrm>
            <a:off x="1554480" y="6130840"/>
            <a:ext cx="9722815" cy="228600"/>
          </a:xfrm>
          <a:prstGeom prst="rect">
            <a:avLst/>
          </a:prstGeom>
          <a:noFill/>
          <a:ln/>
        </p:spPr>
        <p:txBody>
          <a:bodyPr wrap="square" rtlCol="0" anchor="t"/>
          <a:lstStyle/>
          <a:p>
            <a:pPr marL="0" indent="0" algn="l">
              <a:buNone/>
            </a:pPr>
            <a:r>
              <a:rPr lang="en-US" sz="1200" dirty="0">
                <a:solidFill>
                  <a:srgbClr val="3A4A5E"/>
                </a:solidFill>
                <a:latin typeface="Inter" pitchFamily="34" charset="0"/>
                <a:ea typeface="Inter" pitchFamily="34" charset="-122"/>
                <a:cs typeface="Inter" pitchFamily="34" charset="-120"/>
              </a:rPr>
              <a:t>Is a Fabric licence allocated to guest users in Epic's tenant, or must the customer supply licensing?</a:t>
            </a:r>
            <a:endParaRPr lang="en-US" sz="1200" dirty="0"/>
          </a:p>
        </p:txBody>
      </p:sp>
      <p:sp>
        <p:nvSpPr>
          <p:cNvPr id="43" name="Text 40"/>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44" name="Text 41"/>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628650" y="377922"/>
            <a:ext cx="182880" cy="182880"/>
          </a:xfrm>
          <a:prstGeom prst="rect">
            <a:avLst/>
          </a:prstGeom>
          <a:solidFill>
            <a:srgbClr val="1A7A8A"/>
          </a:solidFill>
          <a:ln/>
        </p:spPr>
        <p:txBody>
          <a:bodyPr/>
          <a:lstStyle/>
          <a:p>
            <a:endParaRPr lang="en-US"/>
          </a:p>
        </p:txBody>
      </p:sp>
      <p:sp>
        <p:nvSpPr>
          <p:cNvPr id="4" name="Text 1"/>
          <p:cNvSpPr/>
          <p:nvPr/>
        </p:nvSpPr>
        <p:spPr>
          <a:xfrm>
            <a:off x="921258" y="377922"/>
            <a:ext cx="10641787"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ARCHITECTURE FLOWS</a:t>
            </a:r>
            <a:endParaRPr lang="en-US" sz="1050" dirty="0"/>
          </a:p>
        </p:txBody>
      </p:sp>
      <p:sp>
        <p:nvSpPr>
          <p:cNvPr id="5" name="Text 0"/>
          <p:cNvSpPr>
            <a:spLocks noGrp="1"/>
          </p:cNvSpPr>
          <p:nvPr>
            <p:ph type="title" idx="100" hasCustomPrompt="1"/>
          </p:nvPr>
        </p:nvSpPr>
        <p:spPr>
          <a:xfrm>
            <a:off x="628650" y="670530"/>
            <a:ext cx="10934395"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Architecture Process Flows</a:t>
            </a:r>
            <a:endParaRPr lang="en-US" sz="2200" dirty="0"/>
          </a:p>
        </p:txBody>
      </p:sp>
      <p:sp>
        <p:nvSpPr>
          <p:cNvPr id="6" name="Shape 3"/>
          <p:cNvSpPr/>
          <p:nvPr/>
        </p:nvSpPr>
        <p:spPr>
          <a:xfrm>
            <a:off x="628650" y="1415258"/>
            <a:ext cx="3492398" cy="3924838"/>
          </a:xfrm>
          <a:prstGeom prst="rect">
            <a:avLst/>
          </a:prstGeom>
          <a:solidFill>
            <a:srgbClr val="1A7A8A"/>
          </a:solidFill>
          <a:ln/>
          <a:effectLst>
            <a:outerShdw blurRad="76200" dist="25400" dir="8100000" algn="bl" rotWithShape="0">
              <a:srgbClr val="DCE0E6">
                <a:alpha val="12000"/>
              </a:srgbClr>
            </a:outerShdw>
          </a:effectLst>
        </p:spPr>
        <p:txBody>
          <a:bodyPr/>
          <a:lstStyle/>
          <a:p>
            <a:endParaRPr lang="en-US"/>
          </a:p>
        </p:txBody>
      </p:sp>
      <p:sp>
        <p:nvSpPr>
          <p:cNvPr id="7" name="Shape 4"/>
          <p:cNvSpPr/>
          <p:nvPr/>
        </p:nvSpPr>
        <p:spPr>
          <a:xfrm>
            <a:off x="628650" y="1453662"/>
            <a:ext cx="3492398" cy="3886434"/>
          </a:xfrm>
          <a:prstGeom prst="rect">
            <a:avLst/>
          </a:prstGeom>
          <a:solidFill>
            <a:srgbClr val="F2F4F7"/>
          </a:solidFill>
          <a:ln w="9525">
            <a:solidFill>
              <a:srgbClr val="DCE0E6"/>
            </a:solidFill>
            <a:prstDash val="solid"/>
          </a:ln>
        </p:spPr>
        <p:txBody>
          <a:bodyPr/>
          <a:lstStyle/>
          <a:p>
            <a:endParaRPr lang="en-US"/>
          </a:p>
        </p:txBody>
      </p:sp>
      <p:sp>
        <p:nvSpPr>
          <p:cNvPr id="8" name="Shape 5"/>
          <p:cNvSpPr/>
          <p:nvPr/>
        </p:nvSpPr>
        <p:spPr>
          <a:xfrm>
            <a:off x="876270" y="1681988"/>
            <a:ext cx="514350" cy="514350"/>
          </a:xfrm>
          <a:prstGeom prst="roundRect">
            <a:avLst>
              <a:gd name="adj" fmla="val 22222"/>
            </a:avLst>
          </a:prstGeom>
          <a:solidFill>
            <a:srgbClr val="E0F0F3"/>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9" y="1805798"/>
            <a:ext cx="266730" cy="266730"/>
          </a:xfrm>
          <a:prstGeom prst="rect">
            <a:avLst/>
          </a:prstGeom>
        </p:spPr>
      </p:pic>
      <p:sp>
        <p:nvSpPr>
          <p:cNvPr id="10" name="Text 6"/>
          <p:cNvSpPr/>
          <p:nvPr/>
        </p:nvSpPr>
        <p:spPr>
          <a:xfrm>
            <a:off x="876270" y="2367788"/>
            <a:ext cx="2997159" cy="310896"/>
          </a:xfrm>
          <a:prstGeom prst="rect">
            <a:avLst/>
          </a:prstGeom>
          <a:noFill/>
          <a:ln/>
        </p:spPr>
        <p:txBody>
          <a:bodyPr wrap="square" rtlCol="0" anchor="t"/>
          <a:lstStyle/>
          <a:p>
            <a:pPr marL="0" indent="0" algn="l">
              <a:buNone/>
            </a:pPr>
            <a:r>
              <a:rPr lang="en-US" sz="1575" b="1" dirty="0">
                <a:solidFill>
                  <a:srgbClr val="0B1D3A"/>
                </a:solidFill>
                <a:latin typeface="Poppins" pitchFamily="34" charset="0"/>
                <a:ea typeface="Poppins" pitchFamily="34" charset="-122"/>
                <a:cs typeface="Poppins" pitchFamily="34" charset="-120"/>
              </a:rPr>
              <a:t>A: Cross-Tenant</a:t>
            </a:r>
            <a:endParaRPr lang="en-US" sz="1575" dirty="0"/>
          </a:p>
        </p:txBody>
      </p:sp>
      <p:sp>
        <p:nvSpPr>
          <p:cNvPr id="11" name="Text 7"/>
          <p:cNvSpPr/>
          <p:nvPr/>
        </p:nvSpPr>
        <p:spPr>
          <a:xfrm>
            <a:off x="876270" y="2831114"/>
            <a:ext cx="2997159" cy="211455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Customer User (Home Tenant)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B2B / Cross-Tenant Policy</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Epic Tenant (Resource)</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Fabric Capacity &gt; Workspace</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Lakehouse / Warehouse / Reports</a:t>
            </a:r>
            <a:endParaRPr lang="en-US" sz="1500" dirty="0"/>
          </a:p>
        </p:txBody>
      </p:sp>
      <p:sp>
        <p:nvSpPr>
          <p:cNvPr id="12" name="Shape 8"/>
          <p:cNvSpPr/>
          <p:nvPr/>
        </p:nvSpPr>
        <p:spPr>
          <a:xfrm>
            <a:off x="4349648" y="1415258"/>
            <a:ext cx="3492398" cy="3924838"/>
          </a:xfrm>
          <a:prstGeom prst="rect">
            <a:avLst/>
          </a:prstGeom>
          <a:solidFill>
            <a:srgbClr val="1A7A8A"/>
          </a:solidFill>
          <a:ln/>
          <a:effectLst>
            <a:outerShdw blurRad="76200" dist="25400" dir="8100000" algn="bl" rotWithShape="0">
              <a:srgbClr val="DCE0E6">
                <a:alpha val="12000"/>
              </a:srgbClr>
            </a:outerShdw>
          </a:effectLst>
        </p:spPr>
        <p:txBody>
          <a:bodyPr/>
          <a:lstStyle/>
          <a:p>
            <a:endParaRPr lang="en-US"/>
          </a:p>
        </p:txBody>
      </p:sp>
      <p:sp>
        <p:nvSpPr>
          <p:cNvPr id="13" name="Shape 9"/>
          <p:cNvSpPr/>
          <p:nvPr/>
        </p:nvSpPr>
        <p:spPr>
          <a:xfrm>
            <a:off x="4349648" y="1453662"/>
            <a:ext cx="3492398" cy="3886434"/>
          </a:xfrm>
          <a:prstGeom prst="rect">
            <a:avLst/>
          </a:prstGeom>
          <a:solidFill>
            <a:srgbClr val="F2F4F7"/>
          </a:solidFill>
          <a:ln w="9525">
            <a:solidFill>
              <a:srgbClr val="DCE0E6"/>
            </a:solidFill>
            <a:prstDash val="solid"/>
          </a:ln>
        </p:spPr>
        <p:txBody>
          <a:bodyPr/>
          <a:lstStyle/>
          <a:p>
            <a:endParaRPr lang="en-US"/>
          </a:p>
        </p:txBody>
      </p:sp>
      <p:sp>
        <p:nvSpPr>
          <p:cNvPr id="14" name="Shape 10"/>
          <p:cNvSpPr/>
          <p:nvPr/>
        </p:nvSpPr>
        <p:spPr>
          <a:xfrm>
            <a:off x="4597268" y="1681988"/>
            <a:ext cx="514350" cy="514350"/>
          </a:xfrm>
          <a:prstGeom prst="roundRect">
            <a:avLst>
              <a:gd name="adj" fmla="val 22222"/>
            </a:avLst>
          </a:prstGeom>
          <a:solidFill>
            <a:srgbClr val="E0F0F3"/>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1078" y="1805798"/>
            <a:ext cx="266730" cy="266730"/>
          </a:xfrm>
          <a:prstGeom prst="rect">
            <a:avLst/>
          </a:prstGeom>
        </p:spPr>
      </p:pic>
      <p:sp>
        <p:nvSpPr>
          <p:cNvPr id="16" name="Text 11"/>
          <p:cNvSpPr/>
          <p:nvPr/>
        </p:nvSpPr>
        <p:spPr>
          <a:xfrm>
            <a:off x="4597268" y="2367788"/>
            <a:ext cx="2997159" cy="310896"/>
          </a:xfrm>
          <a:prstGeom prst="rect">
            <a:avLst/>
          </a:prstGeom>
          <a:noFill/>
          <a:ln/>
        </p:spPr>
        <p:txBody>
          <a:bodyPr wrap="square" rtlCol="0" anchor="t"/>
          <a:lstStyle/>
          <a:p>
            <a:pPr marL="0" indent="0" algn="l">
              <a:buNone/>
            </a:pPr>
            <a:r>
              <a:rPr lang="en-US" sz="1575" b="1" dirty="0">
                <a:solidFill>
                  <a:srgbClr val="0B1D3A"/>
                </a:solidFill>
                <a:latin typeface="Poppins" pitchFamily="34" charset="0"/>
                <a:ea typeface="Poppins" pitchFamily="34" charset="-122"/>
                <a:cs typeface="Poppins" pitchFamily="34" charset="-120"/>
              </a:rPr>
              <a:t>B: Permission Stack</a:t>
            </a:r>
            <a:endParaRPr lang="en-US" sz="1575" dirty="0"/>
          </a:p>
        </p:txBody>
      </p:sp>
      <p:sp>
        <p:nvSpPr>
          <p:cNvPr id="17" name="Text 12"/>
          <p:cNvSpPr/>
          <p:nvPr/>
        </p:nvSpPr>
        <p:spPr>
          <a:xfrm>
            <a:off x="4597268" y="2831114"/>
            <a:ext cx="2997159" cy="165735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Entra ID (Home Tenant)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B2B Guest Object (Epic)</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Workspace Role assignment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Item-level ACLs per asset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RLS / CLS data restrictions</a:t>
            </a:r>
            <a:endParaRPr lang="en-US" sz="1500" dirty="0"/>
          </a:p>
        </p:txBody>
      </p:sp>
      <p:sp>
        <p:nvSpPr>
          <p:cNvPr id="18" name="Shape 13"/>
          <p:cNvSpPr/>
          <p:nvPr/>
        </p:nvSpPr>
        <p:spPr>
          <a:xfrm>
            <a:off x="8070647" y="1415258"/>
            <a:ext cx="3492398" cy="3924838"/>
          </a:xfrm>
          <a:prstGeom prst="rect">
            <a:avLst/>
          </a:prstGeom>
          <a:solidFill>
            <a:srgbClr val="1A7A8A"/>
          </a:solidFill>
          <a:ln/>
          <a:effectLst>
            <a:outerShdw blurRad="76200" dist="25400" dir="8100000" algn="bl" rotWithShape="0">
              <a:srgbClr val="DCE0E6">
                <a:alpha val="12000"/>
              </a:srgbClr>
            </a:outerShdw>
          </a:effectLst>
        </p:spPr>
        <p:txBody>
          <a:bodyPr/>
          <a:lstStyle/>
          <a:p>
            <a:endParaRPr lang="en-US"/>
          </a:p>
        </p:txBody>
      </p:sp>
      <p:sp>
        <p:nvSpPr>
          <p:cNvPr id="19" name="Shape 14"/>
          <p:cNvSpPr/>
          <p:nvPr/>
        </p:nvSpPr>
        <p:spPr>
          <a:xfrm>
            <a:off x="8070647" y="1453662"/>
            <a:ext cx="3492398" cy="3886434"/>
          </a:xfrm>
          <a:prstGeom prst="rect">
            <a:avLst/>
          </a:prstGeom>
          <a:solidFill>
            <a:srgbClr val="F2F4F7"/>
          </a:solidFill>
          <a:ln w="9525">
            <a:solidFill>
              <a:srgbClr val="DCE0E6"/>
            </a:solidFill>
            <a:prstDash val="solid"/>
          </a:ln>
        </p:spPr>
        <p:txBody>
          <a:bodyPr/>
          <a:lstStyle/>
          <a:p>
            <a:endParaRPr lang="en-US"/>
          </a:p>
        </p:txBody>
      </p:sp>
      <p:sp>
        <p:nvSpPr>
          <p:cNvPr id="20" name="Shape 15"/>
          <p:cNvSpPr/>
          <p:nvPr/>
        </p:nvSpPr>
        <p:spPr>
          <a:xfrm>
            <a:off x="8318266" y="1681988"/>
            <a:ext cx="514350" cy="514350"/>
          </a:xfrm>
          <a:prstGeom prst="roundRect">
            <a:avLst>
              <a:gd name="adj" fmla="val 22222"/>
            </a:avLst>
          </a:prstGeom>
          <a:solidFill>
            <a:srgbClr val="E0F0F3"/>
          </a:solidFill>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42076" y="1805798"/>
            <a:ext cx="266730" cy="266730"/>
          </a:xfrm>
          <a:prstGeom prst="rect">
            <a:avLst/>
          </a:prstGeom>
        </p:spPr>
      </p:pic>
      <p:sp>
        <p:nvSpPr>
          <p:cNvPr id="22" name="Text 16"/>
          <p:cNvSpPr/>
          <p:nvPr/>
        </p:nvSpPr>
        <p:spPr>
          <a:xfrm>
            <a:off x="8318266" y="2367788"/>
            <a:ext cx="2997159" cy="310896"/>
          </a:xfrm>
          <a:prstGeom prst="rect">
            <a:avLst/>
          </a:prstGeom>
          <a:noFill/>
          <a:ln/>
        </p:spPr>
        <p:txBody>
          <a:bodyPr wrap="square" rtlCol="0" anchor="t"/>
          <a:lstStyle/>
          <a:p>
            <a:pPr marL="0" indent="0" algn="l">
              <a:buNone/>
            </a:pPr>
            <a:r>
              <a:rPr lang="en-US" sz="1575" b="1" dirty="0">
                <a:solidFill>
                  <a:srgbClr val="0B1D3A"/>
                </a:solidFill>
                <a:latin typeface="Poppins" pitchFamily="34" charset="0"/>
                <a:ea typeface="Poppins" pitchFamily="34" charset="-122"/>
                <a:cs typeface="Poppins" pitchFamily="34" charset="-120"/>
              </a:rPr>
              <a:t>C: Fallback Path</a:t>
            </a:r>
            <a:endParaRPr lang="en-US" sz="1575" dirty="0"/>
          </a:p>
        </p:txBody>
      </p:sp>
      <p:sp>
        <p:nvSpPr>
          <p:cNvPr id="23" name="Text 17"/>
          <p:cNvSpPr/>
          <p:nvPr/>
        </p:nvSpPr>
        <p:spPr>
          <a:xfrm>
            <a:off x="8318266" y="2831114"/>
            <a:ext cx="2997159" cy="211455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Epic Cogito API / Export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Customer Azure Subscription</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Customer Fabric Capacity</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Customer Lakehouse / Warehouse</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Customer Reports &amp; Notebooks</a:t>
            </a:r>
            <a:endParaRPr lang="en-US" sz="1500" dirty="0"/>
          </a:p>
        </p:txBody>
      </p:sp>
      <p:sp>
        <p:nvSpPr>
          <p:cNvPr id="24" name="Shape 18"/>
          <p:cNvSpPr/>
          <p:nvPr/>
        </p:nvSpPr>
        <p:spPr>
          <a:xfrm>
            <a:off x="628650" y="5632704"/>
            <a:ext cx="10934395" cy="548640"/>
          </a:xfrm>
          <a:prstGeom prst="rect">
            <a:avLst/>
          </a:prstGeom>
          <a:solidFill>
            <a:srgbClr val="1A7A8A"/>
          </a:solidFill>
          <a:ln/>
        </p:spPr>
        <p:txBody>
          <a:bodyPr/>
          <a:lstStyle/>
          <a:p>
            <a:endParaRPr lang="en-US"/>
          </a:p>
        </p:txBody>
      </p:sp>
      <p:sp>
        <p:nvSpPr>
          <p:cNvPr id="25" name="Shape 19"/>
          <p:cNvSpPr/>
          <p:nvPr/>
        </p:nvSpPr>
        <p:spPr>
          <a:xfrm>
            <a:off x="683514" y="5632704"/>
            <a:ext cx="10879531" cy="548640"/>
          </a:xfrm>
          <a:prstGeom prst="rect">
            <a:avLst/>
          </a:prstGeom>
          <a:solidFill>
            <a:srgbClr val="E0F0F3"/>
          </a:solidFill>
          <a:ln w="9525">
            <a:solidFill>
              <a:srgbClr val="DCE0E6"/>
            </a:solidFill>
            <a:prstDash val="solid"/>
          </a:ln>
        </p:spPr>
        <p:txBody>
          <a:bodyPr/>
          <a:lstStyle/>
          <a:p>
            <a:endParaRPr lang="en-US"/>
          </a:p>
        </p:txBody>
      </p:sp>
      <p:sp>
        <p:nvSpPr>
          <p:cNvPr id="26" name="Text 20"/>
          <p:cNvSpPr/>
          <p:nvPr/>
        </p:nvSpPr>
        <p:spPr>
          <a:xfrm>
            <a:off x="994410" y="5632704"/>
            <a:ext cx="10202875" cy="548640"/>
          </a:xfrm>
          <a:prstGeom prst="rect">
            <a:avLst/>
          </a:prstGeom>
          <a:noFill/>
          <a:ln/>
        </p:spPr>
        <p:txBody>
          <a:bodyPr wrap="square" rtlCol="0" anchor="ctr"/>
          <a:lstStyle/>
          <a:p>
            <a:pPr marL="0" indent="0" algn="l">
              <a:buNone/>
            </a:pPr>
            <a:r>
              <a:rPr lang="en-US" sz="1600" dirty="0">
                <a:solidFill>
                  <a:srgbClr val="0B1D3A"/>
                </a:solidFill>
                <a:latin typeface="Poppins" pitchFamily="34" charset="0"/>
                <a:ea typeface="Poppins" pitchFamily="34" charset="-122"/>
                <a:cs typeface="Poppins" pitchFamily="34" charset="-120"/>
              </a:rPr>
              <a:t>Diagrams A and B apply if Epic confirms cross-tenant access; Diagram C is the fallback self-hosted path</a:t>
            </a:r>
            <a:endParaRPr lang="en-US" sz="1600" dirty="0"/>
          </a:p>
        </p:txBody>
      </p:sp>
      <p:sp>
        <p:nvSpPr>
          <p:cNvPr id="27" name="Text 21"/>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28" name="Text 22"/>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548640" y="228600"/>
            <a:ext cx="182880" cy="182880"/>
          </a:xfrm>
          <a:prstGeom prst="rect">
            <a:avLst/>
          </a:prstGeom>
          <a:solidFill>
            <a:srgbClr val="1A7A8A"/>
          </a:solidFill>
          <a:ln/>
        </p:spPr>
        <p:txBody>
          <a:bodyPr/>
          <a:lstStyle/>
          <a:p>
            <a:endParaRPr lang="en-US"/>
          </a:p>
        </p:txBody>
      </p:sp>
      <p:sp>
        <p:nvSpPr>
          <p:cNvPr id="4" name="Text 1"/>
          <p:cNvSpPr/>
          <p:nvPr/>
        </p:nvSpPr>
        <p:spPr>
          <a:xfrm>
            <a:off x="841248" y="228600"/>
            <a:ext cx="10799064"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IMPLEMENTATION</a:t>
            </a:r>
            <a:endParaRPr lang="en-US" sz="1050" dirty="0"/>
          </a:p>
        </p:txBody>
      </p:sp>
      <p:sp>
        <p:nvSpPr>
          <p:cNvPr id="5" name="Text 0"/>
          <p:cNvSpPr>
            <a:spLocks noGrp="1"/>
          </p:cNvSpPr>
          <p:nvPr>
            <p:ph type="title" idx="100" hasCustomPrompt="1"/>
          </p:nvPr>
        </p:nvSpPr>
        <p:spPr>
          <a:xfrm>
            <a:off x="548640" y="521208"/>
            <a:ext cx="11091672"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Implementation Checklist</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35547" cy="4535424"/>
        </p:xfrm>
        <a:graphic>
          <a:graphicData uri="http://schemas.openxmlformats.org/drawingml/2006/table">
            <a:tbl>
              <a:tblPr/>
              <a:tblGrid>
                <a:gridCol w="2145182">
                  <a:extLst>
                    <a:ext uri="{9D8B030D-6E8A-4147-A177-3AD203B41FA5}">
                      <a16:colId xmlns:a16="http://schemas.microsoft.com/office/drawing/2014/main" val="20000"/>
                    </a:ext>
                  </a:extLst>
                </a:gridCol>
                <a:gridCol w="2145182">
                  <a:extLst>
                    <a:ext uri="{9D8B030D-6E8A-4147-A177-3AD203B41FA5}">
                      <a16:colId xmlns:a16="http://schemas.microsoft.com/office/drawing/2014/main" val="20001"/>
                    </a:ext>
                  </a:extLst>
                </a:gridCol>
                <a:gridCol w="2145182">
                  <a:extLst>
                    <a:ext uri="{9D8B030D-6E8A-4147-A177-3AD203B41FA5}">
                      <a16:colId xmlns:a16="http://schemas.microsoft.com/office/drawing/2014/main" val="20002"/>
                    </a:ext>
                  </a:extLst>
                </a:gridCol>
              </a:tblGrid>
              <a:tr h="566928">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Step</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Owner</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Confirm Epic Fabric workspace access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PM / Epic AM</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Verify consumer Entra ID configuration</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IT / Identity</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Accept B2B invitations or configure CTAP</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IT / Identity</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Confirm Fabric licence in Epic's 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Epic AM</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4"/>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5</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Validate Fabric item access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Analytics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Apply data governance controls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Security</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6"/>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7</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Document network / CA requirements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IT / Network</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7"/>
                  </a:ext>
                </a:extLst>
              </a:tr>
            </a:tbl>
          </a:graphicData>
        </a:graphic>
      </p:graphicFrame>
      <p:sp>
        <p:nvSpPr>
          <p:cNvPr id="7" name="Shape 3"/>
          <p:cNvSpPr/>
          <p:nvPr/>
        </p:nvSpPr>
        <p:spPr>
          <a:xfrm>
            <a:off x="7349947" y="1463040"/>
            <a:ext cx="4290365" cy="3090672"/>
          </a:xfrm>
          <a:prstGeom prst="rect">
            <a:avLst/>
          </a:prstGeom>
          <a:solidFill>
            <a:srgbClr val="1A7A8A"/>
          </a:solidFill>
          <a:ln/>
          <a:effectLst>
            <a:outerShdw blurRad="67729" dist="16929" dir="8100000" algn="bl" rotWithShape="0">
              <a:srgbClr val="DCE0E6">
                <a:alpha val="8000"/>
              </a:srgbClr>
            </a:outerShdw>
          </a:effectLst>
        </p:spPr>
        <p:txBody>
          <a:bodyPr/>
          <a:lstStyle/>
          <a:p>
            <a:endParaRPr lang="en-US"/>
          </a:p>
        </p:txBody>
      </p:sp>
      <p:sp>
        <p:nvSpPr>
          <p:cNvPr id="8" name="Shape 4"/>
          <p:cNvSpPr/>
          <p:nvPr/>
        </p:nvSpPr>
        <p:spPr>
          <a:xfrm>
            <a:off x="7400239" y="1463040"/>
            <a:ext cx="4240073" cy="3090672"/>
          </a:xfrm>
          <a:prstGeom prst="rect">
            <a:avLst/>
          </a:prstGeom>
          <a:solidFill>
            <a:srgbClr val="F2F4F7"/>
          </a:solidFill>
          <a:ln w="9525">
            <a:solidFill>
              <a:srgbClr val="DCE0E6"/>
            </a:solidFill>
            <a:prstDash val="solid"/>
          </a:ln>
        </p:spPr>
        <p:txBody>
          <a:bodyPr/>
          <a:lstStyle/>
          <a:p>
            <a:endParaRPr lang="en-US"/>
          </a:p>
        </p:txBody>
      </p:sp>
      <p:sp>
        <p:nvSpPr>
          <p:cNvPr id="9" name="Text 5"/>
          <p:cNvSpPr/>
          <p:nvPr/>
        </p:nvSpPr>
        <p:spPr>
          <a:xfrm>
            <a:off x="7551115" y="1664208"/>
            <a:ext cx="3888029" cy="419100"/>
          </a:xfrm>
          <a:prstGeom prst="rect">
            <a:avLst/>
          </a:prstGeom>
          <a:noFill/>
          <a:ln/>
        </p:spPr>
        <p:txBody>
          <a:bodyPr wrap="square" rtlCol="0" anchor="t"/>
          <a:lstStyle/>
          <a:p>
            <a:pPr marL="0" indent="0" algn="l">
              <a:buNone/>
            </a:pPr>
            <a:r>
              <a:rPr lang="en-US" sz="2200" b="1" dirty="0">
                <a:solidFill>
                  <a:srgbClr val="0B1D3A"/>
                </a:solidFill>
                <a:latin typeface="Inter" pitchFamily="34" charset="0"/>
                <a:ea typeface="Inter" pitchFamily="34" charset="-122"/>
                <a:cs typeface="Inter" pitchFamily="34" charset="-120"/>
              </a:rPr>
              <a:t>Key Dependencies</a:t>
            </a:r>
            <a:endParaRPr lang="en-US" sz="22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96835" y="2281428"/>
            <a:ext cx="182880" cy="182880"/>
          </a:xfrm>
          <a:prstGeom prst="rect">
            <a:avLst/>
          </a:prstGeom>
        </p:spPr>
      </p:pic>
      <p:sp>
        <p:nvSpPr>
          <p:cNvPr id="11" name="Text 6"/>
          <p:cNvSpPr/>
          <p:nvPr/>
        </p:nvSpPr>
        <p:spPr>
          <a:xfrm>
            <a:off x="7728915" y="2174748"/>
            <a:ext cx="3710229" cy="792480"/>
          </a:xfrm>
          <a:prstGeom prst="rect">
            <a:avLst/>
          </a:prstGeom>
          <a:noFill/>
          <a:ln/>
        </p:spPr>
        <p:txBody>
          <a:bodyPr wrap="square" rtlCol="0" anchor="t"/>
          <a:lstStyle/>
          <a:p>
            <a:pPr marL="0" indent="0">
              <a:buNone/>
            </a:pPr>
            <a:r>
              <a:rPr lang="en-US" sz="1600" dirty="0">
                <a:solidFill>
                  <a:srgbClr val="3A4A5E"/>
                </a:solidFill>
                <a:latin typeface="Inter" pitchFamily="34" charset="0"/>
                <a:ea typeface="Inter" pitchFamily="34" charset="-122"/>
                <a:cs typeface="Inter" pitchFamily="34" charset="-120"/>
              </a:rPr>
              <a:t>Steps 1 and 4 require Epic account management confirmation</a:t>
            </a:r>
            <a:endParaRPr lang="en-US" sz="1600"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6835" y="3073908"/>
            <a:ext cx="182880" cy="182880"/>
          </a:xfrm>
          <a:prstGeom prst="rect">
            <a:avLst/>
          </a:prstGeom>
        </p:spPr>
      </p:pic>
      <p:sp>
        <p:nvSpPr>
          <p:cNvPr id="13" name="Text 7"/>
          <p:cNvSpPr/>
          <p:nvPr/>
        </p:nvSpPr>
        <p:spPr>
          <a:xfrm>
            <a:off x="7728915" y="2967228"/>
            <a:ext cx="3710229" cy="548640"/>
          </a:xfrm>
          <a:prstGeom prst="rect">
            <a:avLst/>
          </a:prstGeom>
          <a:noFill/>
          <a:ln/>
        </p:spPr>
        <p:txBody>
          <a:bodyPr wrap="square" rtlCol="0" anchor="t"/>
          <a:lstStyle/>
          <a:p>
            <a:pPr marL="0" indent="0">
              <a:buNone/>
            </a:pPr>
            <a:r>
              <a:rPr lang="en-US" sz="1600" dirty="0">
                <a:solidFill>
                  <a:srgbClr val="3A4A5E"/>
                </a:solidFill>
                <a:latin typeface="Inter" pitchFamily="34" charset="0"/>
                <a:ea typeface="Inter" pitchFamily="34" charset="-122"/>
                <a:cs typeface="Inter" pitchFamily="34" charset="-120"/>
              </a:rPr>
              <a:t>Steps 2-3 are customer-side Entra ID configuration</a:t>
            </a:r>
            <a:endParaRPr lang="en-US" sz="16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96835" y="3622548"/>
            <a:ext cx="182880" cy="182880"/>
          </a:xfrm>
          <a:prstGeom prst="rect">
            <a:avLst/>
          </a:prstGeom>
        </p:spPr>
      </p:pic>
      <p:sp>
        <p:nvSpPr>
          <p:cNvPr id="15" name="Text 8"/>
          <p:cNvSpPr/>
          <p:nvPr/>
        </p:nvSpPr>
        <p:spPr>
          <a:xfrm>
            <a:off x="7728915" y="3515868"/>
            <a:ext cx="3710229" cy="548640"/>
          </a:xfrm>
          <a:prstGeom prst="rect">
            <a:avLst/>
          </a:prstGeom>
          <a:noFill/>
          <a:ln/>
        </p:spPr>
        <p:txBody>
          <a:bodyPr wrap="square" rtlCol="0" anchor="t"/>
          <a:lstStyle/>
          <a:p>
            <a:pPr marL="0" indent="0">
              <a:buNone/>
            </a:pPr>
            <a:r>
              <a:rPr lang="en-US" sz="1600" dirty="0">
                <a:solidFill>
                  <a:srgbClr val="3A4A5E"/>
                </a:solidFill>
                <a:latin typeface="Inter" pitchFamily="34" charset="0"/>
                <a:ea typeface="Inter" pitchFamily="34" charset="-122"/>
                <a:cs typeface="Inter" pitchFamily="34" charset="-120"/>
              </a:rPr>
              <a:t>Steps 6-7 ensure security and compliance posture</a:t>
            </a:r>
            <a:endParaRPr lang="en-US" sz="1600" dirty="0"/>
          </a:p>
        </p:txBody>
      </p:sp>
      <p:sp>
        <p:nvSpPr>
          <p:cNvPr id="16" name="Text 9"/>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17" name="Text 10"/>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548640" y="228600"/>
            <a:ext cx="182880" cy="182880"/>
          </a:xfrm>
          <a:prstGeom prst="rect">
            <a:avLst/>
          </a:prstGeom>
          <a:solidFill>
            <a:srgbClr val="1A7A8A"/>
          </a:solidFill>
          <a:ln/>
        </p:spPr>
        <p:txBody>
          <a:bodyPr/>
          <a:lstStyle/>
          <a:p>
            <a:endParaRPr lang="en-US"/>
          </a:p>
        </p:txBody>
      </p:sp>
      <p:sp>
        <p:nvSpPr>
          <p:cNvPr id="4" name="Text 1"/>
          <p:cNvSpPr/>
          <p:nvPr/>
        </p:nvSpPr>
        <p:spPr>
          <a:xfrm>
            <a:off x="841248" y="228600"/>
            <a:ext cx="10799064"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SECURITY</a:t>
            </a:r>
            <a:endParaRPr lang="en-US" sz="1050" dirty="0"/>
          </a:p>
        </p:txBody>
      </p:sp>
      <p:sp>
        <p:nvSpPr>
          <p:cNvPr id="5" name="Text 0"/>
          <p:cNvSpPr>
            <a:spLocks noGrp="1"/>
          </p:cNvSpPr>
          <p:nvPr>
            <p:ph type="title" idx="100" hasCustomPrompt="1"/>
          </p:nvPr>
        </p:nvSpPr>
        <p:spPr>
          <a:xfrm>
            <a:off x="548640" y="521208"/>
            <a:ext cx="11091672"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Security &amp; Governance Considerations</a:t>
            </a:r>
            <a:endParaRPr lang="en-US" sz="2200" dirty="0"/>
          </a:p>
        </p:txBody>
      </p:sp>
      <p:sp>
        <p:nvSpPr>
          <p:cNvPr id="6" name="Shape 3"/>
          <p:cNvSpPr/>
          <p:nvPr/>
        </p:nvSpPr>
        <p:spPr>
          <a:xfrm>
            <a:off x="548640" y="1508760"/>
            <a:ext cx="5440680" cy="2272284"/>
          </a:xfrm>
          <a:prstGeom prst="rect">
            <a:avLst/>
          </a:prstGeom>
          <a:solidFill>
            <a:srgbClr val="1A7A8A"/>
          </a:solidFill>
          <a:ln/>
          <a:effectLst>
            <a:outerShdw blurRad="101600" dist="33871" dir="8100000" algn="bl" rotWithShape="0">
              <a:srgbClr val="DCE0E6">
                <a:alpha val="12000"/>
              </a:srgbClr>
            </a:outerShdw>
          </a:effectLst>
        </p:spPr>
        <p:txBody>
          <a:bodyPr/>
          <a:lstStyle/>
          <a:p>
            <a:endParaRPr lang="en-US"/>
          </a:p>
        </p:txBody>
      </p:sp>
      <p:sp>
        <p:nvSpPr>
          <p:cNvPr id="7" name="Shape 4"/>
          <p:cNvSpPr/>
          <p:nvPr/>
        </p:nvSpPr>
        <p:spPr>
          <a:xfrm>
            <a:off x="587045" y="1508760"/>
            <a:ext cx="5402275" cy="2272284"/>
          </a:xfrm>
          <a:prstGeom prst="rect">
            <a:avLst/>
          </a:prstGeom>
          <a:solidFill>
            <a:srgbClr val="F2F4F7"/>
          </a:solidFill>
          <a:ln w="9525">
            <a:solidFill>
              <a:srgbClr val="DCE0E6"/>
            </a:solidFill>
            <a:prstDash val="solid"/>
          </a:ln>
        </p:spPr>
        <p:txBody>
          <a:bodyPr/>
          <a:lstStyle/>
          <a:p>
            <a:endParaRPr lang="en-US"/>
          </a:p>
        </p:txBody>
      </p:sp>
      <p:sp>
        <p:nvSpPr>
          <p:cNvPr id="8" name="Shape 5"/>
          <p:cNvSpPr/>
          <p:nvPr/>
        </p:nvSpPr>
        <p:spPr>
          <a:xfrm>
            <a:off x="815645" y="1737360"/>
            <a:ext cx="475488" cy="475488"/>
          </a:xfrm>
          <a:prstGeom prst="roundRect">
            <a:avLst>
              <a:gd name="adj" fmla="val 24038"/>
            </a:avLst>
          </a:prstGeom>
          <a:solidFill>
            <a:srgbClr val="1A7A8A">
              <a:alpha val="14000"/>
            </a:srgbClr>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73" y="1847088"/>
            <a:ext cx="256032" cy="256032"/>
          </a:xfrm>
          <a:prstGeom prst="rect">
            <a:avLst/>
          </a:prstGeom>
        </p:spPr>
      </p:pic>
      <p:sp>
        <p:nvSpPr>
          <p:cNvPr id="10" name="Text 6"/>
          <p:cNvSpPr/>
          <p:nvPr/>
        </p:nvSpPr>
        <p:spPr>
          <a:xfrm>
            <a:off x="815645" y="2368296"/>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Conditional Access</a:t>
            </a:r>
            <a:endParaRPr lang="en-US" sz="1500" dirty="0"/>
          </a:p>
        </p:txBody>
      </p:sp>
      <p:sp>
        <p:nvSpPr>
          <p:cNvPr id="11" name="Text 7"/>
          <p:cNvSpPr/>
          <p:nvPr/>
        </p:nvSpPr>
        <p:spPr>
          <a:xfrm>
            <a:off x="815645" y="2752344"/>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Epic's CA policies apply to guest sessions: MFA, device compliance, location restrictions</a:t>
            </a:r>
            <a:endParaRPr lang="en-US" sz="1360" dirty="0"/>
          </a:p>
        </p:txBody>
      </p:sp>
      <p:sp>
        <p:nvSpPr>
          <p:cNvPr id="12" name="Shape 8"/>
          <p:cNvSpPr/>
          <p:nvPr/>
        </p:nvSpPr>
        <p:spPr>
          <a:xfrm>
            <a:off x="6199632" y="1508760"/>
            <a:ext cx="5440680" cy="2272284"/>
          </a:xfrm>
          <a:prstGeom prst="rect">
            <a:avLst/>
          </a:prstGeom>
          <a:solidFill>
            <a:srgbClr val="2E5FA8"/>
          </a:solidFill>
          <a:ln/>
          <a:effectLst>
            <a:outerShdw blurRad="101600" dist="33871" dir="8100000" algn="bl" rotWithShape="0">
              <a:srgbClr val="DCE0E6">
                <a:alpha val="12000"/>
              </a:srgbClr>
            </a:outerShdw>
          </a:effectLst>
        </p:spPr>
        <p:txBody>
          <a:bodyPr/>
          <a:lstStyle/>
          <a:p>
            <a:endParaRPr lang="en-US"/>
          </a:p>
        </p:txBody>
      </p:sp>
      <p:sp>
        <p:nvSpPr>
          <p:cNvPr id="13" name="Shape 9"/>
          <p:cNvSpPr/>
          <p:nvPr/>
        </p:nvSpPr>
        <p:spPr>
          <a:xfrm>
            <a:off x="6238037" y="1508760"/>
            <a:ext cx="5402275" cy="2272284"/>
          </a:xfrm>
          <a:prstGeom prst="rect">
            <a:avLst/>
          </a:prstGeom>
          <a:solidFill>
            <a:srgbClr val="F2F4F7"/>
          </a:solidFill>
          <a:ln w="9525">
            <a:solidFill>
              <a:srgbClr val="DCE0E6"/>
            </a:solidFill>
            <a:prstDash val="solid"/>
          </a:ln>
        </p:spPr>
        <p:txBody>
          <a:bodyPr/>
          <a:lstStyle/>
          <a:p>
            <a:endParaRPr lang="en-US"/>
          </a:p>
        </p:txBody>
      </p:sp>
      <p:sp>
        <p:nvSpPr>
          <p:cNvPr id="14" name="Shape 10"/>
          <p:cNvSpPr/>
          <p:nvPr/>
        </p:nvSpPr>
        <p:spPr>
          <a:xfrm>
            <a:off x="6466637" y="1737360"/>
            <a:ext cx="475488" cy="475488"/>
          </a:xfrm>
          <a:prstGeom prst="roundRect">
            <a:avLst>
              <a:gd name="adj" fmla="val 24038"/>
            </a:avLst>
          </a:prstGeom>
          <a:solidFill>
            <a:srgbClr val="2E5FA8">
              <a:alpha val="14000"/>
            </a:srgbClr>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365" y="1847088"/>
            <a:ext cx="256032" cy="256032"/>
          </a:xfrm>
          <a:prstGeom prst="rect">
            <a:avLst/>
          </a:prstGeom>
        </p:spPr>
      </p:pic>
      <p:sp>
        <p:nvSpPr>
          <p:cNvPr id="16" name="Text 11"/>
          <p:cNvSpPr/>
          <p:nvPr/>
        </p:nvSpPr>
        <p:spPr>
          <a:xfrm>
            <a:off x="6466637" y="2368296"/>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Data Loss Prevention</a:t>
            </a:r>
            <a:endParaRPr lang="en-US" sz="1500" dirty="0"/>
          </a:p>
        </p:txBody>
      </p:sp>
      <p:sp>
        <p:nvSpPr>
          <p:cNvPr id="17" name="Text 12"/>
          <p:cNvSpPr/>
          <p:nvPr/>
        </p:nvSpPr>
        <p:spPr>
          <a:xfrm>
            <a:off x="6466637" y="2752344"/>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Sensitivity labels and DLP policies in Epic's tenant govern classification and export controls</a:t>
            </a:r>
            <a:endParaRPr lang="en-US" sz="1360" dirty="0"/>
          </a:p>
        </p:txBody>
      </p:sp>
      <p:sp>
        <p:nvSpPr>
          <p:cNvPr id="18" name="Shape 13"/>
          <p:cNvSpPr/>
          <p:nvPr/>
        </p:nvSpPr>
        <p:spPr>
          <a:xfrm>
            <a:off x="548640" y="3991356"/>
            <a:ext cx="5440680" cy="2272284"/>
          </a:xfrm>
          <a:prstGeom prst="rect">
            <a:avLst/>
          </a:prstGeom>
          <a:solidFill>
            <a:srgbClr val="4AAFB8"/>
          </a:solidFill>
          <a:ln/>
          <a:effectLst>
            <a:outerShdw blurRad="101600" dist="33871" dir="8100000" algn="bl" rotWithShape="0">
              <a:srgbClr val="DCE0E6">
                <a:alpha val="12000"/>
              </a:srgbClr>
            </a:outerShdw>
          </a:effectLst>
        </p:spPr>
        <p:txBody>
          <a:bodyPr/>
          <a:lstStyle/>
          <a:p>
            <a:endParaRPr lang="en-US"/>
          </a:p>
        </p:txBody>
      </p:sp>
      <p:sp>
        <p:nvSpPr>
          <p:cNvPr id="19" name="Shape 14"/>
          <p:cNvSpPr/>
          <p:nvPr/>
        </p:nvSpPr>
        <p:spPr>
          <a:xfrm>
            <a:off x="587045" y="3991356"/>
            <a:ext cx="5402275" cy="2272284"/>
          </a:xfrm>
          <a:prstGeom prst="rect">
            <a:avLst/>
          </a:prstGeom>
          <a:solidFill>
            <a:srgbClr val="F2F4F7"/>
          </a:solidFill>
          <a:ln w="9525">
            <a:solidFill>
              <a:srgbClr val="DCE0E6"/>
            </a:solidFill>
            <a:prstDash val="solid"/>
          </a:ln>
        </p:spPr>
        <p:txBody>
          <a:bodyPr/>
          <a:lstStyle/>
          <a:p>
            <a:endParaRPr lang="en-US"/>
          </a:p>
        </p:txBody>
      </p:sp>
      <p:sp>
        <p:nvSpPr>
          <p:cNvPr id="20" name="Shape 15"/>
          <p:cNvSpPr/>
          <p:nvPr/>
        </p:nvSpPr>
        <p:spPr>
          <a:xfrm>
            <a:off x="815645" y="4219956"/>
            <a:ext cx="475488" cy="475488"/>
          </a:xfrm>
          <a:prstGeom prst="roundRect">
            <a:avLst>
              <a:gd name="adj" fmla="val 24038"/>
            </a:avLst>
          </a:prstGeom>
          <a:solidFill>
            <a:srgbClr val="4AAFB8">
              <a:alpha val="14000"/>
            </a:srgbClr>
          </a:solidFill>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373" y="4329684"/>
            <a:ext cx="256032" cy="256032"/>
          </a:xfrm>
          <a:prstGeom prst="rect">
            <a:avLst/>
          </a:prstGeom>
        </p:spPr>
      </p:pic>
      <p:sp>
        <p:nvSpPr>
          <p:cNvPr id="22" name="Text 16"/>
          <p:cNvSpPr/>
          <p:nvPr/>
        </p:nvSpPr>
        <p:spPr>
          <a:xfrm>
            <a:off x="815645" y="4850892"/>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Audit Logging</a:t>
            </a:r>
            <a:endParaRPr lang="en-US" sz="1500" dirty="0"/>
          </a:p>
        </p:txBody>
      </p:sp>
      <p:sp>
        <p:nvSpPr>
          <p:cNvPr id="23" name="Text 17"/>
          <p:cNvSpPr/>
          <p:nvPr/>
        </p:nvSpPr>
        <p:spPr>
          <a:xfrm>
            <a:off x="815645" y="5234940"/>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Fabric audit logs record guest activity; request periodic access-review reports from Epic</a:t>
            </a:r>
            <a:endParaRPr lang="en-US" sz="1360" dirty="0"/>
          </a:p>
        </p:txBody>
      </p:sp>
      <p:sp>
        <p:nvSpPr>
          <p:cNvPr id="24" name="Shape 18"/>
          <p:cNvSpPr/>
          <p:nvPr/>
        </p:nvSpPr>
        <p:spPr>
          <a:xfrm>
            <a:off x="6199632" y="3991356"/>
            <a:ext cx="5440680" cy="2272284"/>
          </a:xfrm>
          <a:prstGeom prst="rect">
            <a:avLst/>
          </a:prstGeom>
          <a:solidFill>
            <a:srgbClr val="6B8DC8"/>
          </a:solidFill>
          <a:ln/>
          <a:effectLst>
            <a:outerShdw blurRad="101600" dist="33871" dir="8100000" algn="bl" rotWithShape="0">
              <a:srgbClr val="DCE0E6">
                <a:alpha val="12000"/>
              </a:srgbClr>
            </a:outerShdw>
          </a:effectLst>
        </p:spPr>
        <p:txBody>
          <a:bodyPr/>
          <a:lstStyle/>
          <a:p>
            <a:endParaRPr lang="en-US"/>
          </a:p>
        </p:txBody>
      </p:sp>
      <p:sp>
        <p:nvSpPr>
          <p:cNvPr id="25" name="Shape 19"/>
          <p:cNvSpPr/>
          <p:nvPr/>
        </p:nvSpPr>
        <p:spPr>
          <a:xfrm>
            <a:off x="6238037" y="3991356"/>
            <a:ext cx="5402275" cy="2272284"/>
          </a:xfrm>
          <a:prstGeom prst="rect">
            <a:avLst/>
          </a:prstGeom>
          <a:solidFill>
            <a:srgbClr val="F2F4F7"/>
          </a:solidFill>
          <a:ln w="9525">
            <a:solidFill>
              <a:srgbClr val="DCE0E6"/>
            </a:solidFill>
            <a:prstDash val="solid"/>
          </a:ln>
        </p:spPr>
        <p:txBody>
          <a:bodyPr/>
          <a:lstStyle/>
          <a:p>
            <a:endParaRPr lang="en-US"/>
          </a:p>
        </p:txBody>
      </p:sp>
      <p:sp>
        <p:nvSpPr>
          <p:cNvPr id="26" name="Shape 20"/>
          <p:cNvSpPr/>
          <p:nvPr/>
        </p:nvSpPr>
        <p:spPr>
          <a:xfrm>
            <a:off x="6466637" y="4219956"/>
            <a:ext cx="475488" cy="475488"/>
          </a:xfrm>
          <a:prstGeom prst="roundRect">
            <a:avLst>
              <a:gd name="adj" fmla="val 24038"/>
            </a:avLst>
          </a:prstGeom>
          <a:solidFill>
            <a:srgbClr val="6B8DC8">
              <a:alpha val="14000"/>
            </a:srgbClr>
          </a:solidFill>
          <a:ln/>
        </p:spPr>
        <p:txBody>
          <a:bodyPr/>
          <a:lstStyle/>
          <a:p>
            <a:endParaRPr lang="en-US"/>
          </a:p>
        </p:txBody>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6365" y="4329684"/>
            <a:ext cx="256032" cy="256032"/>
          </a:xfrm>
          <a:prstGeom prst="rect">
            <a:avLst/>
          </a:prstGeom>
        </p:spPr>
      </p:pic>
      <p:sp>
        <p:nvSpPr>
          <p:cNvPr id="28" name="Text 21"/>
          <p:cNvSpPr/>
          <p:nvPr/>
        </p:nvSpPr>
        <p:spPr>
          <a:xfrm>
            <a:off x="6466637" y="4850892"/>
            <a:ext cx="4945075" cy="292608"/>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Lifecycle Management</a:t>
            </a:r>
            <a:endParaRPr lang="en-US" sz="1500" dirty="0"/>
          </a:p>
        </p:txBody>
      </p:sp>
      <p:sp>
        <p:nvSpPr>
          <p:cNvPr id="29" name="Text 22"/>
          <p:cNvSpPr/>
          <p:nvPr/>
        </p:nvSpPr>
        <p:spPr>
          <a:xfrm>
            <a:off x="6466637" y="5234940"/>
            <a:ext cx="4945075" cy="466344"/>
          </a:xfrm>
          <a:prstGeom prst="rect">
            <a:avLst/>
          </a:prstGeom>
          <a:noFill/>
          <a:ln/>
        </p:spPr>
        <p:txBody>
          <a:bodyPr wrap="square" rtlCol="0" anchor="t"/>
          <a:lstStyle/>
          <a:p>
            <a:pPr marL="0" indent="0" algn="l">
              <a:buNone/>
            </a:pPr>
            <a:r>
              <a:rPr lang="en-US" sz="1360" dirty="0">
                <a:solidFill>
                  <a:srgbClr val="3A4A5E"/>
                </a:solidFill>
                <a:latin typeface="Inter" pitchFamily="34" charset="0"/>
                <a:ea typeface="Inter" pitchFamily="34" charset="-122"/>
                <a:cs typeface="Inter" pitchFamily="34" charset="-120"/>
              </a:rPr>
              <a:t>B2B guest accounts require expiry and access-review policies to prevent stale accounts</a:t>
            </a:r>
            <a:endParaRPr lang="en-US" sz="1360" dirty="0"/>
          </a:p>
        </p:txBody>
      </p:sp>
      <p:sp>
        <p:nvSpPr>
          <p:cNvPr id="30" name="Text 23"/>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31" name="Text 24"/>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685800" y="393192"/>
            <a:ext cx="182880" cy="182880"/>
          </a:xfrm>
          <a:prstGeom prst="rect">
            <a:avLst/>
          </a:prstGeom>
          <a:solidFill>
            <a:srgbClr val="1A7A8A"/>
          </a:solidFill>
          <a:ln/>
        </p:spPr>
        <p:txBody>
          <a:bodyPr/>
          <a:lstStyle/>
          <a:p>
            <a:endParaRPr lang="en-US"/>
          </a:p>
        </p:txBody>
      </p:sp>
      <p:sp>
        <p:nvSpPr>
          <p:cNvPr id="4" name="Text 1"/>
          <p:cNvSpPr/>
          <p:nvPr/>
        </p:nvSpPr>
        <p:spPr>
          <a:xfrm>
            <a:off x="978408" y="393192"/>
            <a:ext cx="10527487"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CONTINGENCY</a:t>
            </a:r>
            <a:endParaRPr lang="en-US" sz="1050" dirty="0"/>
          </a:p>
        </p:txBody>
      </p:sp>
      <p:sp>
        <p:nvSpPr>
          <p:cNvPr id="5" name="Text 0"/>
          <p:cNvSpPr>
            <a:spLocks noGrp="1"/>
          </p:cNvSpPr>
          <p:nvPr>
            <p:ph type="title" idx="100" hasCustomPrompt="1"/>
          </p:nvPr>
        </p:nvSpPr>
        <p:spPr>
          <a:xfrm>
            <a:off x="685800" y="685800"/>
            <a:ext cx="10820095"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Fallback Architecture</a:t>
            </a:r>
            <a:endParaRPr lang="en-US" sz="2200" dirty="0"/>
          </a:p>
        </p:txBody>
      </p:sp>
      <p:sp>
        <p:nvSpPr>
          <p:cNvPr id="6" name="Shape 3"/>
          <p:cNvSpPr/>
          <p:nvPr/>
        </p:nvSpPr>
        <p:spPr>
          <a:xfrm>
            <a:off x="685800" y="1620317"/>
            <a:ext cx="2533802" cy="3637483"/>
          </a:xfrm>
          <a:prstGeom prst="roundRect">
            <a:avLst>
              <a:gd name="adj" fmla="val 6767"/>
            </a:avLst>
          </a:prstGeom>
          <a:solidFill>
            <a:srgbClr val="F2F4F7"/>
          </a:solidFill>
          <a:ln w="12700">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7" name="Text 4"/>
          <p:cNvSpPr/>
          <p:nvPr/>
        </p:nvSpPr>
        <p:spPr>
          <a:xfrm>
            <a:off x="932688" y="1839773"/>
            <a:ext cx="2040026" cy="457200"/>
          </a:xfrm>
          <a:prstGeom prst="rect">
            <a:avLst/>
          </a:prstGeom>
          <a:noFill/>
          <a:ln/>
        </p:spPr>
        <p:txBody>
          <a:bodyPr wrap="square" rtlCol="0" anchor="t"/>
          <a:lstStyle/>
          <a:p>
            <a:pPr marL="0" indent="0" algn="r">
              <a:buNone/>
            </a:pPr>
            <a:r>
              <a:rPr lang="en-US" sz="2500" b="1" dirty="0">
                <a:solidFill>
                  <a:srgbClr val="1A7A8A">
                    <a:alpha val="35000"/>
                  </a:srgbClr>
                </a:solidFill>
                <a:latin typeface="Poppins" pitchFamily="34" charset="0"/>
                <a:ea typeface="Poppins" pitchFamily="34" charset="-122"/>
                <a:cs typeface="Poppins" pitchFamily="34" charset="-120"/>
              </a:rPr>
              <a:t>01</a:t>
            </a:r>
            <a:endParaRPr lang="en-US" sz="2500" dirty="0"/>
          </a:p>
        </p:txBody>
      </p:sp>
      <p:sp>
        <p:nvSpPr>
          <p:cNvPr id="8" name="Shape 5"/>
          <p:cNvSpPr/>
          <p:nvPr/>
        </p:nvSpPr>
        <p:spPr>
          <a:xfrm>
            <a:off x="942746" y="1915668"/>
            <a:ext cx="552298" cy="552298"/>
          </a:xfrm>
          <a:prstGeom prst="roundRect">
            <a:avLst>
              <a:gd name="adj" fmla="val 24172"/>
            </a:avLst>
          </a:prstGeom>
          <a:solidFill>
            <a:srgbClr val="1A7A8A">
              <a:alpha val="14000"/>
            </a:srgbClr>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6020" y="2048942"/>
            <a:ext cx="285750" cy="285750"/>
          </a:xfrm>
          <a:prstGeom prst="rect">
            <a:avLst/>
          </a:prstGeom>
        </p:spPr>
      </p:pic>
      <p:sp>
        <p:nvSpPr>
          <p:cNvPr id="10" name="Text 6"/>
          <p:cNvSpPr/>
          <p:nvPr/>
        </p:nvSpPr>
        <p:spPr>
          <a:xfrm>
            <a:off x="942746" y="2580437"/>
            <a:ext cx="2018995" cy="548640"/>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Provision Capacity</a:t>
            </a:r>
            <a:endParaRPr lang="en-US" sz="1500" dirty="0"/>
          </a:p>
        </p:txBody>
      </p:sp>
      <p:sp>
        <p:nvSpPr>
          <p:cNvPr id="11" name="Text 7"/>
          <p:cNvSpPr/>
          <p:nvPr/>
        </p:nvSpPr>
        <p:spPr>
          <a:xfrm>
            <a:off x="942746" y="3174797"/>
            <a:ext cx="2018995" cy="569595"/>
          </a:xfrm>
          <a:prstGeom prst="rect">
            <a:avLst/>
          </a:prstGeom>
          <a:noFill/>
          <a:ln/>
        </p:spPr>
        <p:txBody>
          <a:bodyPr wrap="square" rtlCol="0" anchor="t"/>
          <a:lstStyle/>
          <a:p>
            <a:pPr marL="0" indent="0" algn="l">
              <a:spcAft>
                <a:spcPts val="480"/>
              </a:spcAft>
              <a:buNone/>
            </a:pPr>
            <a:r>
              <a:rPr lang="en-US" sz="1150" dirty="0">
                <a:solidFill>
                  <a:srgbClr val="4A5568"/>
                </a:solidFill>
                <a:latin typeface="Inter" pitchFamily="34" charset="0"/>
                <a:ea typeface="Inter" pitchFamily="34" charset="-122"/>
                <a:cs typeface="Inter" pitchFamily="34" charset="-120"/>
              </a:rPr>
              <a:t>Deploy own Fabric capacity in customer Azure subscription</a:t>
            </a:r>
            <a:endParaRPr lang="en-US" sz="1150" dirty="0"/>
          </a:p>
        </p:txBody>
      </p:sp>
      <p:sp>
        <p:nvSpPr>
          <p:cNvPr id="12" name="Shape 8"/>
          <p:cNvSpPr/>
          <p:nvPr/>
        </p:nvSpPr>
        <p:spPr>
          <a:xfrm>
            <a:off x="3448202" y="1620317"/>
            <a:ext cx="2533802" cy="3637483"/>
          </a:xfrm>
          <a:prstGeom prst="roundRect">
            <a:avLst>
              <a:gd name="adj" fmla="val 6767"/>
            </a:avLst>
          </a:prstGeom>
          <a:solidFill>
            <a:srgbClr val="F2F4F7"/>
          </a:solidFill>
          <a:ln w="12700">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13" name="Text 9"/>
          <p:cNvSpPr/>
          <p:nvPr/>
        </p:nvSpPr>
        <p:spPr>
          <a:xfrm>
            <a:off x="3695090" y="1839773"/>
            <a:ext cx="2040026" cy="457200"/>
          </a:xfrm>
          <a:prstGeom prst="rect">
            <a:avLst/>
          </a:prstGeom>
          <a:noFill/>
          <a:ln/>
        </p:spPr>
        <p:txBody>
          <a:bodyPr wrap="square" rtlCol="0" anchor="t"/>
          <a:lstStyle/>
          <a:p>
            <a:pPr marL="0" indent="0" algn="r">
              <a:buNone/>
            </a:pPr>
            <a:r>
              <a:rPr lang="en-US" sz="2500" b="1" dirty="0">
                <a:solidFill>
                  <a:srgbClr val="2E5FA8">
                    <a:alpha val="35000"/>
                  </a:srgbClr>
                </a:solidFill>
                <a:latin typeface="Poppins" pitchFamily="34" charset="0"/>
                <a:ea typeface="Poppins" pitchFamily="34" charset="-122"/>
                <a:cs typeface="Poppins" pitchFamily="34" charset="-120"/>
              </a:rPr>
              <a:t>02</a:t>
            </a:r>
            <a:endParaRPr lang="en-US" sz="2500" dirty="0"/>
          </a:p>
        </p:txBody>
      </p:sp>
      <p:sp>
        <p:nvSpPr>
          <p:cNvPr id="14" name="Shape 10"/>
          <p:cNvSpPr/>
          <p:nvPr/>
        </p:nvSpPr>
        <p:spPr>
          <a:xfrm>
            <a:off x="3705149" y="1915668"/>
            <a:ext cx="552298" cy="552298"/>
          </a:xfrm>
          <a:prstGeom prst="roundRect">
            <a:avLst>
              <a:gd name="adj" fmla="val 24172"/>
            </a:avLst>
          </a:prstGeom>
          <a:solidFill>
            <a:srgbClr val="2E5FA8">
              <a:alpha val="14000"/>
            </a:srgbClr>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8423" y="2048942"/>
            <a:ext cx="285750" cy="285750"/>
          </a:xfrm>
          <a:prstGeom prst="rect">
            <a:avLst/>
          </a:prstGeom>
        </p:spPr>
      </p:pic>
      <p:sp>
        <p:nvSpPr>
          <p:cNvPr id="16" name="Text 11"/>
          <p:cNvSpPr/>
          <p:nvPr/>
        </p:nvSpPr>
        <p:spPr>
          <a:xfrm>
            <a:off x="3705149" y="2580437"/>
            <a:ext cx="2018995" cy="548640"/>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Build Ingestion</a:t>
            </a:r>
            <a:endParaRPr lang="en-US" sz="1500" dirty="0"/>
          </a:p>
        </p:txBody>
      </p:sp>
      <p:sp>
        <p:nvSpPr>
          <p:cNvPr id="17" name="Text 12"/>
          <p:cNvSpPr/>
          <p:nvPr/>
        </p:nvSpPr>
        <p:spPr>
          <a:xfrm>
            <a:off x="3705149" y="3174797"/>
            <a:ext cx="2018995" cy="569595"/>
          </a:xfrm>
          <a:prstGeom prst="rect">
            <a:avLst/>
          </a:prstGeom>
          <a:noFill/>
          <a:ln/>
        </p:spPr>
        <p:txBody>
          <a:bodyPr wrap="square" rtlCol="0" anchor="t"/>
          <a:lstStyle/>
          <a:p>
            <a:pPr marL="0" indent="0" algn="l">
              <a:spcAft>
                <a:spcPts val="480"/>
              </a:spcAft>
              <a:buNone/>
            </a:pPr>
            <a:r>
              <a:rPr lang="en-US" sz="1150" dirty="0">
                <a:solidFill>
                  <a:srgbClr val="4A5568"/>
                </a:solidFill>
                <a:latin typeface="Inter" pitchFamily="34" charset="0"/>
                <a:ea typeface="Inter" pitchFamily="34" charset="-122"/>
                <a:cs typeface="Inter" pitchFamily="34" charset="-120"/>
              </a:rPr>
              <a:t>Data Factory, notebooks, or REST API to pull from Cogito</a:t>
            </a:r>
            <a:endParaRPr lang="en-US" sz="1150" dirty="0"/>
          </a:p>
        </p:txBody>
      </p:sp>
      <p:sp>
        <p:nvSpPr>
          <p:cNvPr id="18" name="Shape 13"/>
          <p:cNvSpPr/>
          <p:nvPr/>
        </p:nvSpPr>
        <p:spPr>
          <a:xfrm>
            <a:off x="6210605" y="1620317"/>
            <a:ext cx="2533802" cy="3637483"/>
          </a:xfrm>
          <a:prstGeom prst="roundRect">
            <a:avLst>
              <a:gd name="adj" fmla="val 6767"/>
            </a:avLst>
          </a:prstGeom>
          <a:solidFill>
            <a:srgbClr val="F2F4F7"/>
          </a:solidFill>
          <a:ln w="12700">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19" name="Text 14"/>
          <p:cNvSpPr/>
          <p:nvPr/>
        </p:nvSpPr>
        <p:spPr>
          <a:xfrm>
            <a:off x="6457493" y="1839773"/>
            <a:ext cx="2040026" cy="457200"/>
          </a:xfrm>
          <a:prstGeom prst="rect">
            <a:avLst/>
          </a:prstGeom>
          <a:noFill/>
          <a:ln/>
        </p:spPr>
        <p:txBody>
          <a:bodyPr wrap="square" rtlCol="0" anchor="t"/>
          <a:lstStyle/>
          <a:p>
            <a:pPr marL="0" indent="0" algn="r">
              <a:buNone/>
            </a:pPr>
            <a:r>
              <a:rPr lang="en-US" sz="2500" b="1" dirty="0">
                <a:solidFill>
                  <a:srgbClr val="4AAFB8">
                    <a:alpha val="35000"/>
                  </a:srgbClr>
                </a:solidFill>
                <a:latin typeface="Poppins" pitchFamily="34" charset="0"/>
                <a:ea typeface="Poppins" pitchFamily="34" charset="-122"/>
                <a:cs typeface="Poppins" pitchFamily="34" charset="-120"/>
              </a:rPr>
              <a:t>03</a:t>
            </a:r>
            <a:endParaRPr lang="en-US" sz="2500" dirty="0"/>
          </a:p>
        </p:txBody>
      </p:sp>
      <p:sp>
        <p:nvSpPr>
          <p:cNvPr id="20" name="Shape 15"/>
          <p:cNvSpPr/>
          <p:nvPr/>
        </p:nvSpPr>
        <p:spPr>
          <a:xfrm>
            <a:off x="6467551" y="1915668"/>
            <a:ext cx="552298" cy="552298"/>
          </a:xfrm>
          <a:prstGeom prst="roundRect">
            <a:avLst>
              <a:gd name="adj" fmla="val 24172"/>
            </a:avLst>
          </a:prstGeom>
          <a:solidFill>
            <a:srgbClr val="4AAFB8">
              <a:alpha val="14000"/>
            </a:srgbClr>
          </a:solidFill>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00825" y="2048942"/>
            <a:ext cx="285750" cy="285750"/>
          </a:xfrm>
          <a:prstGeom prst="rect">
            <a:avLst/>
          </a:prstGeom>
        </p:spPr>
      </p:pic>
      <p:sp>
        <p:nvSpPr>
          <p:cNvPr id="22" name="Text 16"/>
          <p:cNvSpPr/>
          <p:nvPr/>
        </p:nvSpPr>
        <p:spPr>
          <a:xfrm>
            <a:off x="6467551" y="2580437"/>
            <a:ext cx="2018995" cy="548640"/>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Land Data</a:t>
            </a:r>
            <a:endParaRPr lang="en-US" sz="1500" dirty="0"/>
          </a:p>
        </p:txBody>
      </p:sp>
      <p:sp>
        <p:nvSpPr>
          <p:cNvPr id="23" name="Text 17"/>
          <p:cNvSpPr/>
          <p:nvPr/>
        </p:nvSpPr>
        <p:spPr>
          <a:xfrm>
            <a:off x="6467551" y="3174797"/>
            <a:ext cx="2018995" cy="569595"/>
          </a:xfrm>
          <a:prstGeom prst="rect">
            <a:avLst/>
          </a:prstGeom>
          <a:noFill/>
          <a:ln/>
        </p:spPr>
        <p:txBody>
          <a:bodyPr wrap="square" rtlCol="0" anchor="t"/>
          <a:lstStyle/>
          <a:p>
            <a:pPr marL="0" indent="0" algn="l">
              <a:spcAft>
                <a:spcPts val="480"/>
              </a:spcAft>
              <a:buNone/>
            </a:pPr>
            <a:r>
              <a:rPr lang="en-US" sz="1150" dirty="0">
                <a:solidFill>
                  <a:srgbClr val="4A5568"/>
                </a:solidFill>
                <a:latin typeface="Inter" pitchFamily="34" charset="0"/>
                <a:ea typeface="Inter" pitchFamily="34" charset="-122"/>
                <a:cs typeface="Inter" pitchFamily="34" charset="-120"/>
              </a:rPr>
              <a:t>Store in customer-owned lakehouse or warehouse</a:t>
            </a:r>
            <a:endParaRPr lang="en-US" sz="1150" dirty="0"/>
          </a:p>
        </p:txBody>
      </p:sp>
      <p:sp>
        <p:nvSpPr>
          <p:cNvPr id="24" name="Shape 18"/>
          <p:cNvSpPr/>
          <p:nvPr/>
        </p:nvSpPr>
        <p:spPr>
          <a:xfrm>
            <a:off x="8973007" y="1620317"/>
            <a:ext cx="2533802" cy="3637483"/>
          </a:xfrm>
          <a:prstGeom prst="roundRect">
            <a:avLst>
              <a:gd name="adj" fmla="val 6767"/>
            </a:avLst>
          </a:prstGeom>
          <a:solidFill>
            <a:srgbClr val="F2F4F7"/>
          </a:solidFill>
          <a:ln w="12700">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25" name="Text 19"/>
          <p:cNvSpPr/>
          <p:nvPr/>
        </p:nvSpPr>
        <p:spPr>
          <a:xfrm>
            <a:off x="9219895" y="1839773"/>
            <a:ext cx="2040026" cy="457200"/>
          </a:xfrm>
          <a:prstGeom prst="rect">
            <a:avLst/>
          </a:prstGeom>
          <a:noFill/>
          <a:ln/>
        </p:spPr>
        <p:txBody>
          <a:bodyPr wrap="square" rtlCol="0" anchor="t"/>
          <a:lstStyle/>
          <a:p>
            <a:pPr marL="0" indent="0" algn="r">
              <a:buNone/>
            </a:pPr>
            <a:r>
              <a:rPr lang="en-US" sz="2500" b="1" dirty="0">
                <a:solidFill>
                  <a:srgbClr val="6B8DC8">
                    <a:alpha val="35000"/>
                  </a:srgbClr>
                </a:solidFill>
                <a:latin typeface="Poppins" pitchFamily="34" charset="0"/>
                <a:ea typeface="Poppins" pitchFamily="34" charset="-122"/>
                <a:cs typeface="Poppins" pitchFamily="34" charset="-120"/>
              </a:rPr>
              <a:t>04</a:t>
            </a:r>
            <a:endParaRPr lang="en-US" sz="2500" dirty="0"/>
          </a:p>
        </p:txBody>
      </p:sp>
      <p:sp>
        <p:nvSpPr>
          <p:cNvPr id="26" name="Shape 20"/>
          <p:cNvSpPr/>
          <p:nvPr/>
        </p:nvSpPr>
        <p:spPr>
          <a:xfrm>
            <a:off x="9229954" y="1915668"/>
            <a:ext cx="552298" cy="552298"/>
          </a:xfrm>
          <a:prstGeom prst="roundRect">
            <a:avLst>
              <a:gd name="adj" fmla="val 24172"/>
            </a:avLst>
          </a:prstGeom>
          <a:solidFill>
            <a:srgbClr val="6B8DC8">
              <a:alpha val="14000"/>
            </a:srgbClr>
          </a:solidFill>
          <a:ln/>
        </p:spPr>
        <p:txBody>
          <a:bodyPr/>
          <a:lstStyle/>
          <a:p>
            <a:endParaRPr lang="en-US"/>
          </a:p>
        </p:txBody>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63227" y="2048942"/>
            <a:ext cx="285750" cy="285750"/>
          </a:xfrm>
          <a:prstGeom prst="rect">
            <a:avLst/>
          </a:prstGeom>
        </p:spPr>
      </p:pic>
      <p:sp>
        <p:nvSpPr>
          <p:cNvPr id="28" name="Text 21"/>
          <p:cNvSpPr/>
          <p:nvPr/>
        </p:nvSpPr>
        <p:spPr>
          <a:xfrm>
            <a:off x="9229954" y="2580437"/>
            <a:ext cx="2018995" cy="548640"/>
          </a:xfrm>
          <a:prstGeom prst="rect">
            <a:avLst/>
          </a:prstGeom>
          <a:noFill/>
          <a:ln/>
        </p:spPr>
        <p:txBody>
          <a:bodyPr wrap="square" rtlCol="0" anchor="t"/>
          <a:lstStyle/>
          <a:p>
            <a:pPr marL="0" indent="0" algn="l">
              <a:buNone/>
            </a:pPr>
            <a:r>
              <a:rPr lang="en-US" sz="1500" b="1" dirty="0">
                <a:solidFill>
                  <a:srgbClr val="0B1D3A"/>
                </a:solidFill>
                <a:latin typeface="Poppins" pitchFamily="34" charset="0"/>
                <a:ea typeface="Poppins" pitchFamily="34" charset="-122"/>
                <a:cs typeface="Poppins" pitchFamily="34" charset="-120"/>
              </a:rPr>
              <a:t>Build Reports</a:t>
            </a:r>
            <a:endParaRPr lang="en-US" sz="1500" dirty="0"/>
          </a:p>
        </p:txBody>
      </p:sp>
      <p:sp>
        <p:nvSpPr>
          <p:cNvPr id="29" name="Text 22"/>
          <p:cNvSpPr/>
          <p:nvPr/>
        </p:nvSpPr>
        <p:spPr>
          <a:xfrm>
            <a:off x="9229954" y="3174797"/>
            <a:ext cx="2018995" cy="569595"/>
          </a:xfrm>
          <a:prstGeom prst="rect">
            <a:avLst/>
          </a:prstGeom>
          <a:noFill/>
          <a:ln/>
        </p:spPr>
        <p:txBody>
          <a:bodyPr wrap="square" rtlCol="0" anchor="t"/>
          <a:lstStyle/>
          <a:p>
            <a:pPr marL="0" indent="0" algn="l">
              <a:spcAft>
                <a:spcPts val="480"/>
              </a:spcAft>
              <a:buNone/>
            </a:pPr>
            <a:r>
              <a:rPr lang="en-US" sz="1150" dirty="0">
                <a:solidFill>
                  <a:srgbClr val="4A5568"/>
                </a:solidFill>
                <a:latin typeface="Inter" pitchFamily="34" charset="0"/>
                <a:ea typeface="Inter" pitchFamily="34" charset="-122"/>
                <a:cs typeface="Inter" pitchFamily="34" charset="-120"/>
              </a:rPr>
              <a:t>Create reports and notebooks in customer Fabric workspace</a:t>
            </a:r>
            <a:endParaRPr lang="en-US" sz="1150" dirty="0"/>
          </a:p>
        </p:txBody>
      </p:sp>
      <p:sp>
        <p:nvSpPr>
          <p:cNvPr id="30" name="Shape 23"/>
          <p:cNvSpPr/>
          <p:nvPr/>
        </p:nvSpPr>
        <p:spPr>
          <a:xfrm>
            <a:off x="685800" y="5852160"/>
            <a:ext cx="10820095" cy="548640"/>
          </a:xfrm>
          <a:prstGeom prst="rect">
            <a:avLst/>
          </a:prstGeom>
          <a:solidFill>
            <a:srgbClr val="1A7A8A"/>
          </a:solidFill>
          <a:ln/>
        </p:spPr>
        <p:txBody>
          <a:bodyPr/>
          <a:lstStyle/>
          <a:p>
            <a:endParaRPr lang="en-US"/>
          </a:p>
        </p:txBody>
      </p:sp>
      <p:sp>
        <p:nvSpPr>
          <p:cNvPr id="31" name="Shape 24"/>
          <p:cNvSpPr/>
          <p:nvPr/>
        </p:nvSpPr>
        <p:spPr>
          <a:xfrm>
            <a:off x="740664" y="5852160"/>
            <a:ext cx="10765231" cy="548640"/>
          </a:xfrm>
          <a:prstGeom prst="rect">
            <a:avLst/>
          </a:prstGeom>
          <a:solidFill>
            <a:srgbClr val="E0F0F3"/>
          </a:solidFill>
          <a:ln w="9525">
            <a:solidFill>
              <a:srgbClr val="DCE0E6"/>
            </a:solidFill>
            <a:prstDash val="solid"/>
          </a:ln>
        </p:spPr>
        <p:txBody>
          <a:bodyPr/>
          <a:lstStyle/>
          <a:p>
            <a:endParaRPr lang="en-US"/>
          </a:p>
        </p:txBody>
      </p:sp>
      <p:sp>
        <p:nvSpPr>
          <p:cNvPr id="32" name="Text 25"/>
          <p:cNvSpPr/>
          <p:nvPr/>
        </p:nvSpPr>
        <p:spPr>
          <a:xfrm>
            <a:off x="1051560" y="5852160"/>
            <a:ext cx="10088575" cy="548640"/>
          </a:xfrm>
          <a:prstGeom prst="rect">
            <a:avLst/>
          </a:prstGeom>
          <a:noFill/>
          <a:ln/>
        </p:spPr>
        <p:txBody>
          <a:bodyPr wrap="square" rtlCol="0" anchor="ctr"/>
          <a:lstStyle/>
          <a:p>
            <a:pPr marL="0" indent="0" algn="l">
              <a:buNone/>
            </a:pPr>
            <a:r>
              <a:rPr lang="en-US" sz="1400" dirty="0">
                <a:solidFill>
                  <a:srgbClr val="0B1D3A"/>
                </a:solidFill>
                <a:latin typeface="Poppins" pitchFamily="34" charset="0"/>
                <a:ea typeface="Poppins" pitchFamily="34" charset="-122"/>
                <a:cs typeface="Poppins" pitchFamily="34" charset="-120"/>
              </a:rPr>
              <a:t>Avoids cross-tenant access but requires customer-funded Fabric capacity and ETL development</a:t>
            </a:r>
            <a:endParaRPr lang="en-US" sz="1400" dirty="0"/>
          </a:p>
        </p:txBody>
      </p:sp>
      <p:sp>
        <p:nvSpPr>
          <p:cNvPr id="33" name="Text 26"/>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34" name="Text 27"/>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548640" y="228600"/>
            <a:ext cx="182880" cy="182880"/>
          </a:xfrm>
          <a:prstGeom prst="rect">
            <a:avLst/>
          </a:prstGeom>
          <a:solidFill>
            <a:srgbClr val="1A7A8A"/>
          </a:solidFill>
          <a:ln/>
        </p:spPr>
        <p:txBody>
          <a:bodyPr/>
          <a:lstStyle/>
          <a:p>
            <a:endParaRPr lang="en-US"/>
          </a:p>
        </p:txBody>
      </p:sp>
      <p:sp>
        <p:nvSpPr>
          <p:cNvPr id="4" name="Text 1"/>
          <p:cNvSpPr/>
          <p:nvPr/>
        </p:nvSpPr>
        <p:spPr>
          <a:xfrm>
            <a:off x="841248" y="228600"/>
            <a:ext cx="10799064"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EVIDENCE QUALITY</a:t>
            </a:r>
            <a:endParaRPr lang="en-US" sz="1050" dirty="0"/>
          </a:p>
        </p:txBody>
      </p:sp>
      <p:sp>
        <p:nvSpPr>
          <p:cNvPr id="5" name="Text 0"/>
          <p:cNvSpPr>
            <a:spLocks noGrp="1"/>
          </p:cNvSpPr>
          <p:nvPr>
            <p:ph type="title" idx="100" hasCustomPrompt="1"/>
          </p:nvPr>
        </p:nvSpPr>
        <p:spPr>
          <a:xfrm>
            <a:off x="548640" y="521208"/>
            <a:ext cx="11091672"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Evidence Quality Assessment</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77356" y="1463040"/>
          <a:ext cx="5362956" cy="3474720"/>
        </p:xfrm>
        <a:graphic>
          <a:graphicData uri="http://schemas.openxmlformats.org/drawingml/2006/table">
            <a:tbl>
              <a:tblPr/>
              <a:tblGrid>
                <a:gridCol w="1787652">
                  <a:extLst>
                    <a:ext uri="{9D8B030D-6E8A-4147-A177-3AD203B41FA5}">
                      <a16:colId xmlns:a16="http://schemas.microsoft.com/office/drawing/2014/main" val="20000"/>
                    </a:ext>
                  </a:extLst>
                </a:gridCol>
                <a:gridCol w="1787652">
                  <a:extLst>
                    <a:ext uri="{9D8B030D-6E8A-4147-A177-3AD203B41FA5}">
                      <a16:colId xmlns:a16="http://schemas.microsoft.com/office/drawing/2014/main" val="20001"/>
                    </a:ext>
                  </a:extLst>
                </a:gridCol>
                <a:gridCol w="1787652">
                  <a:extLst>
                    <a:ext uri="{9D8B030D-6E8A-4147-A177-3AD203B41FA5}">
                      <a16:colId xmlns:a16="http://schemas.microsoft.com/office/drawing/2014/main" val="20002"/>
                    </a:ext>
                  </a:extLst>
                </a:gridCol>
              </a:tblGrid>
              <a:tr h="566928">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tc>
                  <a:txBody>
                    <a:bodyPr/>
                    <a:lstStyle/>
                    <a:p>
                      <a:pPr marL="0" indent="0" algn="l">
                        <a:buNone/>
                      </a:pPr>
                      <a:r>
                        <a:rPr lang="en-US" sz="1200" b="1" dirty="0">
                          <a:solidFill>
                            <a:srgbClr val="FAFBFC"/>
                          </a:solidFill>
                          <a:latin typeface="Inter" pitchFamily="34" charset="0"/>
                          <a:ea typeface="Inter" pitchFamily="34" charset="-122"/>
                          <a:cs typeface="Inter" pitchFamily="34" charset="-120"/>
                        </a:rPr>
                        <a:t>Confidence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1A7A8A"/>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MS Learn: Fabric cross-tenant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Primary documentation</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High</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640080">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Fabric Community: Cross-Tenant</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Community / semi-official</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Medium-High</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MS Learn: Entra B2B overview</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Primary documentation</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High</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Epic/Cogito announcements</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Vendor marketing</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Low-Medium</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9EAAB8">
                        <a:alpha val="22000"/>
                      </a:srgbClr>
                    </a:solidFill>
                  </a:tcPr>
                </a:tc>
                <a:extLst>
                  <a:ext uri="{0D108BD9-81ED-4DB2-BD59-A6C34878D82A}">
                    <a16:rowId xmlns:a16="http://schemas.microsoft.com/office/drawing/2014/main" val="10004"/>
                  </a:ext>
                </a:extLst>
              </a:tr>
              <a:tr h="566928">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Epic tenant settings / B2B</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Not publicly available</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tc>
                  <a:txBody>
                    <a:bodyPr/>
                    <a:lstStyle/>
                    <a:p>
                      <a:pPr marL="0" indent="0" algn="l">
                        <a:buNone/>
                      </a:pPr>
                      <a:r>
                        <a:rPr lang="en-US" sz="1200" dirty="0">
                          <a:solidFill>
                            <a:srgbClr val="3A4A5E"/>
                          </a:solidFill>
                          <a:latin typeface="Inter" pitchFamily="34" charset="0"/>
                          <a:ea typeface="Inter" pitchFamily="34" charset="-122"/>
                          <a:cs typeface="Inter" pitchFamily="34" charset="-120"/>
                        </a:rPr>
                        <a:t>Not confirmed</a:t>
                      </a:r>
                      <a:endParaRPr lang="en-US" sz="1200" dirty="0">
                        <a:latin typeface="Inter" charset="0"/>
                        <a:ea typeface="Inter" charset="0"/>
                        <a:cs typeface="Inter" charset="0"/>
                      </a:endParaRPr>
                    </a:p>
                  </a:txBody>
                  <a:tcPr anchor="ctr">
                    <a:lnL w="12700" cap="flat" cmpd="sng" algn="ctr">
                      <a:solidFill>
                        <a:srgbClr val="DCE0E6"/>
                      </a:solidFill>
                      <a:prstDash val="solid"/>
                      <a:round/>
                      <a:headEnd type="none" w="med" len="med"/>
                      <a:tailEnd type="none" w="med" len="med"/>
                    </a:lnL>
                    <a:lnR w="12700" cap="flat" cmpd="sng" algn="ctr">
                      <a:solidFill>
                        <a:srgbClr val="DCE0E6"/>
                      </a:solidFill>
                      <a:prstDash val="solid"/>
                      <a:round/>
                      <a:headEnd type="none" w="med" len="med"/>
                      <a:tailEnd type="none" w="med" len="med"/>
                    </a:lnR>
                    <a:lnT w="12700" cap="flat" cmpd="sng" algn="ctr">
                      <a:solidFill>
                        <a:srgbClr val="DCE0E6"/>
                      </a:solidFill>
                      <a:prstDash val="solid"/>
                      <a:round/>
                      <a:headEnd type="none" w="med" len="med"/>
                      <a:tailEnd type="none" w="med" len="med"/>
                    </a:lnT>
                    <a:lnB w="12700" cap="flat" cmpd="sng" algn="ctr">
                      <a:solidFill>
                        <a:srgbClr val="DCE0E6"/>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bl>
          </a:graphicData>
        </a:graphic>
      </p:graphicFrame>
      <p:sp>
        <p:nvSpPr>
          <p:cNvPr id="7" name="Shape 3"/>
          <p:cNvSpPr/>
          <p:nvPr/>
        </p:nvSpPr>
        <p:spPr>
          <a:xfrm>
            <a:off x="548640" y="1463040"/>
            <a:ext cx="5362956" cy="2851709"/>
          </a:xfrm>
          <a:prstGeom prst="rect">
            <a:avLst/>
          </a:prstGeom>
          <a:solidFill>
            <a:srgbClr val="1A7A8A"/>
          </a:solidFill>
          <a:ln/>
          <a:effectLst>
            <a:outerShdw blurRad="67729" dist="16929" dir="8100000" algn="bl" rotWithShape="0">
              <a:srgbClr val="DCE0E6">
                <a:alpha val="8000"/>
              </a:srgbClr>
            </a:outerShdw>
          </a:effectLst>
        </p:spPr>
        <p:txBody>
          <a:bodyPr/>
          <a:lstStyle/>
          <a:p>
            <a:endParaRPr lang="en-US"/>
          </a:p>
        </p:txBody>
      </p:sp>
      <p:sp>
        <p:nvSpPr>
          <p:cNvPr id="8" name="Shape 4"/>
          <p:cNvSpPr/>
          <p:nvPr/>
        </p:nvSpPr>
        <p:spPr>
          <a:xfrm>
            <a:off x="598932" y="1463040"/>
            <a:ext cx="5312664" cy="2851709"/>
          </a:xfrm>
          <a:prstGeom prst="rect">
            <a:avLst/>
          </a:prstGeom>
          <a:solidFill>
            <a:srgbClr val="F2F4F7"/>
          </a:solidFill>
          <a:ln w="9525">
            <a:solidFill>
              <a:srgbClr val="DCE0E6"/>
            </a:solidFill>
            <a:prstDash val="solid"/>
          </a:ln>
        </p:spPr>
        <p:txBody>
          <a:bodyPr/>
          <a:lstStyle/>
          <a:p>
            <a:endParaRPr lang="en-US"/>
          </a:p>
        </p:txBody>
      </p:sp>
      <p:sp>
        <p:nvSpPr>
          <p:cNvPr id="9" name="Text 5"/>
          <p:cNvSpPr/>
          <p:nvPr/>
        </p:nvSpPr>
        <p:spPr>
          <a:xfrm>
            <a:off x="749808" y="1664208"/>
            <a:ext cx="4960620" cy="419100"/>
          </a:xfrm>
          <a:prstGeom prst="rect">
            <a:avLst/>
          </a:prstGeom>
          <a:noFill/>
          <a:ln/>
        </p:spPr>
        <p:txBody>
          <a:bodyPr wrap="square" rtlCol="0" anchor="t"/>
          <a:lstStyle/>
          <a:p>
            <a:pPr marL="0" indent="0" algn="l">
              <a:buNone/>
            </a:pPr>
            <a:r>
              <a:rPr lang="en-US" sz="2200" b="1" dirty="0">
                <a:solidFill>
                  <a:srgbClr val="0B1D3A"/>
                </a:solidFill>
                <a:latin typeface="Inter" pitchFamily="34" charset="0"/>
                <a:ea typeface="Inter" pitchFamily="34" charset="-122"/>
                <a:cs typeface="Inter" pitchFamily="34" charset="-120"/>
              </a:rPr>
              <a:t>Assessment Summary</a:t>
            </a:r>
            <a:endParaRPr lang="en-US" sz="2200" dirty="0"/>
          </a:p>
        </p:txBody>
      </p:sp>
      <p:sp>
        <p:nvSpPr>
          <p:cNvPr id="10" name="Text 6"/>
          <p:cNvSpPr/>
          <p:nvPr/>
        </p:nvSpPr>
        <p:spPr>
          <a:xfrm>
            <a:off x="749808" y="2174748"/>
            <a:ext cx="4960620" cy="792480"/>
          </a:xfrm>
          <a:prstGeom prst="rect">
            <a:avLst/>
          </a:prstGeom>
          <a:noFill/>
          <a:ln/>
        </p:spPr>
        <p:txBody>
          <a:bodyPr wrap="square" rtlCol="0" anchor="t"/>
          <a:lstStyle/>
          <a:p>
            <a:pPr marL="0" indent="0" algn="l">
              <a:buNone/>
            </a:pPr>
            <a:r>
              <a:rPr lang="en-US" sz="1600" dirty="0">
                <a:solidFill>
                  <a:srgbClr val="3A4A5E"/>
                </a:solidFill>
                <a:latin typeface="Inter" pitchFamily="34" charset="0"/>
                <a:ea typeface="Inter" pitchFamily="34" charset="-122"/>
                <a:cs typeface="Inter" pitchFamily="34" charset="-120"/>
              </a:rPr>
              <a:t>Microsoft-side architecture is </a:t>
            </a:r>
            <a:r>
              <a:rPr lang="en-US" sz="1600" b="1" dirty="0">
                <a:solidFill>
                  <a:srgbClr val="1A7A8A"/>
                </a:solidFill>
                <a:latin typeface="Inter" pitchFamily="34" charset="0"/>
                <a:ea typeface="Inter" pitchFamily="34" charset="-122"/>
                <a:cs typeface="Inter" pitchFamily="34" charset="-120"/>
              </a:rPr>
              <a:t>well-documented</a:t>
            </a:r>
            <a:r>
              <a:rPr lang="en-US" sz="1600" dirty="0">
                <a:solidFill>
                  <a:srgbClr val="3A4A5E"/>
                </a:solidFill>
                <a:latin typeface="Inter" pitchFamily="34" charset="0"/>
                <a:ea typeface="Inter" pitchFamily="34" charset="-122"/>
                <a:cs typeface="Inter" pitchFamily="34" charset="-120"/>
              </a:rPr>
              <a:t> with high-confidence primary sources.</a:t>
            </a:r>
            <a:endParaRPr lang="en-US" sz="1600" dirty="0"/>
          </a:p>
        </p:txBody>
      </p:sp>
      <p:sp>
        <p:nvSpPr>
          <p:cNvPr id="11" name="Text 7"/>
          <p:cNvSpPr/>
          <p:nvPr/>
        </p:nvSpPr>
        <p:spPr>
          <a:xfrm>
            <a:off x="749808" y="3058668"/>
            <a:ext cx="4960620" cy="792480"/>
          </a:xfrm>
          <a:prstGeom prst="rect">
            <a:avLst/>
          </a:prstGeom>
          <a:noFill/>
          <a:ln/>
        </p:spPr>
        <p:txBody>
          <a:bodyPr wrap="square" rtlCol="0" anchor="t"/>
          <a:lstStyle/>
          <a:p>
            <a:pPr marL="0" indent="0" algn="l">
              <a:buNone/>
            </a:pPr>
            <a:r>
              <a:rPr lang="en-US" sz="1600" dirty="0">
                <a:solidFill>
                  <a:srgbClr val="3A4A5E"/>
                </a:solidFill>
                <a:latin typeface="Inter" pitchFamily="34" charset="0"/>
                <a:ea typeface="Inter" pitchFamily="34" charset="-122"/>
                <a:cs typeface="Inter" pitchFamily="34" charset="-120"/>
              </a:rPr>
              <a:t>Epic-side operational details are the </a:t>
            </a:r>
            <a:r>
              <a:rPr lang="en-US" sz="1600" b="1" dirty="0">
                <a:solidFill>
                  <a:srgbClr val="1A7A8A"/>
                </a:solidFill>
                <a:latin typeface="Inter" pitchFamily="34" charset="0"/>
                <a:ea typeface="Inter" pitchFamily="34" charset="-122"/>
                <a:cs typeface="Inter" pitchFamily="34" charset="-120"/>
              </a:rPr>
              <a:t>sole evidence gap</a:t>
            </a:r>
            <a:r>
              <a:rPr lang="en-US" sz="1600" dirty="0">
                <a:solidFill>
                  <a:srgbClr val="3A4A5E"/>
                </a:solidFill>
                <a:latin typeface="Inter" pitchFamily="34" charset="0"/>
                <a:ea typeface="Inter" pitchFamily="34" charset="-122"/>
                <a:cs typeface="Inter" pitchFamily="34" charset="-120"/>
              </a:rPr>
              <a:t> — public materials confirm intent but not implementation.</a:t>
            </a:r>
            <a:endParaRPr lang="en-US" sz="1600" dirty="0"/>
          </a:p>
        </p:txBody>
      </p:sp>
      <p:sp>
        <p:nvSpPr>
          <p:cNvPr id="12" name="Text 8"/>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13" name="Text 9"/>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a:effectLst/>
      </p:bgPr>
    </p:bg>
    <p:spTree>
      <p:nvGrpSpPr>
        <p:cNvPr id="1" name=""/>
        <p:cNvGrpSpPr/>
        <p:nvPr/>
      </p:nvGrpSpPr>
      <p:grpSpPr>
        <a:xfrm>
          <a:off x="0" y="0"/>
          <a:ext cx="0" cy="0"/>
          <a:chOff x="0" y="0"/>
          <a:chExt cx="0" cy="0"/>
        </a:xfrm>
      </p:grpSpPr>
      <p:sp>
        <p:nvSpPr>
          <p:cNvPr id="3" name="Shape 0"/>
          <p:cNvSpPr/>
          <p:nvPr/>
        </p:nvSpPr>
        <p:spPr>
          <a:xfrm>
            <a:off x="628650" y="377922"/>
            <a:ext cx="182880" cy="182880"/>
          </a:xfrm>
          <a:prstGeom prst="rect">
            <a:avLst/>
          </a:prstGeom>
          <a:solidFill>
            <a:srgbClr val="1A7A8A"/>
          </a:solidFill>
          <a:ln/>
        </p:spPr>
        <p:txBody>
          <a:bodyPr/>
          <a:lstStyle/>
          <a:p>
            <a:endParaRPr lang="en-US"/>
          </a:p>
        </p:txBody>
      </p:sp>
      <p:sp>
        <p:nvSpPr>
          <p:cNvPr id="4" name="Text 1"/>
          <p:cNvSpPr/>
          <p:nvPr/>
        </p:nvSpPr>
        <p:spPr>
          <a:xfrm>
            <a:off x="921258" y="377922"/>
            <a:ext cx="10641787" cy="182880"/>
          </a:xfrm>
          <a:prstGeom prst="rect">
            <a:avLst/>
          </a:prstGeom>
          <a:noFill/>
          <a:ln/>
        </p:spPr>
        <p:txBody>
          <a:bodyPr wrap="square" lIns="0" tIns="0" rIns="0" bIns="0" rtlCol="0" anchor="ctr"/>
          <a:lstStyle/>
          <a:p>
            <a:pPr marL="0" indent="0" algn="l">
              <a:buNone/>
            </a:pPr>
            <a:r>
              <a:rPr lang="en-US" sz="1050" b="1" kern="0" spc="200" dirty="0">
                <a:solidFill>
                  <a:srgbClr val="1A7A8A"/>
                </a:solidFill>
                <a:latin typeface="Poppins" pitchFamily="34" charset="0"/>
                <a:ea typeface="Poppins" pitchFamily="34" charset="-122"/>
                <a:cs typeface="Poppins" pitchFamily="34" charset="-120"/>
              </a:rPr>
              <a:t>RECOMMENDATION</a:t>
            </a:r>
            <a:endParaRPr lang="en-US" sz="1050" dirty="0"/>
          </a:p>
        </p:txBody>
      </p:sp>
      <p:sp>
        <p:nvSpPr>
          <p:cNvPr id="5" name="Text 0"/>
          <p:cNvSpPr>
            <a:spLocks noGrp="1"/>
          </p:cNvSpPr>
          <p:nvPr>
            <p:ph type="title" idx="100" hasCustomPrompt="1"/>
          </p:nvPr>
        </p:nvSpPr>
        <p:spPr>
          <a:xfrm>
            <a:off x="628650" y="670530"/>
            <a:ext cx="10934395" cy="640080"/>
          </a:xfrm>
          <a:prstGeom prst="rect">
            <a:avLst/>
          </a:prstGeom>
          <a:noFill/>
          <a:ln/>
        </p:spPr>
        <p:txBody>
          <a:bodyPr wrap="square" lIns="0" tIns="0" rIns="0" bIns="0" rtlCol="0" anchor="t"/>
          <a:lstStyle/>
          <a:p>
            <a:pPr marL="0" indent="0" algn="l">
              <a:buNone/>
            </a:pPr>
            <a:r>
              <a:rPr lang="en-US" sz="2200" b="1" dirty="0">
                <a:solidFill>
                  <a:srgbClr val="0B1D3A"/>
                </a:solidFill>
                <a:latin typeface="Poppins" pitchFamily="34" charset="0"/>
                <a:ea typeface="Poppins" pitchFamily="34" charset="-122"/>
                <a:cs typeface="Poppins" pitchFamily="34" charset="-120"/>
              </a:rPr>
              <a:t>Final Recommendation</a:t>
            </a:r>
            <a:endParaRPr lang="en-US" sz="2200" dirty="0"/>
          </a:p>
        </p:txBody>
      </p:sp>
      <p:sp>
        <p:nvSpPr>
          <p:cNvPr id="6" name="Shape 3"/>
          <p:cNvSpPr/>
          <p:nvPr/>
        </p:nvSpPr>
        <p:spPr>
          <a:xfrm>
            <a:off x="628650" y="1415258"/>
            <a:ext cx="5343388" cy="3924838"/>
          </a:xfrm>
          <a:prstGeom prst="roundRect">
            <a:avLst>
              <a:gd name="adj" fmla="val 3099"/>
            </a:avLst>
          </a:prstGeom>
          <a:solidFill>
            <a:srgbClr val="F2F4F7"/>
          </a:solidFill>
          <a:ln w="9525">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7" name="Shape 4"/>
          <p:cNvSpPr/>
          <p:nvPr/>
        </p:nvSpPr>
        <p:spPr>
          <a:xfrm>
            <a:off x="914400" y="1701008"/>
            <a:ext cx="495330" cy="495330"/>
          </a:xfrm>
          <a:prstGeom prst="roundRect">
            <a:avLst>
              <a:gd name="adj" fmla="val 23076"/>
            </a:avLst>
          </a:prstGeom>
          <a:solidFill>
            <a:srgbClr val="E0F0F3"/>
          </a:solidFill>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3455" y="1820062"/>
            <a:ext cx="257221" cy="257221"/>
          </a:xfrm>
          <a:prstGeom prst="rect">
            <a:avLst/>
          </a:prstGeom>
        </p:spPr>
      </p:pic>
      <p:sp>
        <p:nvSpPr>
          <p:cNvPr id="9" name="Text 5"/>
          <p:cNvSpPr/>
          <p:nvPr/>
        </p:nvSpPr>
        <p:spPr>
          <a:xfrm>
            <a:off x="1562161" y="1701008"/>
            <a:ext cx="4124127" cy="495330"/>
          </a:xfrm>
          <a:prstGeom prst="rect">
            <a:avLst/>
          </a:prstGeom>
          <a:noFill/>
          <a:ln/>
        </p:spPr>
        <p:txBody>
          <a:bodyPr wrap="square" rtlCol="0" anchor="ctr"/>
          <a:lstStyle/>
          <a:p>
            <a:pPr marL="0" indent="0" algn="l">
              <a:buNone/>
            </a:pPr>
            <a:r>
              <a:rPr lang="en-US" sz="1650" b="1" dirty="0">
                <a:solidFill>
                  <a:srgbClr val="0B1D3A"/>
                </a:solidFill>
                <a:latin typeface="Poppins" pitchFamily="34" charset="0"/>
                <a:ea typeface="Poppins" pitchFamily="34" charset="-122"/>
                <a:cs typeface="Poppins" pitchFamily="34" charset="-120"/>
              </a:rPr>
              <a:t>Primary Path</a:t>
            </a:r>
            <a:endParaRPr lang="en-US" sz="1650" dirty="0"/>
          </a:p>
        </p:txBody>
      </p:sp>
      <p:sp>
        <p:nvSpPr>
          <p:cNvPr id="10" name="Text 6"/>
          <p:cNvSpPr/>
          <p:nvPr/>
        </p:nvSpPr>
        <p:spPr>
          <a:xfrm>
            <a:off x="914400" y="2405736"/>
            <a:ext cx="4771888" cy="16002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Cross-tenant Fabric access via Entra B2B</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Epic as resource tenant, customer as home tenant</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Requires Epic confirmation of settings and licensing</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Lowest TCO if Epic enables guest access</a:t>
            </a:r>
            <a:endParaRPr lang="en-US" sz="1500" dirty="0"/>
          </a:p>
        </p:txBody>
      </p:sp>
      <p:sp>
        <p:nvSpPr>
          <p:cNvPr id="11" name="Shape 7"/>
          <p:cNvSpPr/>
          <p:nvPr/>
        </p:nvSpPr>
        <p:spPr>
          <a:xfrm>
            <a:off x="6219657" y="1415258"/>
            <a:ext cx="5343388" cy="3924838"/>
          </a:xfrm>
          <a:prstGeom prst="roundRect">
            <a:avLst>
              <a:gd name="adj" fmla="val 3099"/>
            </a:avLst>
          </a:prstGeom>
          <a:solidFill>
            <a:srgbClr val="F2F4F7"/>
          </a:solidFill>
          <a:ln w="9525">
            <a:solidFill>
              <a:srgbClr val="DCE0E6"/>
            </a:solidFill>
            <a:prstDash val="solid"/>
          </a:ln>
          <a:effectLst>
            <a:outerShdw blurRad="76200" dist="25400" dir="8100000" algn="bl" rotWithShape="0">
              <a:srgbClr val="DCE0E6">
                <a:alpha val="12000"/>
              </a:srgbClr>
            </a:outerShdw>
          </a:effectLst>
        </p:spPr>
        <p:txBody>
          <a:bodyPr/>
          <a:lstStyle/>
          <a:p>
            <a:endParaRPr lang="en-US"/>
          </a:p>
        </p:txBody>
      </p:sp>
      <p:sp>
        <p:nvSpPr>
          <p:cNvPr id="12" name="Shape 8"/>
          <p:cNvSpPr/>
          <p:nvPr/>
        </p:nvSpPr>
        <p:spPr>
          <a:xfrm>
            <a:off x="6505407" y="1701008"/>
            <a:ext cx="495330" cy="495330"/>
          </a:xfrm>
          <a:prstGeom prst="roundRect">
            <a:avLst>
              <a:gd name="adj" fmla="val 23076"/>
            </a:avLst>
          </a:prstGeom>
          <a:solidFill>
            <a:srgbClr val="E0F0F3"/>
          </a:solidFill>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4462" y="1820062"/>
            <a:ext cx="257221" cy="257221"/>
          </a:xfrm>
          <a:prstGeom prst="rect">
            <a:avLst/>
          </a:prstGeom>
        </p:spPr>
      </p:pic>
      <p:sp>
        <p:nvSpPr>
          <p:cNvPr id="14" name="Text 9"/>
          <p:cNvSpPr/>
          <p:nvPr/>
        </p:nvSpPr>
        <p:spPr>
          <a:xfrm>
            <a:off x="7153168" y="1701008"/>
            <a:ext cx="4124127" cy="495330"/>
          </a:xfrm>
          <a:prstGeom prst="rect">
            <a:avLst/>
          </a:prstGeom>
          <a:noFill/>
          <a:ln/>
        </p:spPr>
        <p:txBody>
          <a:bodyPr wrap="square" rtlCol="0" anchor="ctr"/>
          <a:lstStyle/>
          <a:p>
            <a:pPr marL="0" indent="0" algn="l">
              <a:buNone/>
            </a:pPr>
            <a:r>
              <a:rPr lang="en-US" sz="1650" b="1" dirty="0">
                <a:solidFill>
                  <a:srgbClr val="0B1D3A"/>
                </a:solidFill>
                <a:latin typeface="Poppins" pitchFamily="34" charset="0"/>
                <a:ea typeface="Poppins" pitchFamily="34" charset="-122"/>
                <a:cs typeface="Poppins" pitchFamily="34" charset="-120"/>
              </a:rPr>
              <a:t>Fallback Path</a:t>
            </a:r>
            <a:endParaRPr lang="en-US" sz="1650" dirty="0"/>
          </a:p>
        </p:txBody>
      </p:sp>
      <p:sp>
        <p:nvSpPr>
          <p:cNvPr id="15" name="Text 10"/>
          <p:cNvSpPr/>
          <p:nvPr/>
        </p:nvSpPr>
        <p:spPr>
          <a:xfrm>
            <a:off x="6505407" y="2405736"/>
            <a:ext cx="4771888" cy="1371600"/>
          </a:xfrm>
          <a:prstGeom prst="rect">
            <a:avLst/>
          </a:prstGeom>
          <a:noFill/>
          <a:ln/>
        </p:spPr>
        <p:txBody>
          <a:bodyPr wrap="square" rtlCol="0" anchor="t"/>
          <a:lstStyle/>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Self-hosted Fabric with data ingestion from Cogito</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Customer owns and funds capacity and ETL</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No dependency on Epic tenant configuration</a:t>
            </a:r>
            <a:endParaRPr lang="en-US" sz="1500" dirty="0"/>
          </a:p>
          <a:p>
            <a:pPr marL="177800" indent="-177800" algn="l">
              <a:spcAft>
                <a:spcPts val="480"/>
              </a:spcAft>
              <a:buSzPct val="100000"/>
              <a:buChar char="•"/>
            </a:pPr>
            <a:r>
              <a:rPr lang="en-US" sz="1500" dirty="0">
                <a:solidFill>
                  <a:srgbClr val="3A4A5E"/>
                </a:solidFill>
                <a:latin typeface="Inter" pitchFamily="34" charset="0"/>
                <a:ea typeface="Inter" pitchFamily="34" charset="-122"/>
                <a:cs typeface="Inter" pitchFamily="34" charset="-120"/>
              </a:rPr>
              <a:t>Higher cost but fully customer-controlled</a:t>
            </a:r>
            <a:endParaRPr lang="en-US" sz="1500" dirty="0"/>
          </a:p>
        </p:txBody>
      </p:sp>
      <p:sp>
        <p:nvSpPr>
          <p:cNvPr id="16" name="Shape 11"/>
          <p:cNvSpPr/>
          <p:nvPr/>
        </p:nvSpPr>
        <p:spPr>
          <a:xfrm>
            <a:off x="628650" y="5632704"/>
            <a:ext cx="10934395" cy="548640"/>
          </a:xfrm>
          <a:prstGeom prst="rect">
            <a:avLst/>
          </a:prstGeom>
          <a:solidFill>
            <a:srgbClr val="1A7A8A"/>
          </a:solidFill>
          <a:ln/>
        </p:spPr>
        <p:txBody>
          <a:bodyPr/>
          <a:lstStyle/>
          <a:p>
            <a:endParaRPr lang="en-US"/>
          </a:p>
        </p:txBody>
      </p:sp>
      <p:sp>
        <p:nvSpPr>
          <p:cNvPr id="17" name="Shape 12"/>
          <p:cNvSpPr/>
          <p:nvPr/>
        </p:nvSpPr>
        <p:spPr>
          <a:xfrm>
            <a:off x="683514" y="5632704"/>
            <a:ext cx="10879531" cy="548640"/>
          </a:xfrm>
          <a:prstGeom prst="rect">
            <a:avLst/>
          </a:prstGeom>
          <a:solidFill>
            <a:srgbClr val="E0F0F3"/>
          </a:solidFill>
          <a:ln w="9525">
            <a:solidFill>
              <a:srgbClr val="DCE0E6"/>
            </a:solidFill>
            <a:prstDash val="solid"/>
          </a:ln>
        </p:spPr>
        <p:txBody>
          <a:bodyPr/>
          <a:lstStyle/>
          <a:p>
            <a:endParaRPr lang="en-US"/>
          </a:p>
        </p:txBody>
      </p:sp>
      <p:sp>
        <p:nvSpPr>
          <p:cNvPr id="18" name="Text 13"/>
          <p:cNvSpPr/>
          <p:nvPr/>
        </p:nvSpPr>
        <p:spPr>
          <a:xfrm>
            <a:off x="994410" y="5632704"/>
            <a:ext cx="10202875" cy="548640"/>
          </a:xfrm>
          <a:prstGeom prst="rect">
            <a:avLst/>
          </a:prstGeom>
          <a:noFill/>
          <a:ln/>
        </p:spPr>
        <p:txBody>
          <a:bodyPr wrap="square" rtlCol="0" anchor="ctr"/>
          <a:lstStyle/>
          <a:p>
            <a:pPr marL="0" indent="0" algn="l">
              <a:buNone/>
            </a:pPr>
            <a:r>
              <a:rPr lang="en-US" sz="1600" dirty="0">
                <a:solidFill>
                  <a:srgbClr val="0B1D3A"/>
                </a:solidFill>
                <a:latin typeface="Poppins" pitchFamily="34" charset="0"/>
                <a:ea typeface="Poppins" pitchFamily="34" charset="-122"/>
                <a:cs typeface="Poppins" pitchFamily="34" charset="-120"/>
              </a:rPr>
              <a:t>Plan for both paths until Epic confirms. All technical prerequisites are documented — the sole gap is operational confirmation.</a:t>
            </a:r>
            <a:endParaRPr lang="en-US" sz="1600" dirty="0"/>
          </a:p>
        </p:txBody>
      </p:sp>
      <p:sp>
        <p:nvSpPr>
          <p:cNvPr id="19" name="Text 14"/>
          <p:cNvSpPr/>
          <p:nvPr/>
        </p:nvSpPr>
        <p:spPr>
          <a:xfrm>
            <a:off x="548640" y="6528816"/>
            <a:ext cx="10545775" cy="219456"/>
          </a:xfrm>
          <a:prstGeom prst="rect">
            <a:avLst/>
          </a:prstGeom>
          <a:noFill/>
          <a:ln/>
        </p:spPr>
        <p:txBody>
          <a:bodyPr wrap="square" lIns="0" tIns="0" rIns="0" bIns="0" rtlCol="0" anchor="ctr"/>
          <a:lstStyle/>
          <a:p>
            <a:pPr marL="0" indent="0" algn="l">
              <a:buNone/>
            </a:pPr>
            <a:r>
              <a:rPr lang="en-US" sz="900" dirty="0">
                <a:solidFill>
                  <a:srgbClr val="9EAAB8"/>
                </a:solidFill>
                <a:latin typeface="Inter" pitchFamily="34" charset="0"/>
                <a:ea typeface="Inter" pitchFamily="34" charset="-122"/>
                <a:cs typeface="Inter" pitchFamily="34" charset="-120"/>
              </a:rPr>
              <a:t>Architecture Assessment | Cross-Tenant Fabric Access | Epic/Cogito</a:t>
            </a:r>
            <a:endParaRPr lang="en-US" sz="900" dirty="0"/>
          </a:p>
        </p:txBody>
      </p:sp>
      <p:sp>
        <p:nvSpPr>
          <p:cNvPr id="20" name="Text 15"/>
          <p:cNvSpPr/>
          <p:nvPr/>
        </p:nvSpPr>
        <p:spPr>
          <a:xfrm>
            <a:off x="11094415" y="6528816"/>
            <a:ext cx="548640" cy="219456"/>
          </a:xfrm>
          <a:prstGeom prst="rect">
            <a:avLst/>
          </a:prstGeom>
          <a:noFill/>
          <a:ln/>
        </p:spPr>
        <p:txBody>
          <a:bodyPr wrap="square" lIns="0" tIns="0" rIns="0" bIns="0" rtlCol="0" anchor="ctr"/>
          <a:lstStyle/>
          <a:p>
            <a:pPr marL="0" indent="0" algn="r">
              <a:buNone/>
            </a:pPr>
            <a:r>
              <a:rPr lang="en-US" sz="900" dirty="0">
                <a:solidFill>
                  <a:srgbClr val="9EAAB8"/>
                </a:solidFill>
                <a:latin typeface="Inter" pitchFamily="34" charset="0"/>
                <a:ea typeface="Inter" pitchFamily="34" charset="-122"/>
                <a:cs typeface="Inter"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CFB124C-4B0C-4A81-8633-17257B151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2006" y="569844"/>
            <a:ext cx="8427988" cy="5649981"/>
          </a:xfrm>
          <a:prstGeom prst="rect">
            <a:avLst/>
          </a:prstGeom>
          <a:ln>
            <a:noFill/>
          </a:ln>
          <a:effectLst>
            <a:outerShdw blurRad="317500" dist="317500" dir="7140000" sx="95000" sy="95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1D61E9B-51EC-B8EF-B55F-573E82ED8023}"/>
              </a:ext>
            </a:extLst>
          </p:cNvPr>
          <p:cNvSpPr>
            <a:spLocks noGrp="1"/>
          </p:cNvSpPr>
          <p:nvPr>
            <p:ph type="title" idx="100"/>
          </p:nvPr>
        </p:nvSpPr>
        <p:spPr/>
        <p:txBody>
          <a:bodyPr wrap="square" lIns="91440" tIns="45720" rIns="91440" bIns="45720" rtlCol="0" anchor="t"/>
          <a:lstStyle/>
          <a:p>
            <a:r>
              <a:rPr lang="en-US">
                <a:solidFill>
                  <a:srgbClr val="000000"/>
                </a:solidFill>
                <a:ea typeface="Calibri Light"/>
                <a:cs typeface="Calibri Light"/>
              </a:rPr>
              <a:t>Fabric</a:t>
            </a:r>
            <a:r>
              <a:rPr lang="en-US">
                <a:solidFill>
                  <a:srgbClr val="000000"/>
                </a:solidFill>
                <a:ea typeface="+mj-lt"/>
                <a:cs typeface="+mj-lt"/>
              </a:rPr>
              <a:t> in Epic Tenant with ZAVA</a:t>
            </a:r>
            <a:r>
              <a:rPr lang="en-US">
                <a:solidFill>
                  <a:srgbClr val="000000"/>
                </a:solidFill>
                <a:ea typeface="Calibri Light"/>
                <a:cs typeface="Calibri Light"/>
              </a:rPr>
              <a:t> access</a:t>
            </a:r>
            <a:endParaRPr lang="en-US"/>
          </a:p>
        </p:txBody>
      </p:sp>
      <p:pic>
        <p:nvPicPr>
          <p:cNvPr id="7" name="Picture 3">
            <a:extLst>
              <a:ext uri="{FF2B5EF4-FFF2-40B4-BE49-F238E27FC236}">
                <a16:creationId xmlns:a16="http://schemas.microsoft.com/office/drawing/2014/main" id="{E9320416-1D54-CEAD-C3A2-C8FDD2DE33E6}"/>
              </a:ext>
            </a:extLst>
          </p:cNvPr>
          <p:cNvPicPr>
            <a:picLocks/>
          </p:cNvPicPr>
          <p:nvPr/>
        </p:nvPicPr>
        <p:blipFill>
          <a:blip r:embed="rId3"/>
          <a:stretch>
            <a:fillRect/>
          </a:stretch>
        </p:blipFill>
        <p:spPr>
          <a:xfrm>
            <a:off x="522255" y="570204"/>
            <a:ext cx="11292632" cy="6298164"/>
          </a:xfrm>
          <a:prstGeom prst="rect">
            <a:avLst/>
          </a:prstGeom>
        </p:spPr>
      </p:pic>
    </p:spTree>
    <p:extLst>
      <p:ext uri="{BB962C8B-B14F-4D97-AF65-F5344CB8AC3E}">
        <p14:creationId xmlns:p14="http://schemas.microsoft.com/office/powerpoint/2010/main" val="44104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9A44B2-11D8-BF8E-C642-3703367514B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BFDBBB-76EF-E490-7694-899E52052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1F104CEB-8174-490C-59DA-F694A8FE9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2006" y="569844"/>
            <a:ext cx="8427988" cy="5649981"/>
          </a:xfrm>
          <a:prstGeom prst="rect">
            <a:avLst/>
          </a:prstGeom>
          <a:ln>
            <a:noFill/>
          </a:ln>
          <a:effectLst>
            <a:outerShdw blurRad="317500" dist="317500" dir="7140000" sx="95000" sy="95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2">
            <a:extLst>
              <a:ext uri="{FF2B5EF4-FFF2-40B4-BE49-F238E27FC236}">
                <a16:creationId xmlns:a16="http://schemas.microsoft.com/office/drawing/2014/main" id="{60384C34-8106-502B-CB51-8F9EF6BB8F74}"/>
              </a:ext>
            </a:extLst>
          </p:cNvPr>
          <p:cNvPicPr>
            <a:picLocks/>
          </p:cNvPicPr>
          <p:nvPr/>
        </p:nvPicPr>
        <p:blipFill>
          <a:blip r:embed="rId3"/>
          <a:stretch>
            <a:fillRect/>
          </a:stretch>
        </p:blipFill>
        <p:spPr>
          <a:xfrm>
            <a:off x="694945" y="549109"/>
            <a:ext cx="10804100" cy="6303122"/>
          </a:xfrm>
          <a:prstGeom prst="rect">
            <a:avLst/>
          </a:prstGeom>
        </p:spPr>
      </p:pic>
      <p:sp>
        <p:nvSpPr>
          <p:cNvPr id="2" name="Title 1">
            <a:extLst>
              <a:ext uri="{FF2B5EF4-FFF2-40B4-BE49-F238E27FC236}">
                <a16:creationId xmlns:a16="http://schemas.microsoft.com/office/drawing/2014/main" id="{C683DCD3-93B5-D3AB-DA9F-4A7208F2AD8D}"/>
              </a:ext>
            </a:extLst>
          </p:cNvPr>
          <p:cNvSpPr>
            <a:spLocks noGrp="1"/>
          </p:cNvSpPr>
          <p:nvPr>
            <p:ph type="title" idx="100"/>
          </p:nvPr>
        </p:nvSpPr>
        <p:spPr/>
        <p:txBody>
          <a:bodyPr wrap="square" lIns="91440" tIns="45720" rIns="91440" bIns="45720" rtlCol="0" anchor="t"/>
          <a:lstStyle/>
          <a:p>
            <a:r>
              <a:rPr lang="en-US">
                <a:solidFill>
                  <a:srgbClr val="000000"/>
                </a:solidFill>
                <a:latin typeface="Calibri Light"/>
                <a:ea typeface="Calibri Light"/>
                <a:cs typeface="Calibri Light"/>
              </a:rPr>
              <a:t>Fabric in Customer(ZAVA) Tenant</a:t>
            </a:r>
            <a:endParaRPr lang="en-US" err="1"/>
          </a:p>
        </p:txBody>
      </p:sp>
    </p:spTree>
    <p:extLst>
      <p:ext uri="{BB962C8B-B14F-4D97-AF65-F5344CB8AC3E}">
        <p14:creationId xmlns:p14="http://schemas.microsoft.com/office/powerpoint/2010/main" val="269214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2483</Words>
  <Application>Microsoft Office PowerPoint</Application>
  <PresentationFormat>Widescreen</PresentationFormat>
  <Paragraphs>299</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Inter</vt:lpstr>
      <vt:lpstr>Poppins</vt:lpstr>
      <vt:lpstr>Calibri</vt:lpstr>
      <vt:lpstr>Arial</vt:lpstr>
      <vt:lpstr>Calibri Light</vt:lpstr>
      <vt:lpstr>Office Theme</vt:lpstr>
      <vt:lpstr>Microsoft Fabric Cross-Tenant Access</vt:lpstr>
      <vt:lpstr>Executive Conclusion</vt:lpstr>
      <vt:lpstr>Microsoft Fabric Cross-Tenant Architecture</vt:lpstr>
      <vt:lpstr>Resource-Tenant Model in Detail</vt:lpstr>
      <vt:lpstr>Tenant Terminology</vt:lpstr>
      <vt:lpstr>Supported Identity Model</vt:lpstr>
      <vt:lpstr>Required Fabric Settings &amp; Licensing</vt:lpstr>
      <vt:lpstr>What Is Confirmed</vt:lpstr>
      <vt:lpstr>Required Epic Confirmation Questions</vt:lpstr>
      <vt:lpstr>Architecture Process Flows</vt:lpstr>
      <vt:lpstr>Implementation Checklist</vt:lpstr>
      <vt:lpstr>Security &amp; Governance Considerations</vt:lpstr>
      <vt:lpstr>Fallback Architecture</vt:lpstr>
      <vt:lpstr>Evidence Quality Assessment</vt:lpstr>
      <vt:lpstr>Final Recommendation</vt:lpstr>
      <vt:lpstr>Fabric in Epic Tenant with ZAVA access</vt:lpstr>
      <vt:lpstr>Fabric in Customer(ZAVA) Tenant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 Cook</dc:creator>
  <cp:lastModifiedBy>Sam Cook</cp:lastModifiedBy>
  <cp:revision>1</cp:revision>
  <dcterms:created xsi:type="dcterms:W3CDTF">2026-10-16T17:36:22Z</dcterms:created>
  <dcterms:modified xsi:type="dcterms:W3CDTF">2026-10-16T17:36:22Z</dcterms:modified>
</cp:coreProperties>
</file>