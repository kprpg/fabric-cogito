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Sam Cook" initials="SC" userId="Sam Cook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F71F7B-E696-CD74-1A96-3676B2005A2D}" v="6" dt="2026-09-10T23:18:24.529"/>
    <p1510:client id="{5467A222-B8AF-F14B-2872-2FF0338F1313}" v="3" dt="2026-09-11T00:41:17.1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2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5BF5DAB-14D2-4B90-8544-52D268417F2E}" authorId="{00000000-0000-0000-0000-000000000000}" created="2026-10-16T17:30:11.319">
    <pc:sldMkLst xmlns:pc="http://schemas.microsoft.com/office/powerpoint/2013/main/command">
      <pc:docMk/>
      <pc:sldMk cId="0" sldId="256"/>
    </pc:sldMkLst>
    <p188:pos x="1612900" y="4089400"/>
    <p188:txBody>
      <a:bodyPr/>
      <a:lstStyle/>
      <a:p>
        <a:r>
          <a:rPr lang="en-US"/>
          <a:t>"healthcare data platform"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/>
        </p228:taskDetails>
      </p:ext>
    </p188:extLst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9FD113-BE9F-4B64-852A-B023F043B9EB}" authorId="{00000000-0000-0000-0000-000000000000}" created="2026-10-16T17:30:11.345">
    <pc:sldMkLst xmlns:pc="http://schemas.microsoft.com/office/powerpoint/2013/main/command">
      <pc:docMk/>
      <pc:sldMk cId="0" sldId="257"/>
    </pc:sldMkLst>
    <p188:pos x="3400425" y="3149600"/>
    <p188:txBody>
      <a:bodyPr/>
      <a:lstStyle/>
      <a:p>
        <a:r>
          <a:rPr lang="en-US"/>
          <a:t>PHI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/>
        </p228:taskDetails>
      </p:ext>
    </p188:extLst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CFR –  Code of Federal Regulations</a:t>
            </a:r>
          </a:p>
          <a:p>
            <a:r>
              <a:rPr lang="en-US" dirty="0"/>
              <a:t>R/A – Required/Addressable</a:t>
            </a:r>
          </a:p>
          <a:p>
            <a:r>
              <a:rPr lang="en-US" dirty="0"/>
              <a:t>This is the slide to keep open when an auditor asks how we meet the Security Rule.</a:t>
            </a:r>
          </a:p>
          <a:p>
            <a:r>
              <a:rPr lang="en-US" dirty="0"/>
              <a:t>Every row is a safeguard from 45 CFR Part 164, the HIPAA Security Rule.</a:t>
            </a:r>
          </a:p>
          <a:p>
            <a:r>
              <a:rPr lang="en-US" dirty="0"/>
              <a:t>The first block, the 164.308 rows, covers the administrative safeguards: risk analysis, named officers, workforce access, training, incidents, contingency, evaluation and BA contracts.</a:t>
            </a:r>
          </a:p>
          <a:p>
            <a:r>
              <a:rPr lang="en-US" dirty="0"/>
              <a:t>164.310 is physical, and in Fabric that's Microsoft's </a:t>
            </a:r>
            <a:r>
              <a:rPr lang="en-US" dirty="0" err="1"/>
              <a:t>datacentre</a:t>
            </a:r>
            <a:r>
              <a:rPr lang="en-US" dirty="0"/>
              <a:t> responsibility under the BAA.</a:t>
            </a:r>
          </a:p>
          <a:p>
            <a:r>
              <a:rPr lang="en-US" dirty="0"/>
              <a:t>The 164.312 rows are the technical safeguards, and that's where most of our build work sits.</a:t>
            </a:r>
          </a:p>
          <a:p>
            <a:r>
              <a:rPr lang="en-US" dirty="0"/>
              <a:t>Read each row left to right.</a:t>
            </a:r>
          </a:p>
          <a:p>
            <a:r>
              <a:rPr lang="en-US" dirty="0"/>
              <a:t>The safeguard, whether it's required or addressable, the Fabric or Microsoft control that satisfies it, and the section of this session where we covered it.</a:t>
            </a:r>
          </a:p>
          <a:p>
            <a:r>
              <a:rPr lang="en-US" dirty="0"/>
              <a:t>So the same table works as an audit summary and as an implementation checklist.</a:t>
            </a:r>
          </a:p>
          <a:p>
            <a:r>
              <a:rPr lang="en-US" dirty="0"/>
              <a:t>Now the R/A column.</a:t>
            </a:r>
          </a:p>
          <a:p>
            <a:r>
              <a:rPr lang="en-US" dirty="0"/>
              <a:t>R means required, with no alternative.</a:t>
            </a:r>
          </a:p>
          <a:p>
            <a:r>
              <a:rPr lang="en-US" dirty="0"/>
              <a:t>A means addressable, and addressable does not mean optional.</a:t>
            </a:r>
          </a:p>
          <a:p>
            <a:r>
              <a:rPr lang="en-US" dirty="0"/>
              <a:t>You implement it, implement an equivalent alternative, or document in your risk analysis why it isn't reasonable and appropriate.</a:t>
            </a:r>
          </a:p>
          <a:p>
            <a:r>
              <a:rPr lang="en-US" dirty="0"/>
              <a:t>Where you see R/A, that standard contains both kinds of specification, so check each one individually.</a:t>
            </a:r>
          </a:p>
          <a:p>
            <a:r>
              <a:rPr lang="en-US" dirty="0"/>
              <a:t>Training is the only row here that's purely addressable.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6740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tmlgen-assets/3879d34e-650d-4512-a254-e54664d18c72/320fb2484bc44792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1E2761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822960" y="1371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SESSION</a:t>
            </a:r>
            <a:endParaRPr lang="en-US" sz="1200"/>
          </a:p>
        </p:txBody>
      </p:sp>
      <p:sp>
        <p:nvSpPr>
          <p:cNvPr id="6" name="Text 3"/>
          <p:cNvSpPr/>
          <p:nvPr/>
        </p:nvSpPr>
        <p:spPr>
          <a:xfrm>
            <a:off x="822960" y="178308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HIPAA-Compliant</a:t>
            </a:r>
            <a:endParaRPr lang="en-US" sz="420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Fabric</a:t>
            </a:r>
            <a:endParaRPr lang="en-US" sz="4200"/>
          </a:p>
        </p:txBody>
      </p:sp>
      <p:sp>
        <p:nvSpPr>
          <p:cNvPr id="7" name="Text 4"/>
          <p:cNvSpPr/>
          <p:nvPr/>
        </p:nvSpPr>
        <p:spPr>
          <a:xfrm>
            <a:off x="822960" y="361188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implementation and continuous-compliance playbook for hospital data platforms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</a:t>
            </a: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engineers, cloud &amp; security architects, data engineers, compliance liaisons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FB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•  July 2026  •  Confidential – Internal Use</a:t>
            </a:r>
            <a:endParaRPr lang="en-US" sz="110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/>
          </a:p>
        </p:txBody>
      </p:sp>
      <p:sp>
        <p:nvSpPr>
          <p:cNvPr id="5" name="Text 3"/>
          <p:cNvSpPr/>
          <p:nvPr/>
        </p:nvSpPr>
        <p:spPr>
          <a:xfrm>
            <a:off x="1234440" y="16550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scope &amp; assumptions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62179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6812280" y="16550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in brief for implementers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640080" y="22585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1234440" y="231343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responsibility model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6217920" y="22585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/>
          </a:p>
        </p:txBody>
      </p:sp>
      <p:sp>
        <p:nvSpPr>
          <p:cNvPr id="11" name="Text 9"/>
          <p:cNvSpPr/>
          <p:nvPr/>
        </p:nvSpPr>
        <p:spPr>
          <a:xfrm>
            <a:off x="6812280" y="231343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foundations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640080" y="291693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1234440" y="2971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workloads touch ePHI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6217920" y="291693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6812280" y="2971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 management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640080" y="357530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1234440" y="363016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&amp; data protection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217920" y="357530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/>
          </a:p>
        </p:txBody>
      </p:sp>
      <p:sp>
        <p:nvSpPr>
          <p:cNvPr id="19" name="Text 17"/>
          <p:cNvSpPr/>
          <p:nvPr/>
        </p:nvSpPr>
        <p:spPr>
          <a:xfrm>
            <a:off x="6812280" y="363016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640080" y="42336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1234440" y="428853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controls &amp; logging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6217920" y="42336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/>
          </a:p>
        </p:txBody>
      </p:sp>
      <p:sp>
        <p:nvSpPr>
          <p:cNvPr id="23" name="Text 21"/>
          <p:cNvSpPr/>
          <p:nvPr/>
        </p:nvSpPr>
        <p:spPr>
          <a:xfrm>
            <a:off x="6812280" y="428853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tiers &amp; priority alerts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640080" y="4892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000"/>
          </a:p>
        </p:txBody>
      </p:sp>
      <p:sp>
        <p:nvSpPr>
          <p:cNvPr id="25" name="Text 23"/>
          <p:cNvSpPr/>
          <p:nvPr/>
        </p:nvSpPr>
        <p:spPr>
          <a:xfrm>
            <a:off x="1234440" y="494690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Integrity, availability &amp; Purview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217920" y="489204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000"/>
          </a:p>
        </p:txBody>
      </p:sp>
      <p:sp>
        <p:nvSpPr>
          <p:cNvPr id="27" name="Text 25"/>
          <p:cNvSpPr/>
          <p:nvPr/>
        </p:nvSpPr>
        <p:spPr>
          <a:xfrm>
            <a:off x="6812280" y="494690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protection &amp; operations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640080" y="55504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000"/>
          </a:p>
        </p:txBody>
      </p:sp>
      <p:sp>
        <p:nvSpPr>
          <p:cNvPr id="29" name="Text 27"/>
          <p:cNvSpPr/>
          <p:nvPr/>
        </p:nvSpPr>
        <p:spPr>
          <a:xfrm>
            <a:off x="1234440" y="560527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&amp; breach</a:t>
            </a:r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6217920" y="55504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7F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000"/>
          </a:p>
        </p:txBody>
      </p:sp>
      <p:sp>
        <p:nvSpPr>
          <p:cNvPr id="31" name="Text 29"/>
          <p:cNvSpPr/>
          <p:nvPr/>
        </p:nvSpPr>
        <p:spPr>
          <a:xfrm>
            <a:off x="6812280" y="560527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mapping &amp; readiness</a:t>
            </a:r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Purpose, Scope &amp; Assumptions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agent/turn1/workspace/output/_anthropic_assets/icon-document-bullet-list-7cc4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194950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Purpose</a:t>
            </a:r>
            <a:endParaRPr lang="en-US" sz="1700"/>
          </a:p>
        </p:txBody>
      </p:sp>
      <p:sp>
        <p:nvSpPr>
          <p:cNvPr id="8" name="Text 5"/>
          <p:cNvSpPr/>
          <p:nvPr/>
        </p:nvSpPr>
        <p:spPr>
          <a:xfrm>
            <a:off x="914400" y="292608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a hospital Covered Entity must design and implement so a Fabric analytics solution handling ePHI stays compliant with the Security, Privacy and Breach Notification Rules — at all times.</a:t>
            </a:r>
            <a:endParaRPr lang="en-US" sz="1200"/>
          </a:p>
          <a:p>
            <a:pPr marL="0" indent="0">
              <a:lnSpc>
                <a:spcPts val="1700"/>
              </a:lnSpc>
              <a:buNone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pairs the regulatory requirement with concrete Fabric, Entra ID, Purview and Azure configuration.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4434840" y="155448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09160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agent/turn1/workspace/output/_anthropic_assets/icon-cloud-f2ed5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581" y="19495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scope</a:t>
            </a:r>
            <a:endParaRPr lang="en-US" sz="1700"/>
          </a:p>
        </p:txBody>
      </p:sp>
      <p:sp>
        <p:nvSpPr>
          <p:cNvPr id="13" name="Text 9"/>
          <p:cNvSpPr/>
          <p:nvPr/>
        </p:nvSpPr>
        <p:spPr>
          <a:xfrm>
            <a:off x="4709160" y="292608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OneLake, Lakehouse, Warehouse</a:t>
            </a:r>
            <a:endParaRPr lang="en-US" sz="120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Pipelines, Notebooks &amp; Spark</a:t>
            </a:r>
            <a:endParaRPr lang="en-US" sz="120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Intelligence / Eventhouse</a:t>
            </a:r>
            <a:endParaRPr lang="en-US" sz="120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in Fabric</a:t>
            </a:r>
            <a:endParaRPr lang="en-US" sz="120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/ Copilot</a:t>
            </a:r>
            <a:endParaRPr lang="en-US" sz="120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Entra, Azure &amp; M365 services</a:t>
            </a:r>
            <a:endParaRPr lang="en-US" sz="1200"/>
          </a:p>
        </p:txBody>
      </p:sp>
      <p:sp>
        <p:nvSpPr>
          <p:cNvPr id="14" name="Shape 10"/>
          <p:cNvSpPr/>
          <p:nvPr/>
        </p:nvSpPr>
        <p:spPr>
          <a:xfrm>
            <a:off x="8229600" y="1554480"/>
            <a:ext cx="3291840" cy="3657600"/>
          </a:xfrm>
          <a:prstGeom prst="roundRect">
            <a:avLst>
              <a:gd name="adj" fmla="val 2222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agent/turn1/workspace/output/_anthropic_assets/icon-warning-a89f23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19495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2560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assumptions</a:t>
            </a:r>
            <a:endParaRPr lang="en-US" sz="1700"/>
          </a:p>
        </p:txBody>
      </p:sp>
      <p:sp>
        <p:nvSpPr>
          <p:cNvPr id="18" name="Text 13"/>
          <p:cNvSpPr/>
          <p:nvPr/>
        </p:nvSpPr>
        <p:spPr>
          <a:xfrm>
            <a:off x="8503920" y="29260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Microsoft BAA/DPA covering every Fabric feature in use — coverage is per-service.</a:t>
            </a:r>
            <a:endParaRPr lang="en-US" sz="115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are NOT covered — never process ePHI with them.</a:t>
            </a:r>
            <a:endParaRPr lang="en-US" sz="115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Commercial cloud (not sovereign/gov).</a:t>
            </a:r>
            <a:endParaRPr lang="en-US" sz="115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BAA alone does not make you compliant.</a:t>
            </a:r>
            <a:endParaRPr lang="en-US" sz="115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does not certify products.</a:t>
            </a:r>
            <a:endParaRPr lang="en-US" sz="1150"/>
          </a:p>
        </p:txBody>
      </p:sp>
      <p:sp>
        <p:nvSpPr>
          <p:cNvPr id="19" name="Text 14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20" name="Text 15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HIPAA in Brief — for Implementers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drive every technical requirement. Know which control satisfies which rule.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agent/turn1/workspace/output/_anthropic_assets/icon-shield-checkmark-3d9970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311" y="2260031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78892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Rule</a:t>
            </a:r>
            <a:endParaRPr lang="en-US" sz="170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Administrative, physical &amp; technical safeguards for ePHI (§164.302–318).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914400" y="38404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identity, access, encryption, audit and monitoring configuration.</a:t>
            </a:r>
            <a:endParaRPr lang="en-US" sz="115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210312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agent/turn1/workspace/output/_anthropic_assets/icon-eye-tracking-31bc5b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631" y="2260031"/>
            <a:ext cx="289682" cy="28968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17720" y="278892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Rule</a:t>
            </a:r>
            <a:endParaRPr lang="en-US" sz="1700"/>
          </a:p>
        </p:txBody>
      </p:sp>
      <p:sp>
        <p:nvSpPr>
          <p:cNvPr id="15" name="Text 11"/>
          <p:cNvSpPr/>
          <p:nvPr/>
        </p:nvSpPr>
        <p:spPr>
          <a:xfrm>
            <a:off x="4617720" y="31546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on use and disclosure; the 'minimum necessary' standard.</a:t>
            </a:r>
            <a:endParaRPr lang="en-US" sz="1150"/>
          </a:p>
        </p:txBody>
      </p:sp>
      <p:sp>
        <p:nvSpPr>
          <p:cNvPr id="16" name="Text 12"/>
          <p:cNvSpPr/>
          <p:nvPr/>
        </p:nvSpPr>
        <p:spPr>
          <a:xfrm>
            <a:off x="4617720" y="38404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least privilege, data minimization, de-identification, RLS/CLS/OLS.</a:t>
            </a:r>
            <a:endParaRPr lang="en-US" sz="1150"/>
          </a:p>
        </p:txBody>
      </p:sp>
      <p:sp>
        <p:nvSpPr>
          <p:cNvPr id="17" name="Shape 13"/>
          <p:cNvSpPr/>
          <p:nvPr/>
        </p:nvSpPr>
        <p:spPr>
          <a:xfrm>
            <a:off x="8046720" y="18745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321040" y="210312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/agent/turn1/workspace/output/_anthropic_assets/icon-warning-a89f23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951" y="2260031"/>
            <a:ext cx="289682" cy="28968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21040" y="278892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Breach Notification</a:t>
            </a:r>
            <a:endParaRPr lang="en-US" sz="1700"/>
          </a:p>
        </p:txBody>
      </p:sp>
      <p:sp>
        <p:nvSpPr>
          <p:cNvPr id="21" name="Text 16"/>
          <p:cNvSpPr/>
          <p:nvPr/>
        </p:nvSpPr>
        <p:spPr>
          <a:xfrm>
            <a:off x="8321040" y="31546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individuals, HHS and media of breaches of unsecured PHI on the clock.</a:t>
            </a:r>
            <a:endParaRPr lang="en-US" sz="1150"/>
          </a:p>
        </p:txBody>
      </p:sp>
      <p:sp>
        <p:nvSpPr>
          <p:cNvPr id="22" name="Text 17"/>
          <p:cNvSpPr/>
          <p:nvPr/>
        </p:nvSpPr>
        <p:spPr>
          <a:xfrm>
            <a:off x="8321040" y="384048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audit logging, detection, IR runbooks and encryption (safe harbor).</a:t>
            </a:r>
            <a:endParaRPr lang="en-US" sz="1150"/>
          </a:p>
        </p:txBody>
      </p:sp>
      <p:sp>
        <p:nvSpPr>
          <p:cNvPr id="23" name="Shape 18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914400" y="50749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vs. Addressable — </a:t>
            </a:r>
            <a:r>
              <a:rPr lang="en-US" sz="13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“Addressable” does NOT mean optional. You must implement it, implement an equivalent alternative, or document in your risk analysis why it is not reasonable and appropriate.</a:t>
            </a:r>
            <a:endParaRPr lang="en-US" sz="1300"/>
          </a:p>
        </p:txBody>
      </p:sp>
      <p:sp>
        <p:nvSpPr>
          <p:cNvPr id="25" name="Text 2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26" name="Text 21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3.1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Responsibility Model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secures the cloud. The hospital secures its configuration, identities, data and use.</a:t>
            </a:r>
            <a:endParaRPr lang="en-US" sz="13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396849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(Business Associate)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(Covered Entity)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&amp; data center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responsibility — physical security, power, hardware.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host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Patching, hypervisor, resiliency, service-level encryption.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keys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Platform-managed keys; CMK support where available.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 key strategy; manage CMK lifecycle.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&amp; access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Provides Entra ID, Conditional Access, RBAC engines.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Configure identities, MFA, CA, least-privilege roles.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content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Stores/processes as instructed; never uses PHI for its own purposes.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— classification, DLP, minimum necessary, retention.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&amp; use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Provides secure defaults and controls.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5A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— correct configuration, monitoring, workforce use.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640080" y="1783080"/>
            <a:ext cx="10881360" cy="6583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2651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150"/>
          </a:p>
        </p:txBody>
      </p:sp>
      <p:sp>
        <p:nvSpPr>
          <p:cNvPr id="8" name="Text 5"/>
          <p:cNvSpPr/>
          <p:nvPr/>
        </p:nvSpPr>
        <p:spPr>
          <a:xfrm>
            <a:off x="3474720" y="178308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(Business Associate)</a:t>
            </a:r>
            <a:endParaRPr lang="en-US" sz="1150"/>
          </a:p>
        </p:txBody>
      </p:sp>
      <p:sp>
        <p:nvSpPr>
          <p:cNvPr id="9" name="Text 6"/>
          <p:cNvSpPr/>
          <p:nvPr/>
        </p:nvSpPr>
        <p:spPr>
          <a:xfrm>
            <a:off x="7543800" y="178308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(Covered Entity)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11" name="Text 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3.2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Administrative Program Foundations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these first — they are Security Rule administrative safeguards and prerequisites to the technical build.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96112" y="20574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agent/turn1/workspace/output/_anthropic_assets/icon-person-key-c6febb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58" y="2200046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12140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owners</a:t>
            </a:r>
            <a:endParaRPr lang="en-US" sz="150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HIPAA Security Officer and Privacy Officer (Required, §164.308(a)(2)) accountable for this Fabric platform.</a:t>
            </a:r>
            <a:endParaRPr lang="en-US" sz="1150"/>
          </a:p>
        </p:txBody>
      </p:sp>
      <p:sp>
        <p:nvSpPr>
          <p:cNvPr id="10" name="Shape 7"/>
          <p:cNvSpPr/>
          <p:nvPr/>
        </p:nvSpPr>
        <p:spPr>
          <a:xfrm>
            <a:off x="4343400" y="18288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99432" y="20574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agent/turn1/workspace/output/_anthropic_assets/icon-document-bullet-list-7cc4a2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078" y="220004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57800" y="212140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a risk analysis</a:t>
            </a:r>
            <a:endParaRPr lang="en-US" sz="1500"/>
          </a:p>
        </p:txBody>
      </p:sp>
      <p:sp>
        <p:nvSpPr>
          <p:cNvPr id="14" name="Text 10"/>
          <p:cNvSpPr/>
          <p:nvPr/>
        </p:nvSpPr>
        <p:spPr>
          <a:xfrm>
            <a:off x="4599432" y="2743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§164.308(a)(1). Document where ePHI enters, is stored, processed and leaves Fabric, plus exfiltration risk.</a:t>
            </a:r>
            <a:endParaRPr lang="en-US" sz="1150"/>
          </a:p>
        </p:txBody>
      </p:sp>
      <p:sp>
        <p:nvSpPr>
          <p:cNvPr id="15" name="Shape 11"/>
          <p:cNvSpPr/>
          <p:nvPr/>
        </p:nvSpPr>
        <p:spPr>
          <a:xfrm>
            <a:off x="8046720" y="182880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02752" y="20574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agent/turn1/workspace/output/_anthropic_assets/icon-clipboard-task-list-80a1e4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5398" y="220004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61120" y="212140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management plan</a:t>
            </a:r>
            <a:endParaRPr lang="en-US" sz="1500"/>
          </a:p>
        </p:txBody>
      </p:sp>
      <p:sp>
        <p:nvSpPr>
          <p:cNvPr id="19" name="Text 14"/>
          <p:cNvSpPr/>
          <p:nvPr/>
        </p:nvSpPr>
        <p:spPr>
          <a:xfrm>
            <a:off x="8302752" y="2743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 remediation register tracking every identified risk to closure.</a:t>
            </a:r>
            <a:endParaRPr lang="en-US" sz="115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96112" y="4206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agent/turn1/workspace/output/_anthropic_assets/icon-shield-checkmark-3d99707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758" y="434888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2702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policies</a:t>
            </a:r>
            <a:endParaRPr lang="en-US" sz="1500"/>
          </a:p>
        </p:txBody>
      </p:sp>
      <p:sp>
        <p:nvSpPr>
          <p:cNvPr id="24" name="Text 18"/>
          <p:cNvSpPr/>
          <p:nvPr/>
        </p:nvSpPr>
        <p:spPr>
          <a:xfrm>
            <a:off x="896112" y="48920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control, audit, incident response, sanction, contingency, workforce clearance.</a:t>
            </a:r>
            <a:endParaRPr lang="en-US" sz="1150"/>
          </a:p>
        </p:txBody>
      </p:sp>
      <p:sp>
        <p:nvSpPr>
          <p:cNvPr id="25" name="Shape 19"/>
          <p:cNvSpPr/>
          <p:nvPr/>
        </p:nvSpPr>
        <p:spPr>
          <a:xfrm>
            <a:off x="4343400" y="39776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599432" y="4206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/agent/turn1/workspace/output/_anthropic_assets/icon-building-multiple-6442e86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2078" y="4348886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257800" y="42702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&amp; sanctions</a:t>
            </a:r>
            <a:endParaRPr lang="en-US" sz="1500"/>
          </a:p>
        </p:txBody>
      </p:sp>
      <p:sp>
        <p:nvSpPr>
          <p:cNvPr id="29" name="Text 22"/>
          <p:cNvSpPr/>
          <p:nvPr/>
        </p:nvSpPr>
        <p:spPr>
          <a:xfrm>
            <a:off x="4599432" y="48920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 security-awareness training with completion records; a defined sanction policy.</a:t>
            </a:r>
            <a:endParaRPr lang="en-US" sz="1150"/>
          </a:p>
        </p:txBody>
      </p:sp>
      <p:sp>
        <p:nvSpPr>
          <p:cNvPr id="30" name="Shape 23"/>
          <p:cNvSpPr/>
          <p:nvPr/>
        </p:nvSpPr>
        <p:spPr>
          <a:xfrm>
            <a:off x="8046720" y="397764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8302752" y="4206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/agent/turn1/workspace/output/_anthropic_assets/icon-globe-shield-d11605f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398" y="4348886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961120" y="427024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Downstream BAAs</a:t>
            </a:r>
            <a:endParaRPr lang="en-US" sz="1500"/>
          </a:p>
        </p:txBody>
      </p:sp>
      <p:sp>
        <p:nvSpPr>
          <p:cNvPr id="34" name="Text 26"/>
          <p:cNvSpPr/>
          <p:nvPr/>
        </p:nvSpPr>
        <p:spPr>
          <a:xfrm>
            <a:off x="8302752" y="48920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BAAs with Microsoft and any sub-processor or ISV that touches Fabric data.</a:t>
            </a:r>
            <a:endParaRPr lang="en-US" sz="1150"/>
          </a:p>
        </p:txBody>
      </p:sp>
      <p:sp>
        <p:nvSpPr>
          <p:cNvPr id="35" name="Text 27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36" name="Text 2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Fabric Workloads Touch ePHI?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workload that stores or processes ePHI inherits the full control set. Prove and enforce the boundary — never assume it.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2029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agent/turn1/workspace/output/_anthropic_assets/icon-database-7b5c44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21607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2606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OneLake</a:t>
            </a:r>
            <a:endParaRPr lang="en-US" sz="1350"/>
          </a:p>
        </p:txBody>
      </p:sp>
      <p:sp>
        <p:nvSpPr>
          <p:cNvPr id="9" name="Text 6"/>
          <p:cNvSpPr/>
          <p:nvPr/>
        </p:nvSpPr>
        <p:spPr>
          <a:xfrm>
            <a:off x="868680" y="290779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ePHI by default. Workspace isolation, encryption, Purview labelling, OneLake data-access roles.</a:t>
            </a:r>
            <a:endParaRPr lang="en-US" sz="1000"/>
          </a:p>
        </p:txBody>
      </p:sp>
      <p:sp>
        <p:nvSpPr>
          <p:cNvPr id="10" name="Shape 7"/>
          <p:cNvSpPr/>
          <p:nvPr/>
        </p:nvSpPr>
        <p:spPr>
          <a:xfrm>
            <a:off x="342900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657600" y="2029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agent/turn1/workspace/output/_anthropic_assets/icon-database-7b5c44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359" y="216072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2606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Lakehouse</a:t>
            </a:r>
            <a:endParaRPr lang="en-US" sz="1350"/>
          </a:p>
        </p:txBody>
      </p:sp>
      <p:sp>
        <p:nvSpPr>
          <p:cNvPr id="14" name="Text 10"/>
          <p:cNvSpPr/>
          <p:nvPr/>
        </p:nvSpPr>
        <p:spPr>
          <a:xfrm>
            <a:off x="3657600" y="290779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ePHI. Table/row/column security; de-identify in silver &amp; gold.</a:t>
            </a:r>
            <a:endParaRPr lang="en-US" sz="1000"/>
          </a:p>
        </p:txBody>
      </p:sp>
      <p:sp>
        <p:nvSpPr>
          <p:cNvPr id="15" name="Shape 11"/>
          <p:cNvSpPr/>
          <p:nvPr/>
        </p:nvSpPr>
        <p:spPr>
          <a:xfrm>
            <a:off x="621792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446520" y="2029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agent/turn1/workspace/output/_anthropic_assets/icon-chart-multiple-c36bdf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279" y="2160727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2606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Warehouse</a:t>
            </a:r>
            <a:endParaRPr lang="en-US" sz="1350"/>
          </a:p>
        </p:txBody>
      </p:sp>
      <p:sp>
        <p:nvSpPr>
          <p:cNvPr id="19" name="Text 14"/>
          <p:cNvSpPr/>
          <p:nvPr/>
        </p:nvSpPr>
        <p:spPr>
          <a:xfrm>
            <a:off x="6446520" y="290779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ePHI. Object-, row- and column-level security; mask direct identifiers.</a:t>
            </a:r>
            <a:endParaRPr lang="en-US" sz="1000"/>
          </a:p>
        </p:txBody>
      </p:sp>
      <p:sp>
        <p:nvSpPr>
          <p:cNvPr id="20" name="Shape 15"/>
          <p:cNvSpPr/>
          <p:nvPr/>
        </p:nvSpPr>
        <p:spPr>
          <a:xfrm>
            <a:off x="9006840" y="18288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235440" y="20299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agent/turn1/workspace/output/_anthropic_assets/icon-arrow-sync-circle-510090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6199" y="2160727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5440" y="2606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Factory / Pipelines</a:t>
            </a:r>
            <a:endParaRPr lang="en-US" sz="1350"/>
          </a:p>
        </p:txBody>
      </p:sp>
      <p:sp>
        <p:nvSpPr>
          <p:cNvPr id="24" name="Text 18"/>
          <p:cNvSpPr/>
          <p:nvPr/>
        </p:nvSpPr>
        <p:spPr>
          <a:xfrm>
            <a:off x="9235440" y="290779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ePHI in transit. Managed identities, private endpoints, encrypted gateways, no plaintext secrets.</a:t>
            </a:r>
            <a:endParaRPr lang="en-US" sz="1000"/>
          </a:p>
        </p:txBody>
      </p:sp>
      <p:sp>
        <p:nvSpPr>
          <p:cNvPr id="25" name="Shape 19"/>
          <p:cNvSpPr/>
          <p:nvPr/>
        </p:nvSpPr>
        <p:spPr>
          <a:xfrm>
            <a:off x="640080" y="379476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868680" y="39959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/agent/turn1/workspace/output/_anthropic_assets/icon-stream-1e6378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4126687"/>
            <a:ext cx="241402" cy="24140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68680" y="4572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Notebooks &amp; Spark</a:t>
            </a:r>
            <a:endParaRPr lang="en-US" sz="1350"/>
          </a:p>
        </p:txBody>
      </p:sp>
      <p:sp>
        <p:nvSpPr>
          <p:cNvPr id="29" name="Text 22"/>
          <p:cNvSpPr/>
          <p:nvPr/>
        </p:nvSpPr>
        <p:spPr>
          <a:xfrm>
            <a:off x="868680" y="487375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who can run; disable public package egress; no PHI in committed output cells.</a:t>
            </a:r>
            <a:endParaRPr lang="en-US" sz="1000"/>
          </a:p>
        </p:txBody>
      </p:sp>
      <p:sp>
        <p:nvSpPr>
          <p:cNvPr id="30" name="Shape 23"/>
          <p:cNvSpPr/>
          <p:nvPr/>
        </p:nvSpPr>
        <p:spPr>
          <a:xfrm>
            <a:off x="3429000" y="379476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3657600" y="39959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/agent/turn1/workspace/output/_anthropic_assets/icon-stream-1e6378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8359" y="4126687"/>
            <a:ext cx="241402" cy="24140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657600" y="4572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/ Eventhouse</a:t>
            </a:r>
            <a:endParaRPr lang="en-US" sz="1350"/>
          </a:p>
        </p:txBody>
      </p:sp>
      <p:sp>
        <p:nvSpPr>
          <p:cNvPr id="34" name="Text 26"/>
          <p:cNvSpPr/>
          <p:nvPr/>
        </p:nvSpPr>
        <p:spPr>
          <a:xfrm>
            <a:off x="3657600" y="487375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per stream; same controls where patient-identifiable.</a:t>
            </a:r>
            <a:endParaRPr lang="en-US" sz="1000"/>
          </a:p>
        </p:txBody>
      </p:sp>
      <p:sp>
        <p:nvSpPr>
          <p:cNvPr id="35" name="Shape 27"/>
          <p:cNvSpPr/>
          <p:nvPr/>
        </p:nvSpPr>
        <p:spPr>
          <a:xfrm>
            <a:off x="6217920" y="379476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6446520" y="39959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6" descr="/agent/turn1/workspace/output/_anthropic_assets/icon-chart-multiple-c36bdf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279" y="4126687"/>
            <a:ext cx="241402" cy="24140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446520" y="4572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BI in Fabric</a:t>
            </a:r>
            <a:endParaRPr lang="en-US" sz="1350"/>
          </a:p>
        </p:txBody>
      </p:sp>
      <p:sp>
        <p:nvSpPr>
          <p:cNvPr id="39" name="Text 30"/>
          <p:cNvSpPr/>
          <p:nvPr/>
        </p:nvSpPr>
        <p:spPr>
          <a:xfrm>
            <a:off x="6446520" y="487375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RLS/OLS and label inheritance; restrict export, print and share.</a:t>
            </a:r>
            <a:endParaRPr lang="en-US" sz="1000"/>
          </a:p>
        </p:txBody>
      </p:sp>
      <p:sp>
        <p:nvSpPr>
          <p:cNvPr id="40" name="Shape 31"/>
          <p:cNvSpPr/>
          <p:nvPr/>
        </p:nvSpPr>
        <p:spPr>
          <a:xfrm>
            <a:off x="9006840" y="379476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2"/>
          <p:cNvSpPr/>
          <p:nvPr/>
        </p:nvSpPr>
        <p:spPr>
          <a:xfrm>
            <a:off x="9235440" y="399592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7" descr="/agent/turn1/workspace/output/_anthropic_assets/icon-bot-046438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6199" y="4126687"/>
            <a:ext cx="241402" cy="24140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235440" y="4572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 / Data Agent</a:t>
            </a:r>
            <a:endParaRPr lang="en-US" sz="1350"/>
          </a:p>
        </p:txBody>
      </p:sp>
      <p:sp>
        <p:nvSpPr>
          <p:cNvPr id="44" name="Text 34"/>
          <p:cNvSpPr/>
          <p:nvPr/>
        </p:nvSpPr>
        <p:spPr>
          <a:xfrm>
            <a:off x="9235440" y="4873752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only after BAA confirmation; restrict to authorized users; log usage.</a:t>
            </a:r>
            <a:endParaRPr lang="en-US" sz="1000"/>
          </a:p>
        </p:txBody>
      </p:sp>
      <p:sp>
        <p:nvSpPr>
          <p:cNvPr id="45" name="Shape 35"/>
          <p:cNvSpPr/>
          <p:nvPr/>
        </p:nvSpPr>
        <p:spPr>
          <a:xfrm>
            <a:off x="640080" y="571500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6"/>
          <p:cNvSpPr/>
          <p:nvPr/>
        </p:nvSpPr>
        <p:spPr>
          <a:xfrm>
            <a:off x="914400" y="5806440"/>
            <a:ext cx="10332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the ePHI footprint — </a:t>
            </a:r>
            <a:r>
              <a:rPr lang="en-US" sz="12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 medallion architecture, de-identify as early as practical, and keep identifiable ePHI in the fewest workspaces and layers possible.</a:t>
            </a:r>
            <a:endParaRPr lang="en-US" sz="1200"/>
          </a:p>
        </p:txBody>
      </p:sp>
      <p:sp>
        <p:nvSpPr>
          <p:cNvPr id="47" name="Text 37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48" name="Text 3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5.1  •  §164.312(a) ACCESS CONTROL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&amp; Access Management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Requirement: </a:t>
            </a: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user identification, least-privilege access, and control over who can reach ePHI.</a:t>
            </a:r>
            <a:endParaRPr lang="en-US" sz="1250"/>
          </a:p>
        </p:txBody>
      </p:sp>
      <p:sp>
        <p:nvSpPr>
          <p:cNvPr id="6" name="Shape 4"/>
          <p:cNvSpPr/>
          <p:nvPr/>
        </p:nvSpPr>
        <p:spPr>
          <a:xfrm>
            <a:off x="640080" y="2249424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24128" y="2194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as sole IdP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1024128" y="2487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or local accounts — every user has a unique ID.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6217920" y="2249424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01968" y="2194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Phishing-resistant MFA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6601968" y="2487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Access enforced; FIDO2/passkeys or CBA for privileged roles.</a:t>
            </a:r>
            <a:endParaRPr lang="en-US" sz="1100"/>
          </a:p>
        </p:txBody>
      </p:sp>
      <p:sp>
        <p:nvSpPr>
          <p:cNvPr id="12" name="Shape 10"/>
          <p:cNvSpPr/>
          <p:nvPr/>
        </p:nvSpPr>
        <p:spPr>
          <a:xfrm>
            <a:off x="640080" y="3035808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24128" y="29809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Access policies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1024128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devices, block legacy auth, trusted locations, sign-in risk.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217920" y="3035808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01968" y="29809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workspace roles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6601968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Member / Contributor / Viewer — avoid tenant-admin sprawl.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640080" y="3822192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24128" y="37673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with SPNs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1024128" y="4059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development activity in production environments.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6217920" y="3822192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01968" y="37673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 for privileged roles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6601968" y="4059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Just-in-time, time-bound, approval-gated Fabric and Capacity Admin.</a:t>
            </a:r>
            <a:endParaRPr lang="en-US" sz="1100"/>
          </a:p>
        </p:txBody>
      </p:sp>
      <p:sp>
        <p:nvSpPr>
          <p:cNvPr id="24" name="Shape 22"/>
          <p:cNvSpPr/>
          <p:nvPr/>
        </p:nvSpPr>
        <p:spPr>
          <a:xfrm>
            <a:off x="640080" y="4608576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24128" y="4553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packages &amp; reviews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1024128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recertification removes stale access.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6217920" y="4608576"/>
            <a:ext cx="256032" cy="256032"/>
          </a:xfrm>
          <a:prstGeom prst="ellipse">
            <a:avLst/>
          </a:prstGeom>
          <a:solidFill>
            <a:srgbClr val="7FA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01968" y="4553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identities + Key Vault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6601968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credentials in pipelines or notebooks.</a:t>
            </a:r>
            <a:endParaRPr lang="en-US" sz="1100"/>
          </a:p>
        </p:txBody>
      </p:sp>
      <p:sp>
        <p:nvSpPr>
          <p:cNvPr id="30" name="Shape 28"/>
          <p:cNvSpPr/>
          <p:nvPr/>
        </p:nvSpPr>
        <p:spPr>
          <a:xfrm>
            <a:off x="640080" y="55321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access (Required): </a:t>
            </a: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accounts excluded from CA, stored securely, alerted on any use.    </a:t>
            </a: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logoff (Addressable): </a:t>
            </a: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Entra session lifetime / CA sign-in frequency so idle sessions re-authenticate.</a:t>
            </a:r>
            <a:endParaRPr lang="en-US" sz="115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5.2  •  §164.312(a)(2)(iv) &amp; (e)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Encryption &amp; Data Protection</a:t>
            </a:r>
            <a:endParaRPr lang="en-US" sz="3000"/>
          </a:p>
        </p:txBody>
      </p:sp>
      <p:pic>
        <p:nvPicPr>
          <p:cNvPr id="4" name="Image 0" descr="/tmp/htmlgen-assets/3879d34e-650d-4512-a254-e54664d18c72/fbed1a10d8434bc5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3840" y="1463040"/>
            <a:ext cx="3657600" cy="24414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4069080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138160" y="4297680"/>
            <a:ext cx="548640" cy="548640"/>
          </a:xfrm>
          <a:prstGeom prst="ellipse">
            <a:avLst/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/agent/turn1/workspace/output/_anthropic_assets/icon-key-multiple-634a4c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806" y="4440326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38160" y="49834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is the recognized breach safe-harbour. It is the single highest-leverage control on this list.</a:t>
            </a:r>
            <a:endParaRPr lang="en-US" sz="1250"/>
          </a:p>
        </p:txBody>
      </p:sp>
      <p:sp>
        <p:nvSpPr>
          <p:cNvPr id="9" name="Text 5"/>
          <p:cNvSpPr/>
          <p:nvPr/>
        </p:nvSpPr>
        <p:spPr>
          <a:xfrm>
            <a:off x="640080" y="1508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</a:t>
            </a:r>
            <a:endParaRPr lang="en-US" sz="1300"/>
          </a:p>
        </p:txBody>
      </p:sp>
      <p:sp>
        <p:nvSpPr>
          <p:cNvPr id="10" name="Text 6"/>
          <p:cNvSpPr/>
          <p:nvPr/>
        </p:nvSpPr>
        <p:spPr>
          <a:xfrm>
            <a:off x="640080" y="1783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and Fabric encrypt at rest by default with AES-256 Microsoft-managed keys — on and non-disableable. Confirm and document it.</a:t>
            </a:r>
            <a:endParaRPr lang="en-US" sz="1100"/>
          </a:p>
        </p:txBody>
      </p:sp>
      <p:sp>
        <p:nvSpPr>
          <p:cNvPr id="11" name="Text 7"/>
          <p:cNvSpPr/>
          <p:nvPr/>
        </p:nvSpPr>
        <p:spPr>
          <a:xfrm>
            <a:off x="640080" y="2286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</a:t>
            </a:r>
            <a:endParaRPr lang="en-US" sz="1300"/>
          </a:p>
        </p:txBody>
      </p:sp>
      <p:sp>
        <p:nvSpPr>
          <p:cNvPr id="12" name="Text 8"/>
          <p:cNvSpPr/>
          <p:nvPr/>
        </p:nvSpPr>
        <p:spPr>
          <a:xfrm>
            <a:off x="640080" y="2560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policy requires key control or separation of duties, evaluate CMK/BYOK backed by Key Vault or Managed HSM; own rotation and revocation.</a:t>
            </a:r>
            <a:endParaRPr lang="en-US" sz="1100"/>
          </a:p>
        </p:txBody>
      </p:sp>
      <p:sp>
        <p:nvSpPr>
          <p:cNvPr id="13" name="Text 9"/>
          <p:cNvSpPr/>
          <p:nvPr/>
        </p:nvSpPr>
        <p:spPr>
          <a:xfrm>
            <a:off x="64008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</a:t>
            </a:r>
            <a:endParaRPr lang="en-US" sz="1300"/>
          </a:p>
        </p:txBody>
      </p:sp>
      <p:sp>
        <p:nvSpPr>
          <p:cNvPr id="14" name="Text 10"/>
          <p:cNvSpPr/>
          <p:nvPr/>
        </p:nvSpPr>
        <p:spPr>
          <a:xfrm>
            <a:off x="640080" y="33375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Fabric traffic uses TLS 1.2+. Enforce a TLS 1.2 minimum on gateways and source connections; reject downgrade.</a:t>
            </a:r>
            <a:endParaRPr lang="en-US" sz="1100"/>
          </a:p>
        </p:txBody>
      </p:sp>
      <p:sp>
        <p:nvSpPr>
          <p:cNvPr id="15" name="Text 11"/>
          <p:cNvSpPr/>
          <p:nvPr/>
        </p:nvSpPr>
        <p:spPr>
          <a:xfrm>
            <a:off x="640080" y="3840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&amp; anonymize</a:t>
            </a:r>
            <a:endParaRPr lang="en-US" sz="1300"/>
          </a:p>
        </p:txBody>
      </p:sp>
      <p:sp>
        <p:nvSpPr>
          <p:cNvPr id="16" name="Text 12"/>
          <p:cNvSpPr/>
          <p:nvPr/>
        </p:nvSpPr>
        <p:spPr>
          <a:xfrm>
            <a:off x="640080" y="4114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tokenize the 18 HIPAA identifiers in the curated layer. De-identified data falls outside HIPAA scope.</a:t>
            </a:r>
            <a:endParaRPr lang="en-US" sz="1100"/>
          </a:p>
        </p:txBody>
      </p:sp>
      <p:sp>
        <p:nvSpPr>
          <p:cNvPr id="17" name="Text 13"/>
          <p:cNvSpPr/>
          <p:nvPr/>
        </p:nvSpPr>
        <p:spPr>
          <a:xfrm>
            <a:off x="640080" y="46177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Masking, RLS &amp; OLS</a:t>
            </a:r>
            <a:endParaRPr lang="en-US" sz="1300"/>
          </a:p>
        </p:txBody>
      </p:sp>
      <p:sp>
        <p:nvSpPr>
          <p:cNvPr id="18" name="Text 14"/>
          <p:cNvSpPr/>
          <p:nvPr/>
        </p:nvSpPr>
        <p:spPr>
          <a:xfrm>
            <a:off x="640080" y="48920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dynamic masking and row/object-level security in Warehouse, SQL endpoint and Power BI. Note: shortcuts and Direct Lake bypass SQL-engine security.</a:t>
            </a:r>
            <a:endParaRPr lang="en-US" sz="1100"/>
          </a:p>
        </p:txBody>
      </p:sp>
      <p:sp>
        <p:nvSpPr>
          <p:cNvPr id="19" name="Text 15"/>
          <p:cNvSpPr/>
          <p:nvPr/>
        </p:nvSpPr>
        <p:spPr>
          <a:xfrm>
            <a:off x="640080" y="53949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PHI in non-production</a:t>
            </a:r>
            <a:endParaRPr lang="en-US" sz="1300"/>
          </a:p>
        </p:txBody>
      </p:sp>
      <p:sp>
        <p:nvSpPr>
          <p:cNvPr id="20" name="Text 16"/>
          <p:cNvSpPr/>
          <p:nvPr/>
        </p:nvSpPr>
        <p:spPr>
          <a:xfrm>
            <a:off x="640080" y="56692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copy production ePHI to dev/test/demo. Use synthetic or de-identified data.</a:t>
            </a:r>
            <a:endParaRPr lang="en-US" sz="1100"/>
          </a:p>
        </p:txBody>
      </p:sp>
      <p:sp>
        <p:nvSpPr>
          <p:cNvPr id="21" name="Text 17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22" name="Text 18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5.3  •  §164.312(e) TRANSMISSION SECURITY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Isolation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Requirement: guard ePHI against unauthorized access over networks.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" y="1956816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agent/turn1/workspace/output/_anthropic_assets/icon-globe-shield-d1160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140" y="2094708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9293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 for Fabric</a:t>
            </a:r>
            <a:endParaRPr lang="en-US" sz="1350"/>
          </a:p>
        </p:txBody>
      </p:sp>
      <p:sp>
        <p:nvSpPr>
          <p:cNvPr id="9" name="Text 6"/>
          <p:cNvSpPr/>
          <p:nvPr/>
        </p:nvSpPr>
        <p:spPr>
          <a:xfrm>
            <a:off x="4937760" y="1947672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400"/>
              </a:lnSpc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Enable at tenant and/or workspace level so traffic traverses the Microsoft backbone and private endpoints rather than the public internet.</a:t>
            </a:r>
            <a:endParaRPr lang="en-US" sz="1150">
              <a:latin typeface="Calibri"/>
              <a:ea typeface="Calibri"/>
              <a:cs typeface="Calibri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40080" y="2724912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41248" y="285292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agent/turn1/workspace/output/_anthropic_assets/icon-shield-checkmark-3d99707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140" y="2990820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8254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inbound access</a:t>
            </a:r>
            <a:endParaRPr lang="en-US" sz="1350"/>
          </a:p>
        </p:txBody>
      </p:sp>
      <p:sp>
        <p:nvSpPr>
          <p:cNvPr id="14" name="Text 10"/>
          <p:cNvSpPr/>
          <p:nvPr/>
        </p:nvSpPr>
        <p:spPr>
          <a:xfrm>
            <a:off x="4937760" y="2843784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tenant/workspace conditional access and 'block public internet access' settings; allow only trusted virtual networks.</a:t>
            </a:r>
            <a:endParaRPr lang="en-US" sz="1150"/>
          </a:p>
        </p:txBody>
      </p:sp>
      <p:sp>
        <p:nvSpPr>
          <p:cNvPr id="15" name="Shape 11"/>
          <p:cNvSpPr/>
          <p:nvPr/>
        </p:nvSpPr>
        <p:spPr>
          <a:xfrm>
            <a:off x="640080" y="3621024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41248" y="3749040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agent/turn1/workspace/output/_anthropic_assets/icon-cloud-f2ed5b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140" y="3886932"/>
            <a:ext cx="254569" cy="25456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7216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on-premises sources</a:t>
            </a:r>
            <a:endParaRPr lang="en-US" sz="1350"/>
          </a:p>
        </p:txBody>
      </p:sp>
      <p:sp>
        <p:nvSpPr>
          <p:cNvPr id="19" name="Text 14"/>
          <p:cNvSpPr/>
          <p:nvPr/>
        </p:nvSpPr>
        <p:spPr>
          <a:xfrm>
            <a:off x="4937760" y="3739896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on-premises or VNet data gateway with encrypted channels and managed identities — never expose EHR databases publicly.</a:t>
            </a:r>
            <a:endParaRPr lang="en-US" sz="1150"/>
          </a:p>
        </p:txBody>
      </p:sp>
      <p:sp>
        <p:nvSpPr>
          <p:cNvPr id="20" name="Shape 15"/>
          <p:cNvSpPr/>
          <p:nvPr/>
        </p:nvSpPr>
        <p:spPr>
          <a:xfrm>
            <a:off x="640080" y="4517136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41248" y="4645152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agent/turn1/workspace/output/_anthropic_assets/icon-warning-a89f23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140" y="4783044"/>
            <a:ext cx="254569" cy="25456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617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external sharing</a:t>
            </a:r>
            <a:endParaRPr lang="en-US" sz="1350"/>
          </a:p>
        </p:txBody>
      </p:sp>
      <p:sp>
        <p:nvSpPr>
          <p:cNvPr id="24" name="Text 18"/>
          <p:cNvSpPr/>
          <p:nvPr/>
        </p:nvSpPr>
        <p:spPr>
          <a:xfrm>
            <a:off x="4937760" y="4636008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or tightly govern B2B guest access and external sharing. 'Publish to web' must be OFF for any tenant handling ePHI.</a:t>
            </a:r>
            <a:endParaRPr lang="en-US" sz="1150"/>
          </a:p>
        </p:txBody>
      </p:sp>
      <p:sp>
        <p:nvSpPr>
          <p:cNvPr id="25" name="Shape 19"/>
          <p:cNvSpPr/>
          <p:nvPr/>
        </p:nvSpPr>
        <p:spPr>
          <a:xfrm>
            <a:off x="640080" y="5413248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841248" y="5541264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/agent/turn1/workspace/output/_anthropic_assets/icon-stream-1e6378a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140" y="5679156"/>
            <a:ext cx="254569" cy="25456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5513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notebook &amp; pipeline egress</a:t>
            </a:r>
            <a:endParaRPr lang="en-US" sz="1350"/>
          </a:p>
        </p:txBody>
      </p:sp>
      <p:sp>
        <p:nvSpPr>
          <p:cNvPr id="29" name="Text 22"/>
          <p:cNvSpPr/>
          <p:nvPr/>
        </p:nvSpPr>
        <p:spPr>
          <a:xfrm>
            <a:off x="4937760" y="5532120"/>
            <a:ext cx="6355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outbound access (OAP) so Spark cannot exfiltrate ePHI to arbitrary public endpoints or package repositories.</a:t>
            </a:r>
            <a:endParaRPr lang="en-US" sz="1150"/>
          </a:p>
        </p:txBody>
      </p:sp>
      <p:sp>
        <p:nvSpPr>
          <p:cNvPr id="30" name="Text 2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31" name="Text 2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5.4  •  §164.312(b) AUDIT CONTROLS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Controls &amp; Logging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requires you to record AND examine activity. Collection alone does not satisfy §164.312(b).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</a:t>
            </a:r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68680" y="2395728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the authenticated user or service principal.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342900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0" y="1938528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2000"/>
          </a:p>
        </p:txBody>
      </p:sp>
      <p:sp>
        <p:nvSpPr>
          <p:cNvPr id="10" name="Text 8"/>
          <p:cNvSpPr/>
          <p:nvPr/>
        </p:nvSpPr>
        <p:spPr>
          <a:xfrm>
            <a:off x="3657600" y="2395728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taken and the object it was taken on.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621792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46520" y="1938528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6446520" y="2395728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trustworthy timestamp.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900684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235440" y="1938528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/ HOW</a:t>
            </a:r>
            <a:endParaRPr lang="en-US" sz="2000"/>
          </a:p>
        </p:txBody>
      </p:sp>
      <p:sp>
        <p:nvSpPr>
          <p:cNvPr id="16" name="Text 14"/>
          <p:cNvSpPr/>
          <p:nvPr/>
        </p:nvSpPr>
        <p:spPr>
          <a:xfrm>
            <a:off x="9235440" y="2395728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IP, device and application.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log source cannot answer all four for ePHI access, it is not sufficient on its own — combine sources until it can.</a:t>
            </a:r>
            <a:endParaRPr lang="en-US" sz="1150"/>
          </a:p>
        </p:txBody>
      </p:sp>
      <p:sp>
        <p:nvSpPr>
          <p:cNvPr id="18" name="Shape 16"/>
          <p:cNvSpPr/>
          <p:nvPr/>
        </p:nvSpPr>
        <p:spPr>
          <a:xfrm>
            <a:off x="640080" y="361188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audit log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868680" y="401421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Purview/M365 audit and verify Fabric &amp; Power BI events flow.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868680" y="450799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retention: 180 days (E5)</a:t>
            </a:r>
            <a:endParaRPr lang="en-US" sz="1000"/>
          </a:p>
        </p:txBody>
      </p:sp>
      <p:sp>
        <p:nvSpPr>
          <p:cNvPr id="22" name="Shape 20"/>
          <p:cNvSpPr/>
          <p:nvPr/>
        </p:nvSpPr>
        <p:spPr>
          <a:xfrm>
            <a:off x="4343400" y="361188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activity log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4572000" y="401421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access, shares, exports, capacity and admin actions via REST API.</a:t>
            </a:r>
            <a:endParaRPr lang="en-US" sz="1050"/>
          </a:p>
        </p:txBody>
      </p:sp>
      <p:sp>
        <p:nvSpPr>
          <p:cNvPr id="25" name="Text 23"/>
          <p:cNvSpPr/>
          <p:nvPr/>
        </p:nvSpPr>
        <p:spPr>
          <a:xfrm>
            <a:off x="4572000" y="450799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retention: 30 days</a:t>
            </a:r>
            <a:endParaRPr lang="en-US" sz="1000"/>
          </a:p>
        </p:txBody>
      </p:sp>
      <p:sp>
        <p:nvSpPr>
          <p:cNvPr id="26" name="Shape 24"/>
          <p:cNvSpPr/>
          <p:nvPr/>
        </p:nvSpPr>
        <p:spPr>
          <a:xfrm>
            <a:off x="8046720" y="361188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532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sign-in &amp; audit</a:t>
            </a:r>
            <a:endParaRPr lang="en-US" sz="1300"/>
          </a:p>
        </p:txBody>
      </p:sp>
      <p:sp>
        <p:nvSpPr>
          <p:cNvPr id="28" name="Text 26"/>
          <p:cNvSpPr/>
          <p:nvPr/>
        </p:nvSpPr>
        <p:spPr>
          <a:xfrm>
            <a:off x="8275320" y="401421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MFA, Conditional Access, role changes.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8275320" y="450799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retention: 30 days</a:t>
            </a:r>
            <a:endParaRPr lang="en-US" sz="1000"/>
          </a:p>
        </p:txBody>
      </p:sp>
      <p:sp>
        <p:nvSpPr>
          <p:cNvPr id="30" name="Shape 28"/>
          <p:cNvSpPr/>
          <p:nvPr/>
        </p:nvSpPr>
        <p:spPr>
          <a:xfrm>
            <a:off x="640080" y="493776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50566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diagnostics</a:t>
            </a:r>
            <a:endParaRPr lang="en-US" sz="1300"/>
          </a:p>
        </p:txBody>
      </p:sp>
      <p:sp>
        <p:nvSpPr>
          <p:cNvPr id="32" name="Text 30"/>
          <p:cNvSpPr/>
          <p:nvPr/>
        </p:nvSpPr>
        <p:spPr>
          <a:xfrm>
            <a:off x="868680" y="534009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File-level read/write on the lake (record-level detail not captured).</a:t>
            </a:r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868680" y="58338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retention: Configurable</a:t>
            </a:r>
            <a:endParaRPr lang="en-US" sz="1000"/>
          </a:p>
        </p:txBody>
      </p:sp>
      <p:sp>
        <p:nvSpPr>
          <p:cNvPr id="34" name="Shape 32"/>
          <p:cNvSpPr/>
          <p:nvPr/>
        </p:nvSpPr>
        <p:spPr>
          <a:xfrm>
            <a:off x="4343400" y="493776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50566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diagnostics</a:t>
            </a:r>
            <a:endParaRPr lang="en-US" sz="1300"/>
          </a:p>
        </p:txBody>
      </p:sp>
      <p:sp>
        <p:nvSpPr>
          <p:cNvPr id="36" name="Text 34"/>
          <p:cNvSpPr/>
          <p:nvPr/>
        </p:nvSpPr>
        <p:spPr>
          <a:xfrm>
            <a:off x="4572000" y="534009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use, rotation, revocation and secret access by pipelines.</a:t>
            </a:r>
            <a:endParaRPr lang="en-US" sz="1050"/>
          </a:p>
        </p:txBody>
      </p:sp>
      <p:sp>
        <p:nvSpPr>
          <p:cNvPr id="37" name="Text 35"/>
          <p:cNvSpPr/>
          <p:nvPr/>
        </p:nvSpPr>
        <p:spPr>
          <a:xfrm>
            <a:off x="4572000" y="58338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retention: Configurable</a:t>
            </a:r>
            <a:endParaRPr lang="en-US" sz="1000"/>
          </a:p>
        </p:txBody>
      </p:sp>
      <p:sp>
        <p:nvSpPr>
          <p:cNvPr id="38" name="Shape 36"/>
          <p:cNvSpPr/>
          <p:nvPr/>
        </p:nvSpPr>
        <p:spPr>
          <a:xfrm>
            <a:off x="8046720" y="493776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275320" y="50566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DLP &amp; Insider Risk</a:t>
            </a:r>
            <a:endParaRPr lang="en-US" sz="1300"/>
          </a:p>
        </p:txBody>
      </p:sp>
      <p:sp>
        <p:nvSpPr>
          <p:cNvPr id="40" name="Text 38"/>
          <p:cNvSpPr/>
          <p:nvPr/>
        </p:nvSpPr>
        <p:spPr>
          <a:xfrm>
            <a:off x="8275320" y="534009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egress attempts and risky user activity.</a:t>
            </a:r>
            <a:endParaRPr lang="en-US" sz="1050"/>
          </a:p>
        </p:txBody>
      </p:sp>
      <p:sp>
        <p:nvSpPr>
          <p:cNvPr id="41" name="Text 39"/>
          <p:cNvSpPr/>
          <p:nvPr/>
        </p:nvSpPr>
        <p:spPr>
          <a:xfrm>
            <a:off x="8275320" y="583387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retention: Per policy</a:t>
            </a:r>
            <a:endParaRPr lang="en-US" sz="1000"/>
          </a:p>
        </p:txBody>
      </p:sp>
      <p:sp>
        <p:nvSpPr>
          <p:cNvPr id="42" name="Text 4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43" name="Text 41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5.4.2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Event Categories You MUST Capture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41148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category</a:t>
            </a:r>
            <a:endParaRPr lang="en-US" sz="1150"/>
          </a:p>
        </p:txBody>
      </p:sp>
      <p:sp>
        <p:nvSpPr>
          <p:cNvPr id="6" name="Text 4"/>
          <p:cNvSpPr/>
          <p:nvPr/>
        </p:nvSpPr>
        <p:spPr>
          <a:xfrm>
            <a:off x="320040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events to capture</a:t>
            </a:r>
            <a:endParaRPr lang="en-US" sz="1150"/>
          </a:p>
        </p:txBody>
      </p:sp>
      <p:sp>
        <p:nvSpPr>
          <p:cNvPr id="7" name="Text 5"/>
          <p:cNvSpPr/>
          <p:nvPr/>
        </p:nvSpPr>
        <p:spPr>
          <a:xfrm>
            <a:off x="758952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log source</a:t>
            </a:r>
            <a:endParaRPr lang="en-US" sz="1150"/>
          </a:p>
        </p:txBody>
      </p:sp>
      <p:sp>
        <p:nvSpPr>
          <p:cNvPr id="8" name="Text 6"/>
          <p:cNvSpPr/>
          <p:nvPr/>
        </p:nvSpPr>
        <p:spPr>
          <a:xfrm>
            <a:off x="9966960" y="1463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driver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920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3200400" y="192024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success/failure, MFA challenges, risky sign-ins, break-glass use</a:t>
            </a:r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7589520" y="1920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sign-in logs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9966960" y="19202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§164.312(d)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822960" y="248716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access</a:t>
            </a:r>
            <a:endParaRPr lang="en-US" sz="1050"/>
          </a:p>
        </p:txBody>
      </p:sp>
      <p:sp>
        <p:nvSpPr>
          <p:cNvPr id="15" name="Text 13"/>
          <p:cNvSpPr/>
          <p:nvPr/>
        </p:nvSpPr>
        <p:spPr>
          <a:xfrm>
            <a:off x="3200400" y="248716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ePHI reads/queries, table access, OneLake file access, report views</a:t>
            </a:r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7589520" y="248716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activity; OneLake</a:t>
            </a:r>
            <a:endParaRPr lang="en-US" sz="1050"/>
          </a:p>
        </p:txBody>
      </p:sp>
      <p:sp>
        <p:nvSpPr>
          <p:cNvPr id="17" name="Text 15"/>
          <p:cNvSpPr/>
          <p:nvPr/>
        </p:nvSpPr>
        <p:spPr>
          <a:xfrm>
            <a:off x="9966960" y="24871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§164.312(a)</a:t>
            </a:r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30540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movement</a:t>
            </a:r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3200400" y="305409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runs, exports, downloads, publish-to-web, external shares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589520" y="30540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activity; Purview DLP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966960" y="305409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§164.312(e)</a:t>
            </a:r>
            <a:endParaRPr lang="en-US" sz="1050"/>
          </a:p>
        </p:txBody>
      </p:sp>
      <p:sp>
        <p:nvSpPr>
          <p:cNvPr id="23" name="Text 21"/>
          <p:cNvSpPr/>
          <p:nvPr/>
        </p:nvSpPr>
        <p:spPr>
          <a:xfrm>
            <a:off x="822960" y="362102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change</a:t>
            </a:r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3200400" y="362102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Tenant/workspace settings, capacity changes, security drift, item CRUD</a:t>
            </a:r>
            <a:endParaRPr lang="en-US" sz="1050"/>
          </a:p>
        </p:txBody>
      </p:sp>
      <p:sp>
        <p:nvSpPr>
          <p:cNvPr id="25" name="Text 23"/>
          <p:cNvSpPr/>
          <p:nvPr/>
        </p:nvSpPr>
        <p:spPr>
          <a:xfrm>
            <a:off x="7589520" y="362102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admin activity log</a:t>
            </a:r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9966960" y="362102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§164.308(a)(8)</a:t>
            </a:r>
            <a:endParaRPr lang="en-US" sz="105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2960" y="41879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change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3200400" y="418795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grants/removals, workspace membership, RLS/OLS, sharing links</a:t>
            </a:r>
            <a:endParaRPr lang="en-US" sz="1050"/>
          </a:p>
        </p:txBody>
      </p:sp>
      <p:sp>
        <p:nvSpPr>
          <p:cNvPr id="30" name="Text 28"/>
          <p:cNvSpPr/>
          <p:nvPr/>
        </p:nvSpPr>
        <p:spPr>
          <a:xfrm>
            <a:off x="7589520" y="41879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activity; Entra audit</a:t>
            </a:r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9966960" y="418795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§164.308(a)(4)</a:t>
            </a:r>
            <a:endParaRPr lang="en-US" sz="1050"/>
          </a:p>
        </p:txBody>
      </p:sp>
      <p:sp>
        <p:nvSpPr>
          <p:cNvPr id="32" name="Text 30"/>
          <p:cNvSpPr/>
          <p:nvPr/>
        </p:nvSpPr>
        <p:spPr>
          <a:xfrm>
            <a:off x="82296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</a:t>
            </a:r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3200400" y="47548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 activations, admin-portal actions, tenant-setting overrides</a:t>
            </a:r>
            <a:endParaRPr lang="en-US" sz="1050"/>
          </a:p>
        </p:txBody>
      </p:sp>
      <p:sp>
        <p:nvSpPr>
          <p:cNvPr id="34" name="Text 32"/>
          <p:cNvSpPr/>
          <p:nvPr/>
        </p:nvSpPr>
        <p:spPr>
          <a:xfrm>
            <a:off x="758952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audit; Fabric admin</a:t>
            </a:r>
            <a:endParaRPr lang="en-US" sz="1050"/>
          </a:p>
        </p:txBody>
      </p:sp>
      <p:sp>
        <p:nvSpPr>
          <p:cNvPr id="35" name="Text 33"/>
          <p:cNvSpPr/>
          <p:nvPr/>
        </p:nvSpPr>
        <p:spPr>
          <a:xfrm>
            <a:off x="9966960" y="47548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§164.308(a)(3)</a:t>
            </a:r>
            <a:endParaRPr lang="en-US" sz="1050"/>
          </a:p>
        </p:txBody>
      </p:sp>
      <p:sp>
        <p:nvSpPr>
          <p:cNvPr id="36" name="Shape 34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22960" y="53218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&amp; secret ops</a:t>
            </a:r>
            <a:endParaRPr lang="en-US" sz="1050"/>
          </a:p>
        </p:txBody>
      </p:sp>
      <p:sp>
        <p:nvSpPr>
          <p:cNvPr id="38" name="Text 36"/>
          <p:cNvSpPr/>
          <p:nvPr/>
        </p:nvSpPr>
        <p:spPr>
          <a:xfrm>
            <a:off x="3200400" y="532180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use/rotation/revocation, Key Vault get/list, pipeline secret access</a:t>
            </a:r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7589520" y="53218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diagnostics</a:t>
            </a:r>
            <a:endParaRPr lang="en-US" sz="1050"/>
          </a:p>
        </p:txBody>
      </p:sp>
      <p:sp>
        <p:nvSpPr>
          <p:cNvPr id="40" name="Text 38"/>
          <p:cNvSpPr/>
          <p:nvPr/>
        </p:nvSpPr>
        <p:spPr>
          <a:xfrm>
            <a:off x="9966960" y="53218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§164.312(a)(2)(iv)</a:t>
            </a:r>
            <a:endParaRPr lang="en-US" sz="1050"/>
          </a:p>
        </p:txBody>
      </p:sp>
      <p:sp>
        <p:nvSpPr>
          <p:cNvPr id="41" name="Text 39"/>
          <p:cNvSpPr/>
          <p:nvPr/>
        </p:nvSpPr>
        <p:spPr>
          <a:xfrm>
            <a:off x="822960" y="58887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Copilot usage</a:t>
            </a:r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3200400" y="588873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&amp; Data Agent prompts and responses over ePHI, grounding access</a:t>
            </a:r>
            <a:endParaRPr lang="en-US" sz="1050"/>
          </a:p>
        </p:txBody>
      </p:sp>
      <p:sp>
        <p:nvSpPr>
          <p:cNvPr id="43" name="Text 41"/>
          <p:cNvSpPr/>
          <p:nvPr/>
        </p:nvSpPr>
        <p:spPr>
          <a:xfrm>
            <a:off x="7589520" y="58887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activity (Copilot)</a:t>
            </a:r>
            <a:endParaRPr lang="en-US" sz="1050"/>
          </a:p>
        </p:txBody>
      </p:sp>
      <p:sp>
        <p:nvSpPr>
          <p:cNvPr id="44" name="Text 42"/>
          <p:cNvSpPr/>
          <p:nvPr/>
        </p:nvSpPr>
        <p:spPr>
          <a:xfrm>
            <a:off x="9966960" y="58887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Rule</a:t>
            </a:r>
            <a:endParaRPr lang="en-US" sz="105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46" name="Text 4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5.4.4 / 5.4.5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Retention Tiers &amp; Priority Alerts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HHS and §164.316(b)(2) expect security records retained for at least six years. Tier the volume — don't hot-store everything.</a:t>
            </a:r>
            <a:endParaRPr lang="en-US" sz="125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89280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0–90 days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22860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/ Log Analytics analytics tier</a:t>
            </a:r>
            <a:endParaRPr lang="en-US" sz="1150"/>
          </a:p>
        </p:txBody>
      </p:sp>
      <p:sp>
        <p:nvSpPr>
          <p:cNvPr id="9" name="Text 7"/>
          <p:cNvSpPr/>
          <p:nvPr/>
        </p:nvSpPr>
        <p:spPr>
          <a:xfrm>
            <a:off x="2286000" y="2240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detection, alerting, live investigation</a:t>
            </a:r>
            <a:endParaRPr lang="en-US" sz="1050"/>
          </a:p>
        </p:txBody>
      </p:sp>
      <p:sp>
        <p:nvSpPr>
          <p:cNvPr id="10" name="Shape 8"/>
          <p:cNvSpPr/>
          <p:nvPr/>
        </p:nvSpPr>
        <p:spPr>
          <a:xfrm>
            <a:off x="640080" y="28346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94436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86868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– 18 months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2286000" y="29443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basic or auxiliary logs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2286000" y="3291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lookback, periodic audit examination</a:t>
            </a:r>
            <a:endParaRPr lang="en-US" sz="1050"/>
          </a:p>
        </p:txBody>
      </p:sp>
      <p:sp>
        <p:nvSpPr>
          <p:cNvPr id="15" name="Shape 13"/>
          <p:cNvSpPr/>
          <p:nvPr/>
        </p:nvSpPr>
        <p:spPr>
          <a:xfrm>
            <a:off x="640080" y="38862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39959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COLD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868680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– 6+ years</a:t>
            </a:r>
            <a:endParaRPr lang="en-US" sz="1100"/>
          </a:p>
        </p:txBody>
      </p:sp>
      <p:sp>
        <p:nvSpPr>
          <p:cNvPr id="18" name="Text 16"/>
          <p:cNvSpPr/>
          <p:nvPr/>
        </p:nvSpPr>
        <p:spPr>
          <a:xfrm>
            <a:off x="2286000" y="39959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Azure Storage (WORM) or Sentinel archive</a:t>
            </a:r>
            <a:endParaRPr lang="en-US" sz="1150"/>
          </a:p>
        </p:txBody>
      </p:sp>
      <p:sp>
        <p:nvSpPr>
          <p:cNvPr id="19" name="Text 17"/>
          <p:cNvSpPr/>
          <p:nvPr/>
        </p:nvSpPr>
        <p:spPr>
          <a:xfrm>
            <a:off x="2286000" y="43434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6-year retention, forensics, legal hold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640080" y="493776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5029200"/>
            <a:ext cx="5120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precise — don't dump everything.</a:t>
            </a:r>
            <a:endParaRPr lang="en-US" sz="1100"/>
          </a:p>
          <a:p>
            <a:pPr marL="0" indent="0">
              <a:lnSpc>
                <a:spcPts val="1400"/>
              </a:lnSpc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AUDIT logs (6 years) from DIAGNOSTIC telemetry (weeks). Filter at ingestion, make the archive immutable (WORM), and protect the log store as tightly as Fabric — audit records can themselves contain identifiers.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6537960" y="173736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alerts to configure</a:t>
            </a:r>
            <a:endParaRPr lang="en-US" sz="1700"/>
          </a:p>
        </p:txBody>
      </p:sp>
      <p:sp>
        <p:nvSpPr>
          <p:cNvPr id="23" name="Shape 21"/>
          <p:cNvSpPr/>
          <p:nvPr/>
        </p:nvSpPr>
        <p:spPr>
          <a:xfrm>
            <a:off x="6537960" y="2194560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0840" y="219456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account used</a:t>
            </a:r>
            <a:endParaRPr lang="en-US" sz="1150"/>
          </a:p>
        </p:txBody>
      </p:sp>
      <p:sp>
        <p:nvSpPr>
          <p:cNvPr id="25" name="Text 23"/>
          <p:cNvSpPr/>
          <p:nvPr/>
        </p:nvSpPr>
        <p:spPr>
          <a:xfrm>
            <a:off x="10287000" y="21945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6537960" y="2688336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20840" y="26883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Publish-to-web / external PHI share</a:t>
            </a:r>
            <a:endParaRPr lang="en-US" sz="1150"/>
          </a:p>
        </p:txBody>
      </p:sp>
      <p:sp>
        <p:nvSpPr>
          <p:cNvPr id="28" name="Text 26"/>
          <p:cNvSpPr/>
          <p:nvPr/>
        </p:nvSpPr>
        <p:spPr>
          <a:xfrm>
            <a:off x="10287000" y="268833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6537960" y="3182112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720840" y="318211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ePHI export or download</a:t>
            </a:r>
            <a:endParaRPr lang="en-US" sz="1150"/>
          </a:p>
        </p:txBody>
      </p:sp>
      <p:sp>
        <p:nvSpPr>
          <p:cNvPr id="31" name="Text 29"/>
          <p:cNvSpPr/>
          <p:nvPr/>
        </p:nvSpPr>
        <p:spPr>
          <a:xfrm>
            <a:off x="10287000" y="318211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50"/>
          </a:p>
        </p:txBody>
      </p:sp>
      <p:sp>
        <p:nvSpPr>
          <p:cNvPr id="32" name="Shape 30"/>
          <p:cNvSpPr/>
          <p:nvPr/>
        </p:nvSpPr>
        <p:spPr>
          <a:xfrm>
            <a:off x="6537960" y="3675888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720840" y="36758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escalation / PIM outside window</a:t>
            </a:r>
            <a:endParaRPr lang="en-US" sz="1150"/>
          </a:p>
        </p:txBody>
      </p:sp>
      <p:sp>
        <p:nvSpPr>
          <p:cNvPr id="34" name="Text 32"/>
          <p:cNvSpPr/>
          <p:nvPr/>
        </p:nvSpPr>
        <p:spPr>
          <a:xfrm>
            <a:off x="10287000" y="36758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50"/>
          </a:p>
        </p:txBody>
      </p:sp>
      <p:sp>
        <p:nvSpPr>
          <p:cNvPr id="35" name="Shape 33"/>
          <p:cNvSpPr/>
          <p:nvPr/>
        </p:nvSpPr>
        <p:spPr>
          <a:xfrm>
            <a:off x="6537960" y="4169664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720840" y="416966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travel / risky sign-in</a:t>
            </a:r>
            <a:endParaRPr lang="en-US" sz="1150"/>
          </a:p>
        </p:txBody>
      </p:sp>
      <p:sp>
        <p:nvSpPr>
          <p:cNvPr id="37" name="Text 35"/>
          <p:cNvSpPr/>
          <p:nvPr/>
        </p:nvSpPr>
        <p:spPr>
          <a:xfrm>
            <a:off x="10287000" y="416966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50"/>
          </a:p>
        </p:txBody>
      </p:sp>
      <p:sp>
        <p:nvSpPr>
          <p:cNvPr id="38" name="Shape 36"/>
          <p:cNvSpPr/>
          <p:nvPr/>
        </p:nvSpPr>
        <p:spPr>
          <a:xfrm>
            <a:off x="6537960" y="4663440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720840" y="4663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Security-setting drift</a:t>
            </a:r>
            <a:endParaRPr lang="en-US" sz="1150"/>
          </a:p>
        </p:txBody>
      </p:sp>
      <p:sp>
        <p:nvSpPr>
          <p:cNvPr id="40" name="Text 38"/>
          <p:cNvSpPr/>
          <p:nvPr/>
        </p:nvSpPr>
        <p:spPr>
          <a:xfrm>
            <a:off x="10287000" y="466344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50"/>
          </a:p>
        </p:txBody>
      </p:sp>
      <p:sp>
        <p:nvSpPr>
          <p:cNvPr id="41" name="Shape 39"/>
          <p:cNvSpPr/>
          <p:nvPr/>
        </p:nvSpPr>
        <p:spPr>
          <a:xfrm>
            <a:off x="6537960" y="5157216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20840" y="51572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permission change</a:t>
            </a:r>
            <a:endParaRPr lang="en-US" sz="1150"/>
          </a:p>
        </p:txBody>
      </p:sp>
      <p:sp>
        <p:nvSpPr>
          <p:cNvPr id="43" name="Text 41"/>
          <p:cNvSpPr/>
          <p:nvPr/>
        </p:nvSpPr>
        <p:spPr>
          <a:xfrm>
            <a:off x="10287000" y="515721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50"/>
          </a:p>
        </p:txBody>
      </p:sp>
      <p:sp>
        <p:nvSpPr>
          <p:cNvPr id="44" name="Shape 42"/>
          <p:cNvSpPr/>
          <p:nvPr/>
        </p:nvSpPr>
        <p:spPr>
          <a:xfrm>
            <a:off x="6537960" y="5650992"/>
            <a:ext cx="498348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20840" y="56509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Copilot use over PHI</a:t>
            </a:r>
            <a:endParaRPr lang="en-US" sz="1150"/>
          </a:p>
        </p:txBody>
      </p:sp>
      <p:sp>
        <p:nvSpPr>
          <p:cNvPr id="46" name="Text 44"/>
          <p:cNvSpPr/>
          <p:nvPr/>
        </p:nvSpPr>
        <p:spPr>
          <a:xfrm>
            <a:off x="10287000" y="565099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50"/>
          </a:p>
        </p:txBody>
      </p:sp>
      <p:sp>
        <p:nvSpPr>
          <p:cNvPr id="47" name="Text 45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48" name="Text 46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5.5 &amp; 6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Integrity, Availability &amp; Purview Governance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&amp; availability  §164.312(c) and Contingency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8928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transaction logs and versioning, pipeline data-quality checks, write access restricted to curated layers.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contingency (Required)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868680" y="327355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how Fabric data is backed up and recoverable; persist source-of-truth outside transient compute.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40873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BCDR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868680" y="437083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RPO/RTO, confirm capacity region strategy and cross-region resilience.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5184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recovery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868680" y="5468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Periodically test restore/failover and retain the results as evidence.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6309360" y="1417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 •  operationalizing minimum necessary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6309360" y="1856232"/>
            <a:ext cx="237744" cy="23774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7512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</a:t>
            </a:r>
            <a:endParaRPr lang="en-US" sz="1250"/>
          </a:p>
        </p:txBody>
      </p:sp>
      <p:sp>
        <p:nvSpPr>
          <p:cNvPr id="20" name="Text 18"/>
          <p:cNvSpPr/>
          <p:nvPr/>
        </p:nvSpPr>
        <p:spPr>
          <a:xfrm>
            <a:off x="6675120" y="204825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'Highly Confidential – PHI' label; auto-apply and enable inheritance downstream.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6309360" y="2578608"/>
            <a:ext cx="237744" cy="23774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75120" y="25054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Loss Prevention</a:t>
            </a:r>
            <a:endParaRPr lang="en-US" sz="1250"/>
          </a:p>
        </p:txBody>
      </p:sp>
      <p:sp>
        <p:nvSpPr>
          <p:cNvPr id="23" name="Text 21"/>
          <p:cNvSpPr/>
          <p:nvPr/>
        </p:nvSpPr>
        <p:spPr>
          <a:xfrm>
            <a:off x="6675120" y="27706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or block on MRN, SSN and ICD patterns in Fabric/Power BI exports and shares.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6309360" y="3300984"/>
            <a:ext cx="237744" cy="23774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3227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Map &amp; scanning</a:t>
            </a:r>
            <a:endParaRPr lang="en-US" sz="1250"/>
          </a:p>
        </p:txBody>
      </p:sp>
      <p:sp>
        <p:nvSpPr>
          <p:cNvPr id="26" name="Text 24"/>
          <p:cNvSpPr/>
          <p:nvPr/>
        </p:nvSpPr>
        <p:spPr>
          <a:xfrm>
            <a:off x="6675120" y="3493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Fabric/OneLake to locate ePHI; feed the risk analysis and data-flow inventory.</a:t>
            </a:r>
            <a:endParaRPr lang="en-US" sz="1050"/>
          </a:p>
        </p:txBody>
      </p:sp>
      <p:sp>
        <p:nvSpPr>
          <p:cNvPr id="27" name="Shape 25"/>
          <p:cNvSpPr/>
          <p:nvPr/>
        </p:nvSpPr>
        <p:spPr>
          <a:xfrm>
            <a:off x="6309360" y="4023360"/>
            <a:ext cx="237744" cy="23774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75120" y="3950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Classifiers</a:t>
            </a:r>
            <a:endParaRPr lang="en-US" sz="1250"/>
          </a:p>
        </p:txBody>
      </p:sp>
      <p:sp>
        <p:nvSpPr>
          <p:cNvPr id="29" name="Text 27"/>
          <p:cNvSpPr/>
          <p:nvPr/>
        </p:nvSpPr>
        <p:spPr>
          <a:xfrm>
            <a:off x="6675120" y="421538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built-in healthcare/PII info types; tune to hospital MRN formats.</a:t>
            </a:r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37744" cy="23774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0" y="4672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Risk &amp; eDiscovery</a:t>
            </a:r>
            <a:endParaRPr lang="en-US" sz="1250"/>
          </a:p>
        </p:txBody>
      </p:sp>
      <p:sp>
        <p:nvSpPr>
          <p:cNvPr id="32" name="Text 30"/>
          <p:cNvSpPr/>
          <p:nvPr/>
        </p:nvSpPr>
        <p:spPr>
          <a:xfrm>
            <a:off x="6675120" y="4937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workforce misuse of PHI alongside the audit log.</a:t>
            </a:r>
            <a:endParaRPr lang="en-US" sz="1050"/>
          </a:p>
        </p:txBody>
      </p:sp>
      <p:sp>
        <p:nvSpPr>
          <p:cNvPr id="33" name="Shape 31"/>
          <p:cNvSpPr/>
          <p:nvPr/>
        </p:nvSpPr>
        <p:spPr>
          <a:xfrm>
            <a:off x="6309360" y="5468112"/>
            <a:ext cx="237744" cy="23774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7512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&amp; retention</a:t>
            </a:r>
            <a:endParaRPr lang="en-US" sz="1250"/>
          </a:p>
        </p:txBody>
      </p:sp>
      <p:sp>
        <p:nvSpPr>
          <p:cNvPr id="35" name="Text 33"/>
          <p:cNvSpPr/>
          <p:nvPr/>
        </p:nvSpPr>
        <p:spPr>
          <a:xfrm>
            <a:off x="6675120" y="566013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your record-retention schedule and ensure defensible disposal of ePHI.</a:t>
            </a:r>
            <a:endParaRPr lang="en-US" sz="105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37" name="Text 35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7 &amp; 8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 Protection &amp; Continuous Operations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is a continuous operating state, not a one-time project.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agent/turn1/workspace/output/_anthropic_assets/icon-shield-checkmark-3d9970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2096719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Cloud</a:t>
            </a:r>
            <a:endParaRPr lang="en-US" sz="1250"/>
          </a:p>
        </p:txBody>
      </p:sp>
      <p:sp>
        <p:nvSpPr>
          <p:cNvPr id="9" name="Text 6"/>
          <p:cNvSpPr/>
          <p:nvPr/>
        </p:nvSpPr>
        <p:spPr>
          <a:xfrm>
            <a:off x="868680" y="3017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on subscriptions supporting Fabric; track Secure Score; turn on the HIPAA/HITRUST compliance dashboard.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65760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agent/turn1/workspace/output/_anthropic_assets/icon-eye-tracking-31bc5b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359" y="209671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XDR &amp; Cloud Apps</a:t>
            </a:r>
            <a:endParaRPr lang="en-US" sz="1250"/>
          </a:p>
        </p:txBody>
      </p:sp>
      <p:sp>
        <p:nvSpPr>
          <p:cNvPr id="14" name="Text 10"/>
          <p:cNvSpPr/>
          <p:nvPr/>
        </p:nvSpPr>
        <p:spPr>
          <a:xfrm>
            <a:off x="3657600" y="3017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anomalous Fabric/Power BI usage, mass downloads and risky OAuth apps.</a:t>
            </a:r>
            <a:endParaRPr lang="en-US" sz="1050"/>
          </a:p>
        </p:txBody>
      </p:sp>
      <p:sp>
        <p:nvSpPr>
          <p:cNvPr id="15" name="Shape 11"/>
          <p:cNvSpPr/>
          <p:nvPr/>
        </p:nvSpPr>
        <p:spPr>
          <a:xfrm>
            <a:off x="6217920" y="17830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4465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agent/turn1/workspace/output/_anthropic_assets/icon-warning-a89f23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7279" y="209671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Sentinel</a:t>
            </a:r>
            <a:endParaRPr lang="en-US" sz="1250"/>
          </a:p>
        </p:txBody>
      </p:sp>
      <p:sp>
        <p:nvSpPr>
          <p:cNvPr id="19" name="Text 14"/>
          <p:cNvSpPr/>
          <p:nvPr/>
        </p:nvSpPr>
        <p:spPr>
          <a:xfrm>
            <a:off x="6446520" y="3017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SIEM/SOAR correlating Entra, Fabric and Azure logs with automated response.</a:t>
            </a:r>
            <a:endParaRPr lang="en-US" sz="1050"/>
          </a:p>
        </p:txBody>
      </p:sp>
      <p:sp>
        <p:nvSpPr>
          <p:cNvPr id="20" name="Shape 15"/>
          <p:cNvSpPr/>
          <p:nvPr/>
        </p:nvSpPr>
        <p:spPr>
          <a:xfrm>
            <a:off x="9006840" y="17830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23544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agent/turn1/workspace/output/_anthropic_assets/icon-arrow-sync-circle-510090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6199" y="2096719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3544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</a:t>
            </a:r>
            <a:endParaRPr lang="en-US" sz="1250"/>
          </a:p>
        </p:txBody>
      </p:sp>
      <p:sp>
        <p:nvSpPr>
          <p:cNvPr id="24" name="Text 18"/>
          <p:cNvSpPr/>
          <p:nvPr/>
        </p:nvSpPr>
        <p:spPr>
          <a:xfrm>
            <a:off x="9235440" y="3017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tenant settings against this baseline; alert when publish-to-web or external sharing returns.</a:t>
            </a:r>
            <a:endParaRPr lang="en-US" sz="1050"/>
          </a:p>
        </p:txBody>
      </p:sp>
      <p:sp>
        <p:nvSpPr>
          <p:cNvPr id="25" name="Text 19"/>
          <p:cNvSpPr/>
          <p:nvPr/>
        </p:nvSpPr>
        <p:spPr>
          <a:xfrm>
            <a:off x="640080" y="38404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Post-go-live compliance cadence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640080" y="4142232"/>
            <a:ext cx="10881360" cy="365760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82296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/>
          </a:p>
        </p:txBody>
      </p:sp>
      <p:sp>
        <p:nvSpPr>
          <p:cNvPr id="28" name="Text 22"/>
          <p:cNvSpPr/>
          <p:nvPr/>
        </p:nvSpPr>
        <p:spPr>
          <a:xfrm>
            <a:off x="2743200" y="41422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alerting on ePHI access anomalies, sign-in risk, DLP and break-glass use</a:t>
            </a:r>
            <a:endParaRPr lang="en-US" sz="1050"/>
          </a:p>
        </p:txBody>
      </p:sp>
      <p:sp>
        <p:nvSpPr>
          <p:cNvPr id="29" name="Text 23"/>
          <p:cNvSpPr/>
          <p:nvPr/>
        </p:nvSpPr>
        <p:spPr>
          <a:xfrm>
            <a:off x="9418320" y="41422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SecOps</a:t>
            </a:r>
            <a:endParaRPr lang="en-US" sz="1050"/>
          </a:p>
        </p:txBody>
      </p:sp>
      <p:sp>
        <p:nvSpPr>
          <p:cNvPr id="30" name="Text 24"/>
          <p:cNvSpPr/>
          <p:nvPr/>
        </p:nvSpPr>
        <p:spPr>
          <a:xfrm>
            <a:off x="822960" y="4507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100"/>
          </a:p>
        </p:txBody>
      </p:sp>
      <p:sp>
        <p:nvSpPr>
          <p:cNvPr id="31" name="Text 25"/>
          <p:cNvSpPr/>
          <p:nvPr/>
        </p:nvSpPr>
        <p:spPr>
          <a:xfrm>
            <a:off x="2743200" y="450799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Defender/Sentinel incidents and DLP alerts; verify pipeline and backup success</a:t>
            </a:r>
            <a:endParaRPr lang="en-US" sz="1050"/>
          </a:p>
        </p:txBody>
      </p:sp>
      <p:sp>
        <p:nvSpPr>
          <p:cNvPr id="32" name="Text 26"/>
          <p:cNvSpPr/>
          <p:nvPr/>
        </p:nvSpPr>
        <p:spPr>
          <a:xfrm>
            <a:off x="9418320" y="45079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+ SecOps</a:t>
            </a:r>
            <a:endParaRPr lang="en-US" sz="1050"/>
          </a:p>
        </p:txBody>
      </p:sp>
      <p:sp>
        <p:nvSpPr>
          <p:cNvPr id="33" name="Shape 27"/>
          <p:cNvSpPr/>
          <p:nvPr/>
        </p:nvSpPr>
        <p:spPr>
          <a:xfrm>
            <a:off x="640080" y="4873752"/>
            <a:ext cx="10881360" cy="365760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822960" y="4873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100"/>
          </a:p>
        </p:txBody>
      </p:sp>
      <p:sp>
        <p:nvSpPr>
          <p:cNvPr id="35" name="Text 29"/>
          <p:cNvSpPr/>
          <p:nvPr/>
        </p:nvSpPr>
        <p:spPr>
          <a:xfrm>
            <a:off x="2743200" y="48737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Score and admin-setting drift review; beta-feature and access anomaly review</a:t>
            </a:r>
            <a:endParaRPr lang="en-US" sz="1050"/>
          </a:p>
        </p:txBody>
      </p:sp>
      <p:sp>
        <p:nvSpPr>
          <p:cNvPr id="36" name="Text 30"/>
          <p:cNvSpPr/>
          <p:nvPr/>
        </p:nvSpPr>
        <p:spPr>
          <a:xfrm>
            <a:off x="9418320" y="4873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</a:t>
            </a:r>
            <a:endParaRPr lang="en-US" sz="1050"/>
          </a:p>
        </p:txBody>
      </p:sp>
      <p:sp>
        <p:nvSpPr>
          <p:cNvPr id="37" name="Text 31"/>
          <p:cNvSpPr/>
          <p:nvPr/>
        </p:nvSpPr>
        <p:spPr>
          <a:xfrm>
            <a:off x="822960" y="5239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100"/>
          </a:p>
        </p:txBody>
      </p:sp>
      <p:sp>
        <p:nvSpPr>
          <p:cNvPr id="38" name="Text 32"/>
          <p:cNvSpPr/>
          <p:nvPr/>
        </p:nvSpPr>
        <p:spPr>
          <a:xfrm>
            <a:off x="2743200" y="523951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reviews &amp; recertification; IR tabletop; BAA in-scope service reconfirmation</a:t>
            </a:r>
            <a:endParaRPr lang="en-US" sz="1050"/>
          </a:p>
        </p:txBody>
      </p:sp>
      <p:sp>
        <p:nvSpPr>
          <p:cNvPr id="39" name="Text 33"/>
          <p:cNvSpPr/>
          <p:nvPr/>
        </p:nvSpPr>
        <p:spPr>
          <a:xfrm>
            <a:off x="9418320" y="52395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Officer</a:t>
            </a:r>
            <a:endParaRPr lang="en-US" sz="1050"/>
          </a:p>
        </p:txBody>
      </p:sp>
      <p:sp>
        <p:nvSpPr>
          <p:cNvPr id="40" name="Shape 34"/>
          <p:cNvSpPr/>
          <p:nvPr/>
        </p:nvSpPr>
        <p:spPr>
          <a:xfrm>
            <a:off x="640080" y="5605272"/>
            <a:ext cx="10881360" cy="365760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/>
          <p:nvPr/>
        </p:nvSpPr>
        <p:spPr>
          <a:xfrm>
            <a:off x="822960" y="5605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Semi-annual</a:t>
            </a:r>
            <a:endParaRPr lang="en-US" sz="1100"/>
          </a:p>
        </p:txBody>
      </p:sp>
      <p:sp>
        <p:nvSpPr>
          <p:cNvPr id="42" name="Text 36"/>
          <p:cNvSpPr/>
          <p:nvPr/>
        </p:nvSpPr>
        <p:spPr>
          <a:xfrm>
            <a:off x="2743200" y="56052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DR/restore test; audit-log examination sampling; policy review</a:t>
            </a:r>
            <a:endParaRPr lang="en-US" sz="1050"/>
          </a:p>
        </p:txBody>
      </p:sp>
      <p:sp>
        <p:nvSpPr>
          <p:cNvPr id="43" name="Text 37"/>
          <p:cNvSpPr/>
          <p:nvPr/>
        </p:nvSpPr>
        <p:spPr>
          <a:xfrm>
            <a:off x="9418320" y="56052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+ Compliance</a:t>
            </a:r>
            <a:endParaRPr lang="en-US" sz="1050"/>
          </a:p>
        </p:txBody>
      </p:sp>
      <p:sp>
        <p:nvSpPr>
          <p:cNvPr id="44" name="Text 38"/>
          <p:cNvSpPr/>
          <p:nvPr/>
        </p:nvSpPr>
        <p:spPr>
          <a:xfrm>
            <a:off x="822960" y="5971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On change</a:t>
            </a:r>
            <a:endParaRPr lang="en-US" sz="1100"/>
          </a:p>
        </p:txBody>
      </p:sp>
      <p:sp>
        <p:nvSpPr>
          <p:cNvPr id="45" name="Text 39"/>
          <p:cNvSpPr/>
          <p:nvPr/>
        </p:nvSpPr>
        <p:spPr>
          <a:xfrm>
            <a:off x="2743200" y="5971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 refresh, pen test, training; re-assess every new Fabric feature before ePHI</a:t>
            </a:r>
            <a:endParaRPr lang="en-US" sz="1050"/>
          </a:p>
        </p:txBody>
      </p:sp>
      <p:sp>
        <p:nvSpPr>
          <p:cNvPr id="46" name="Text 40"/>
          <p:cNvSpPr/>
          <p:nvPr/>
        </p:nvSpPr>
        <p:spPr>
          <a:xfrm>
            <a:off x="9418320" y="59710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Architecture</a:t>
            </a:r>
            <a:endParaRPr lang="en-US" sz="1050"/>
          </a:p>
        </p:txBody>
      </p:sp>
      <p:sp>
        <p:nvSpPr>
          <p:cNvPr id="47" name="Text 41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48" name="Text 42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 Response &amp; Breach Notification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841248" y="2697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841248" y="32004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SIEM, Defender or DLP alert — or a user report — indicates possible unauthorized ePHI access or disclosure.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2871216" y="178308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099816" y="201168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09981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3072384" y="2697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 &amp; investigate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3072384" y="32004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affected identities and workspaces; use audit logs to scope exactly what ePHI was accessed, by whom.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5102352" y="178308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30952" y="201168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309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5303520" y="2697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5303520" y="32004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four-factor risk assessment. Encrypted or de-identified data may qualify for safe harbor.</a:t>
            </a:r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7333488" y="178308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562088" y="201168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6208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/>
          </a:p>
        </p:txBody>
      </p:sp>
      <p:sp>
        <p:nvSpPr>
          <p:cNvPr id="22" name="Text 20"/>
          <p:cNvSpPr/>
          <p:nvPr/>
        </p:nvSpPr>
        <p:spPr>
          <a:xfrm>
            <a:off x="7534656" y="2697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Notify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7534656" y="32004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reportable: individuals without unreasonable delay and no later than 60 days; HHS, and media if 500+ affected.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9564624" y="1783080"/>
            <a:ext cx="2011680" cy="2651760"/>
          </a:xfrm>
          <a:prstGeom prst="roundRect">
            <a:avLst>
              <a:gd name="adj" fmla="val 3636"/>
            </a:avLst>
          </a:prstGeom>
          <a:solidFill>
            <a:srgbClr val="2A3A7A"/>
          </a:solidFill>
          <a:ln w="12700">
            <a:solidFill>
              <a:srgbClr val="2A3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793224" y="201168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7932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/>
          </a:p>
        </p:txBody>
      </p:sp>
      <p:sp>
        <p:nvSpPr>
          <p:cNvPr id="27" name="Text 25"/>
          <p:cNvSpPr/>
          <p:nvPr/>
        </p:nvSpPr>
        <p:spPr>
          <a:xfrm>
            <a:off x="9765792" y="2697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Remediate &amp; document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9765792" y="3200400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50"/>
              </a:lnSpc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root cause, update the risk register, retain all records for six years.</a:t>
            </a:r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640080" y="466344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14400" y="48006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Prerequisites for this to work</a:t>
            </a:r>
            <a:endParaRPr lang="en-US" sz="1500"/>
          </a:p>
        </p:txBody>
      </p:sp>
      <p:sp>
        <p:nvSpPr>
          <p:cNvPr id="31" name="Text 29"/>
          <p:cNvSpPr/>
          <p:nvPr/>
        </p:nvSpPr>
        <p:spPr>
          <a:xfrm>
            <a:off x="914400" y="51206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written, tested incident-response plan (§164.308(a)(6)).</a:t>
            </a:r>
            <a:endParaRPr lang="en-US" sz="115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 that can actually reconstruct who accessed which ePHI, and when.</a:t>
            </a:r>
            <a:endParaRPr lang="en-US" sz="115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11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everywhere to maximize breach safe-harbor eligibility; documented notification contacts and timelines agreed with Legal in advance.</a:t>
            </a:r>
            <a:endParaRPr lang="en-US" sz="115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HIPAA Security Rule Controls Mapping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matrix as an auditor-facing summary and as an implementation checklist.   R = Required   A = Addressable</a:t>
            </a:r>
            <a:endParaRPr lang="en-US" sz="125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 (45 CFR)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5212080" y="173736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/ Microsoft control</a:t>
            </a: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10698480" y="1737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640080" y="2121408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121408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Management – Risk Analysis §164.308(a)(1)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4480560" y="2121408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13" name="Text 11"/>
          <p:cNvSpPr/>
          <p:nvPr/>
        </p:nvSpPr>
        <p:spPr>
          <a:xfrm>
            <a:off x="5212080" y="2121408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data map scan + documented data-flow inventory</a:t>
            </a:r>
            <a:endParaRPr lang="en-US" sz="950"/>
          </a:p>
        </p:txBody>
      </p:sp>
      <p:sp>
        <p:nvSpPr>
          <p:cNvPr id="14" name="Text 12"/>
          <p:cNvSpPr/>
          <p:nvPr/>
        </p:nvSpPr>
        <p:spPr>
          <a:xfrm>
            <a:off x="10698480" y="212140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3, 4</a:t>
            </a:r>
            <a:endParaRPr lang="en-US" sz="950"/>
          </a:p>
        </p:txBody>
      </p:sp>
      <p:sp>
        <p:nvSpPr>
          <p:cNvPr id="15" name="Text 13"/>
          <p:cNvSpPr/>
          <p:nvPr/>
        </p:nvSpPr>
        <p:spPr>
          <a:xfrm>
            <a:off x="822960" y="240487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Security Responsibility §164.308(a)(2)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4480560" y="2404872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17" name="Text 15"/>
          <p:cNvSpPr/>
          <p:nvPr/>
        </p:nvSpPr>
        <p:spPr>
          <a:xfrm>
            <a:off x="5212080" y="2404872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Security &amp; Privacy Officers</a:t>
            </a:r>
            <a:endParaRPr lang="en-US" sz="950"/>
          </a:p>
        </p:txBody>
      </p:sp>
      <p:sp>
        <p:nvSpPr>
          <p:cNvPr id="18" name="Text 16"/>
          <p:cNvSpPr/>
          <p:nvPr/>
        </p:nvSpPr>
        <p:spPr>
          <a:xfrm>
            <a:off x="10698480" y="240487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950"/>
          </a:p>
        </p:txBody>
      </p:sp>
      <p:sp>
        <p:nvSpPr>
          <p:cNvPr id="19" name="Shape 17"/>
          <p:cNvSpPr/>
          <p:nvPr/>
        </p:nvSpPr>
        <p:spPr>
          <a:xfrm>
            <a:off x="640080" y="2688336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2688336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Security / Clearance §164.308(a)(3)</a:t>
            </a:r>
            <a:endParaRPr lang="en-US" sz="950"/>
          </a:p>
        </p:txBody>
      </p:sp>
      <p:sp>
        <p:nvSpPr>
          <p:cNvPr id="21" name="Text 19"/>
          <p:cNvSpPr/>
          <p:nvPr/>
        </p:nvSpPr>
        <p:spPr>
          <a:xfrm>
            <a:off x="4480560" y="2688336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22" name="Text 20"/>
          <p:cNvSpPr/>
          <p:nvPr/>
        </p:nvSpPr>
        <p:spPr>
          <a:xfrm>
            <a:off x="5212080" y="2688336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groups, access packages, joiner-mover-leaver</a:t>
            </a:r>
            <a:endParaRPr lang="en-US" sz="950"/>
          </a:p>
        </p:txBody>
      </p:sp>
      <p:sp>
        <p:nvSpPr>
          <p:cNvPr id="23" name="Text 21"/>
          <p:cNvSpPr/>
          <p:nvPr/>
        </p:nvSpPr>
        <p:spPr>
          <a:xfrm>
            <a:off x="10698480" y="268833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50"/>
          </a:p>
        </p:txBody>
      </p:sp>
      <p:sp>
        <p:nvSpPr>
          <p:cNvPr id="24" name="Text 22"/>
          <p:cNvSpPr/>
          <p:nvPr/>
        </p:nvSpPr>
        <p:spPr>
          <a:xfrm>
            <a:off x="822960" y="2971800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Access Management §164.308(a)(4)</a:t>
            </a:r>
            <a:endParaRPr lang="en-US" sz="950"/>
          </a:p>
        </p:txBody>
      </p:sp>
      <p:sp>
        <p:nvSpPr>
          <p:cNvPr id="25" name="Text 23"/>
          <p:cNvSpPr/>
          <p:nvPr/>
        </p:nvSpPr>
        <p:spPr>
          <a:xfrm>
            <a:off x="4480560" y="2971800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26" name="Text 24"/>
          <p:cNvSpPr/>
          <p:nvPr/>
        </p:nvSpPr>
        <p:spPr>
          <a:xfrm>
            <a:off x="5212080" y="2971800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roles, least privilege, PIM</a:t>
            </a:r>
            <a:endParaRPr lang="en-US" sz="950"/>
          </a:p>
        </p:txBody>
      </p:sp>
      <p:sp>
        <p:nvSpPr>
          <p:cNvPr id="27" name="Text 25"/>
          <p:cNvSpPr/>
          <p:nvPr/>
        </p:nvSpPr>
        <p:spPr>
          <a:xfrm>
            <a:off x="10698480" y="297180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50"/>
          </a:p>
        </p:txBody>
      </p:sp>
      <p:sp>
        <p:nvSpPr>
          <p:cNvPr id="28" name="Shape 26"/>
          <p:cNvSpPr/>
          <p:nvPr/>
        </p:nvSpPr>
        <p:spPr>
          <a:xfrm>
            <a:off x="640080" y="3255264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2960" y="3255264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Awareness &amp; Training §164.308(a)(5)</a:t>
            </a:r>
            <a:endParaRPr lang="en-US" sz="950"/>
          </a:p>
        </p:txBody>
      </p:sp>
      <p:sp>
        <p:nvSpPr>
          <p:cNvPr id="30" name="Text 28"/>
          <p:cNvSpPr/>
          <p:nvPr/>
        </p:nvSpPr>
        <p:spPr>
          <a:xfrm>
            <a:off x="4480560" y="3255264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50"/>
          </a:p>
        </p:txBody>
      </p:sp>
      <p:sp>
        <p:nvSpPr>
          <p:cNvPr id="31" name="Text 29"/>
          <p:cNvSpPr/>
          <p:nvPr/>
        </p:nvSpPr>
        <p:spPr>
          <a:xfrm>
            <a:off x="5212080" y="3255264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training program &amp; records</a:t>
            </a:r>
            <a:endParaRPr lang="en-US" sz="950"/>
          </a:p>
        </p:txBody>
      </p:sp>
      <p:sp>
        <p:nvSpPr>
          <p:cNvPr id="32" name="Text 30"/>
          <p:cNvSpPr/>
          <p:nvPr/>
        </p:nvSpPr>
        <p:spPr>
          <a:xfrm>
            <a:off x="10698480" y="325526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950"/>
          </a:p>
        </p:txBody>
      </p:sp>
      <p:sp>
        <p:nvSpPr>
          <p:cNvPr id="33" name="Text 31"/>
          <p:cNvSpPr/>
          <p:nvPr/>
        </p:nvSpPr>
        <p:spPr>
          <a:xfrm>
            <a:off x="822960" y="3538728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Incident Procedures §164.308(a)(6)</a:t>
            </a:r>
            <a:endParaRPr lang="en-US" sz="950"/>
          </a:p>
        </p:txBody>
      </p:sp>
      <p:sp>
        <p:nvSpPr>
          <p:cNvPr id="34" name="Text 32"/>
          <p:cNvSpPr/>
          <p:nvPr/>
        </p:nvSpPr>
        <p:spPr>
          <a:xfrm>
            <a:off x="4480560" y="3538728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35" name="Text 33"/>
          <p:cNvSpPr/>
          <p:nvPr/>
        </p:nvSpPr>
        <p:spPr>
          <a:xfrm>
            <a:off x="5212080" y="3538728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plan, Sentinel/Defender, breach runbook</a:t>
            </a:r>
            <a:endParaRPr lang="en-US" sz="950"/>
          </a:p>
        </p:txBody>
      </p:sp>
      <p:sp>
        <p:nvSpPr>
          <p:cNvPr id="36" name="Text 34"/>
          <p:cNvSpPr/>
          <p:nvPr/>
        </p:nvSpPr>
        <p:spPr>
          <a:xfrm>
            <a:off x="10698480" y="353872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7, 9</a:t>
            </a:r>
            <a:endParaRPr lang="en-US" sz="950"/>
          </a:p>
        </p:txBody>
      </p:sp>
      <p:sp>
        <p:nvSpPr>
          <p:cNvPr id="37" name="Shape 35"/>
          <p:cNvSpPr/>
          <p:nvPr/>
        </p:nvSpPr>
        <p:spPr>
          <a:xfrm>
            <a:off x="640080" y="3822192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2960" y="382219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Plan §164.308(a)(7)</a:t>
            </a:r>
            <a:endParaRPr lang="en-US" sz="950"/>
          </a:p>
        </p:txBody>
      </p:sp>
      <p:sp>
        <p:nvSpPr>
          <p:cNvPr id="39" name="Text 37"/>
          <p:cNvSpPr/>
          <p:nvPr/>
        </p:nvSpPr>
        <p:spPr>
          <a:xfrm>
            <a:off x="4480560" y="3822192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40" name="Text 38"/>
          <p:cNvSpPr/>
          <p:nvPr/>
        </p:nvSpPr>
        <p:spPr>
          <a:xfrm>
            <a:off x="5212080" y="3822192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Backup, BCDR, tested restore</a:t>
            </a:r>
            <a:endParaRPr lang="en-US" sz="950"/>
          </a:p>
        </p:txBody>
      </p:sp>
      <p:sp>
        <p:nvSpPr>
          <p:cNvPr id="41" name="Text 39"/>
          <p:cNvSpPr/>
          <p:nvPr/>
        </p:nvSpPr>
        <p:spPr>
          <a:xfrm>
            <a:off x="10698480" y="382219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950"/>
          </a:p>
        </p:txBody>
      </p:sp>
      <p:sp>
        <p:nvSpPr>
          <p:cNvPr id="42" name="Text 40"/>
          <p:cNvSpPr/>
          <p:nvPr/>
        </p:nvSpPr>
        <p:spPr>
          <a:xfrm>
            <a:off x="822960" y="4105656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§164.308(a)(8)</a:t>
            </a:r>
            <a:endParaRPr lang="en-US" sz="950"/>
          </a:p>
        </p:txBody>
      </p:sp>
      <p:sp>
        <p:nvSpPr>
          <p:cNvPr id="43" name="Text 41"/>
          <p:cNvSpPr/>
          <p:nvPr/>
        </p:nvSpPr>
        <p:spPr>
          <a:xfrm>
            <a:off x="4480560" y="4105656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44" name="Text 42"/>
          <p:cNvSpPr/>
          <p:nvPr/>
        </p:nvSpPr>
        <p:spPr>
          <a:xfrm>
            <a:off x="5212080" y="4105656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control re-assessment &amp; drift review</a:t>
            </a:r>
            <a:endParaRPr lang="en-US" sz="950"/>
          </a:p>
        </p:txBody>
      </p:sp>
      <p:sp>
        <p:nvSpPr>
          <p:cNvPr id="45" name="Text 43"/>
          <p:cNvSpPr/>
          <p:nvPr/>
        </p:nvSpPr>
        <p:spPr>
          <a:xfrm>
            <a:off x="10698480" y="410565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/>
          </a:p>
        </p:txBody>
      </p:sp>
      <p:sp>
        <p:nvSpPr>
          <p:cNvPr id="46" name="Shape 44"/>
          <p:cNvSpPr/>
          <p:nvPr/>
        </p:nvSpPr>
        <p:spPr>
          <a:xfrm>
            <a:off x="640080" y="4389120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22960" y="4389120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Contracts §164.308(b)(1)</a:t>
            </a:r>
            <a:endParaRPr lang="en-US" sz="950"/>
          </a:p>
        </p:txBody>
      </p:sp>
      <p:sp>
        <p:nvSpPr>
          <p:cNvPr id="48" name="Text 46"/>
          <p:cNvSpPr/>
          <p:nvPr/>
        </p:nvSpPr>
        <p:spPr>
          <a:xfrm>
            <a:off x="4480560" y="4389120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49" name="Text 47"/>
          <p:cNvSpPr/>
          <p:nvPr/>
        </p:nvSpPr>
        <p:spPr>
          <a:xfrm>
            <a:off x="5212080" y="4389120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BAA/DPA + sub-processor BAAs</a:t>
            </a:r>
            <a:endParaRPr lang="en-US" sz="950"/>
          </a:p>
        </p:txBody>
      </p:sp>
      <p:sp>
        <p:nvSpPr>
          <p:cNvPr id="50" name="Text 48"/>
          <p:cNvSpPr/>
          <p:nvPr/>
        </p:nvSpPr>
        <p:spPr>
          <a:xfrm>
            <a:off x="10698480" y="438912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950"/>
          </a:p>
        </p:txBody>
      </p:sp>
      <p:sp>
        <p:nvSpPr>
          <p:cNvPr id="51" name="Text 49"/>
          <p:cNvSpPr/>
          <p:nvPr/>
        </p:nvSpPr>
        <p:spPr>
          <a:xfrm>
            <a:off x="822960" y="4672584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Physical §164.310</a:t>
            </a:r>
            <a:endParaRPr lang="en-US" sz="950"/>
          </a:p>
        </p:txBody>
      </p:sp>
      <p:sp>
        <p:nvSpPr>
          <p:cNvPr id="52" name="Text 50"/>
          <p:cNvSpPr/>
          <p:nvPr/>
        </p:nvSpPr>
        <p:spPr>
          <a:xfrm>
            <a:off x="4480560" y="4672584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53" name="Text 51"/>
          <p:cNvSpPr/>
          <p:nvPr/>
        </p:nvSpPr>
        <p:spPr>
          <a:xfrm>
            <a:off x="5212080" y="4672584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datacentre responsibility (BAA)</a:t>
            </a:r>
            <a:endParaRPr lang="en-US" sz="950"/>
          </a:p>
        </p:txBody>
      </p:sp>
      <p:sp>
        <p:nvSpPr>
          <p:cNvPr id="54" name="Text 52"/>
          <p:cNvSpPr/>
          <p:nvPr/>
        </p:nvSpPr>
        <p:spPr>
          <a:xfrm>
            <a:off x="10698480" y="467258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50"/>
          </a:p>
        </p:txBody>
      </p:sp>
      <p:sp>
        <p:nvSpPr>
          <p:cNvPr id="55" name="Shape 53"/>
          <p:cNvSpPr/>
          <p:nvPr/>
        </p:nvSpPr>
        <p:spPr>
          <a:xfrm>
            <a:off x="640080" y="4956048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822960" y="4956048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§164.312(a)</a:t>
            </a:r>
            <a:endParaRPr lang="en-US" sz="950"/>
          </a:p>
        </p:txBody>
      </p:sp>
      <p:sp>
        <p:nvSpPr>
          <p:cNvPr id="57" name="Text 55"/>
          <p:cNvSpPr/>
          <p:nvPr/>
        </p:nvSpPr>
        <p:spPr>
          <a:xfrm>
            <a:off x="4480560" y="4956048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58" name="Text 56"/>
          <p:cNvSpPr/>
          <p:nvPr/>
        </p:nvSpPr>
        <p:spPr>
          <a:xfrm>
            <a:off x="5212080" y="4956048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ID, MFA, CA, RLS/OLS, break-glass, auto-logoff</a:t>
            </a:r>
            <a:endParaRPr lang="en-US" sz="950"/>
          </a:p>
        </p:txBody>
      </p:sp>
      <p:sp>
        <p:nvSpPr>
          <p:cNvPr id="59" name="Text 57"/>
          <p:cNvSpPr/>
          <p:nvPr/>
        </p:nvSpPr>
        <p:spPr>
          <a:xfrm>
            <a:off x="10698480" y="495604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50"/>
          </a:p>
        </p:txBody>
      </p:sp>
      <p:sp>
        <p:nvSpPr>
          <p:cNvPr id="60" name="Text 58"/>
          <p:cNvSpPr/>
          <p:nvPr/>
        </p:nvSpPr>
        <p:spPr>
          <a:xfrm>
            <a:off x="822960" y="5239512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Controls §164.312(b)</a:t>
            </a:r>
            <a:endParaRPr lang="en-US" sz="950"/>
          </a:p>
        </p:txBody>
      </p:sp>
      <p:sp>
        <p:nvSpPr>
          <p:cNvPr id="61" name="Text 59"/>
          <p:cNvSpPr/>
          <p:nvPr/>
        </p:nvSpPr>
        <p:spPr>
          <a:xfrm>
            <a:off x="4480560" y="5239512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62" name="Text 60"/>
          <p:cNvSpPr/>
          <p:nvPr/>
        </p:nvSpPr>
        <p:spPr>
          <a:xfrm>
            <a:off x="5212080" y="5239512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unified audit log, Sentinel, 6-year retention</a:t>
            </a:r>
            <a:endParaRPr lang="en-US" sz="950"/>
          </a:p>
        </p:txBody>
      </p:sp>
      <p:sp>
        <p:nvSpPr>
          <p:cNvPr id="63" name="Text 61"/>
          <p:cNvSpPr/>
          <p:nvPr/>
        </p:nvSpPr>
        <p:spPr>
          <a:xfrm>
            <a:off x="10698480" y="523951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950"/>
          </a:p>
        </p:txBody>
      </p:sp>
      <p:sp>
        <p:nvSpPr>
          <p:cNvPr id="64" name="Shape 62"/>
          <p:cNvSpPr/>
          <p:nvPr/>
        </p:nvSpPr>
        <p:spPr>
          <a:xfrm>
            <a:off x="640080" y="5522976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822960" y="5522976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§164.312(c)</a:t>
            </a:r>
            <a:endParaRPr lang="en-US" sz="950"/>
          </a:p>
        </p:txBody>
      </p:sp>
      <p:sp>
        <p:nvSpPr>
          <p:cNvPr id="66" name="Text 64"/>
          <p:cNvSpPr/>
          <p:nvPr/>
        </p:nvSpPr>
        <p:spPr>
          <a:xfrm>
            <a:off x="4480560" y="5522976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67" name="Text 65"/>
          <p:cNvSpPr/>
          <p:nvPr/>
        </p:nvSpPr>
        <p:spPr>
          <a:xfrm>
            <a:off x="5212080" y="5522976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versioning, write restrictions, data-quality checks</a:t>
            </a:r>
            <a:endParaRPr lang="en-US" sz="950"/>
          </a:p>
        </p:txBody>
      </p:sp>
      <p:sp>
        <p:nvSpPr>
          <p:cNvPr id="68" name="Text 66"/>
          <p:cNvSpPr/>
          <p:nvPr/>
        </p:nvSpPr>
        <p:spPr>
          <a:xfrm>
            <a:off x="10698480" y="552297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950"/>
          </a:p>
        </p:txBody>
      </p:sp>
      <p:sp>
        <p:nvSpPr>
          <p:cNvPr id="69" name="Text 67"/>
          <p:cNvSpPr/>
          <p:nvPr/>
        </p:nvSpPr>
        <p:spPr>
          <a:xfrm>
            <a:off x="822960" y="5806440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Person/Entity Authentication §164.312(d)</a:t>
            </a:r>
            <a:endParaRPr lang="en-US" sz="950"/>
          </a:p>
        </p:txBody>
      </p:sp>
      <p:sp>
        <p:nvSpPr>
          <p:cNvPr id="70" name="Text 68"/>
          <p:cNvSpPr/>
          <p:nvPr/>
        </p:nvSpPr>
        <p:spPr>
          <a:xfrm>
            <a:off x="4480560" y="5806440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50"/>
          </a:p>
        </p:txBody>
      </p:sp>
      <p:sp>
        <p:nvSpPr>
          <p:cNvPr id="71" name="Text 69"/>
          <p:cNvSpPr/>
          <p:nvPr/>
        </p:nvSpPr>
        <p:spPr>
          <a:xfrm>
            <a:off x="5212080" y="5806440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unique authentication + MFA</a:t>
            </a:r>
            <a:endParaRPr lang="en-US" sz="950"/>
          </a:p>
        </p:txBody>
      </p:sp>
      <p:sp>
        <p:nvSpPr>
          <p:cNvPr id="72" name="Text 70"/>
          <p:cNvSpPr/>
          <p:nvPr/>
        </p:nvSpPr>
        <p:spPr>
          <a:xfrm>
            <a:off x="10698480" y="58064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50"/>
          </a:p>
        </p:txBody>
      </p:sp>
      <p:sp>
        <p:nvSpPr>
          <p:cNvPr id="73" name="Shape 71"/>
          <p:cNvSpPr/>
          <p:nvPr/>
        </p:nvSpPr>
        <p:spPr>
          <a:xfrm>
            <a:off x="640080" y="6089904"/>
            <a:ext cx="10881360" cy="283464"/>
          </a:xfrm>
          <a:prstGeom prst="rect">
            <a:avLst/>
          </a:prstGeom>
          <a:solidFill>
            <a:srgbClr val="E8ED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822960" y="6089904"/>
            <a:ext cx="3566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Security §164.312(e)</a:t>
            </a:r>
            <a:endParaRPr lang="en-US" sz="950"/>
          </a:p>
        </p:txBody>
      </p:sp>
      <p:sp>
        <p:nvSpPr>
          <p:cNvPr id="75" name="Text 73"/>
          <p:cNvSpPr/>
          <p:nvPr/>
        </p:nvSpPr>
        <p:spPr>
          <a:xfrm>
            <a:off x="4480560" y="6089904"/>
            <a:ext cx="640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</a:t>
            </a:r>
            <a:endParaRPr lang="en-US" sz="950"/>
          </a:p>
        </p:txBody>
      </p:sp>
      <p:sp>
        <p:nvSpPr>
          <p:cNvPr id="76" name="Text 74"/>
          <p:cNvSpPr/>
          <p:nvPr/>
        </p:nvSpPr>
        <p:spPr>
          <a:xfrm>
            <a:off x="5212080" y="6089904"/>
            <a:ext cx="5394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1.2+, Private Link, private gateways</a:t>
            </a:r>
            <a:endParaRPr lang="en-US" sz="950"/>
          </a:p>
        </p:txBody>
      </p:sp>
      <p:sp>
        <p:nvSpPr>
          <p:cNvPr id="77" name="Text 75"/>
          <p:cNvSpPr/>
          <p:nvPr/>
        </p:nvSpPr>
        <p:spPr>
          <a:xfrm>
            <a:off x="10698480" y="60899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5.2, 5.3</a:t>
            </a:r>
            <a:endParaRPr lang="en-US" sz="950"/>
          </a:p>
        </p:txBody>
      </p:sp>
      <p:sp>
        <p:nvSpPr>
          <p:cNvPr id="78" name="Text 76"/>
          <p:cNvSpPr/>
          <p:nvPr/>
        </p:nvSpPr>
        <p:spPr>
          <a:xfrm>
            <a:off x="640080" y="6400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79" name="Text 77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/>
          </a:p>
        </p:txBody>
      </p:sp>
      <p:sp>
        <p:nvSpPr>
          <p:cNvPr id="80" name="TextBox 79"/>
          <p:cNvSpPr txBox="1"/>
          <p:nvPr/>
        </p:nvSpPr>
        <p:spPr>
          <a:xfrm>
            <a:off x="3657600" y="6391656"/>
            <a:ext cx="7315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>
                <a:solidFill>
                  <a:srgbClr val="5A6480"/>
                </a:solidFill>
                <a:latin typeface="Calibri"/>
              </a:rPr>
              <a:t>CFR</a:t>
            </a:r>
            <a:r>
              <a:rPr sz="800" b="0">
                <a:solidFill>
                  <a:srgbClr val="5A6480"/>
                </a:solidFill>
                <a:latin typeface="Calibri"/>
              </a:rPr>
              <a:t> = Code of Federal Regulations. 45 CFR Part 164 Security Rule safeguards: §164.308 Administrative  •  §164.310 Physical  •  §164.312 Technical.</a:t>
            </a:r>
          </a:p>
          <a:p>
            <a:r>
              <a:rPr sz="800" b="1">
                <a:solidFill>
                  <a:srgbClr val="5A6480"/>
                </a:solidFill>
                <a:latin typeface="Calibri"/>
              </a:rPr>
              <a:t>R/A</a:t>
            </a:r>
            <a:r>
              <a:rPr sz="800" b="0">
                <a:solidFill>
                  <a:srgbClr val="5A6480"/>
                </a:solidFill>
                <a:latin typeface="Calibri"/>
              </a:rPr>
              <a:t> = standard contains both Required (R) and Addressable (A) implementation specifications.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11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Pre-Go-Live Readiness Checklist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process production ePHI in Fabric until every item below is confirmed.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640080" y="18196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4128" y="1783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Microsoft BAA/DPA on file; every in-scope feature confirmed covered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6217920" y="18196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01968" y="1783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risk analysis complete; risks logged and remediation tracked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640080" y="22768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24128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 Officers assigned; policies published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6217920" y="22768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01968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Data-flow inventory complete; ePHI workspaces identified and isolated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640080" y="27340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24128" y="26974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enforced as sole IdP; MFA required for all Fabric access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217920" y="27340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01968" y="26974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Access live — device, legacy-auth, location, risk</a:t>
            </a:r>
            <a:endParaRPr lang="en-US" sz="1100"/>
          </a:p>
        </p:txBody>
      </p:sp>
      <p:sp>
        <p:nvSpPr>
          <p:cNvPr id="17" name="Shape 15"/>
          <p:cNvSpPr/>
          <p:nvPr/>
        </p:nvSpPr>
        <p:spPr>
          <a:xfrm>
            <a:off x="640080" y="31912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24128" y="3154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workspace roles; PIM enabled for privileged roles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>
          <a:xfrm>
            <a:off x="6217920" y="31912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01968" y="3154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Break-glass accounts created, secured and monitored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640080" y="36484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24128" y="36118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 confirmed; CMK decision made and implemented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6217920" y="36484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01968" y="36118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 end-to-end; Private Link on; publish-to-web disabled</a:t>
            </a:r>
            <a:endParaRPr lang="en-US" sz="1100"/>
          </a:p>
        </p:txBody>
      </p:sp>
      <p:sp>
        <p:nvSpPr>
          <p:cNvPr id="25" name="Shape 23"/>
          <p:cNvSpPr/>
          <p:nvPr/>
        </p:nvSpPr>
        <p:spPr>
          <a:xfrm>
            <a:off x="640080" y="41056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24128" y="4069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sharing and guest access reviewed and restricted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6217920" y="41056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01968" y="4069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identities for pipelines; no plaintext secrets; Key Vault in place</a:t>
            </a:r>
            <a:endParaRPr lang="en-US" sz="1100"/>
          </a:p>
        </p:txBody>
      </p:sp>
      <p:sp>
        <p:nvSpPr>
          <p:cNvPr id="29" name="Shape 27"/>
          <p:cNvSpPr/>
          <p:nvPr/>
        </p:nvSpPr>
        <p:spPr>
          <a:xfrm>
            <a:off x="640080" y="45628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24128" y="4526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labels, DLP and scanning configured for ePHI</a:t>
            </a:r>
            <a:endParaRPr lang="en-US" sz="1100"/>
          </a:p>
        </p:txBody>
      </p:sp>
      <p:sp>
        <p:nvSpPr>
          <p:cNvPr id="31" name="Shape 29"/>
          <p:cNvSpPr/>
          <p:nvPr/>
        </p:nvSpPr>
        <p:spPr>
          <a:xfrm>
            <a:off x="6217920" y="45628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01968" y="4526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audit logging on; forwarded to SIEM; 6-year retention set</a:t>
            </a:r>
            <a:endParaRPr lang="en-US" sz="110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24128" y="49834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Cloud on; Secure Score baseline captured</a:t>
            </a:r>
            <a:endParaRPr lang="en-US" sz="1100"/>
          </a:p>
        </p:txBody>
      </p:sp>
      <p:sp>
        <p:nvSpPr>
          <p:cNvPr id="35" name="Shape 33"/>
          <p:cNvSpPr/>
          <p:nvPr/>
        </p:nvSpPr>
        <p:spPr>
          <a:xfrm>
            <a:off x="6217920" y="50200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01968" y="49834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Backup/BCDR documented; restore test passed</a:t>
            </a:r>
            <a:endParaRPr lang="en-US" sz="1100"/>
          </a:p>
        </p:txBody>
      </p:sp>
      <p:sp>
        <p:nvSpPr>
          <p:cNvPr id="37" name="Shape 35"/>
          <p:cNvSpPr/>
          <p:nvPr/>
        </p:nvSpPr>
        <p:spPr>
          <a:xfrm>
            <a:off x="640080" y="54772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24128" y="5440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and breach runbooks written and tabletop-tested</a:t>
            </a:r>
            <a:endParaRPr lang="en-US" sz="1100"/>
          </a:p>
        </p:txBody>
      </p:sp>
      <p:sp>
        <p:nvSpPr>
          <p:cNvPr id="39" name="Shape 37"/>
          <p:cNvSpPr/>
          <p:nvPr/>
        </p:nvSpPr>
        <p:spPr>
          <a:xfrm>
            <a:off x="6217920" y="54772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601968" y="5440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training delivered and recorded</a:t>
            </a:r>
            <a:endParaRPr lang="en-US" sz="1100"/>
          </a:p>
        </p:txBody>
      </p:sp>
      <p:sp>
        <p:nvSpPr>
          <p:cNvPr id="41" name="Shape 39"/>
          <p:cNvSpPr/>
          <p:nvPr/>
        </p:nvSpPr>
        <p:spPr>
          <a:xfrm>
            <a:off x="640080" y="59344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024128" y="58978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ePHI in any non-production environment</a:t>
            </a:r>
            <a:endParaRPr lang="en-US" sz="1100"/>
          </a:p>
        </p:txBody>
      </p:sp>
      <p:sp>
        <p:nvSpPr>
          <p:cNvPr id="43" name="Shape 41"/>
          <p:cNvSpPr/>
          <p:nvPr/>
        </p:nvSpPr>
        <p:spPr>
          <a:xfrm>
            <a:off x="6217920" y="593445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601968" y="58978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Continuous-compliance cadence scheduled with named owners</a:t>
            </a:r>
            <a:endParaRPr lang="en-US" sz="110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on Microsoft Fabric  •  Enablement  •  v1.0</a:t>
            </a:r>
            <a:endParaRPr lang="en-US" sz="900"/>
          </a:p>
        </p:txBody>
      </p:sp>
      <p:sp>
        <p:nvSpPr>
          <p:cNvPr id="46" name="Text 44"/>
          <p:cNvSpPr/>
          <p:nvPr/>
        </p:nvSpPr>
        <p:spPr>
          <a:xfrm>
            <a:off x="1106424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tmlgen-assets/3879d34e-650d-4512-a254-e54664d18c72/320fb2484bc44792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>
              <a:alpha val="9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822960" y="685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7F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12</a:t>
            </a:r>
            <a:endParaRPr lang="en-US" sz="1100"/>
          </a:p>
        </p:txBody>
      </p:sp>
      <p:sp>
        <p:nvSpPr>
          <p:cNvPr id="6" name="Text 3"/>
          <p:cNvSpPr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Questions to Finalize</a:t>
            </a:r>
            <a:endParaRPr lang="en-US" sz="3200"/>
          </a:p>
        </p:txBody>
      </p:sp>
      <p:sp>
        <p:nvSpPr>
          <p:cNvPr id="7" name="Shape 4"/>
          <p:cNvSpPr/>
          <p:nvPr/>
        </p:nvSpPr>
        <p:spPr>
          <a:xfrm>
            <a:off x="822960" y="1938528"/>
            <a:ext cx="274320" cy="2743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1280160" y="18745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exact list of Fabric workloads that will process ePHI and lock the ePHI / non-ePHI boundary.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822960" y="2505456"/>
            <a:ext cx="274320" cy="2743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22960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/>
          </a:p>
        </p:txBody>
      </p:sp>
      <p:sp>
        <p:nvSpPr>
          <p:cNvPr id="12" name="Text 9"/>
          <p:cNvSpPr/>
          <p:nvPr/>
        </p:nvSpPr>
        <p:spPr>
          <a:xfrm>
            <a:off x="1280160" y="2441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customer-managed keys vs. Microsoft-managed keys against hospital key-management policy.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22960" y="3072384"/>
            <a:ext cx="274320" cy="2743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/>
          </a:p>
        </p:txBody>
      </p:sp>
      <p:sp>
        <p:nvSpPr>
          <p:cNvPr id="15" name="Text 12"/>
          <p:cNvSpPr/>
          <p:nvPr/>
        </p:nvSpPr>
        <p:spPr>
          <a:xfrm>
            <a:off x="1280160" y="300837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capacity region(s) and the RPO/RTO and BCDR expectations.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822960" y="3639312"/>
            <a:ext cx="274320" cy="2743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22960" y="3639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/>
          </a:p>
        </p:txBody>
      </p:sp>
      <p:sp>
        <p:nvSpPr>
          <p:cNvPr id="18" name="Text 15"/>
          <p:cNvSpPr/>
          <p:nvPr/>
        </p:nvSpPr>
        <p:spPr>
          <a:xfrm>
            <a:off x="1280160" y="35753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Fabric Copilot / Data Agent will be enabled over ePHI, and under what AI-governance guardrails.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822960" y="4206240"/>
            <a:ext cx="274320" cy="2743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229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1280160" y="414223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SIEM of record and an audit-log retention target of at least six years.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822960" y="4773168"/>
            <a:ext cx="274320" cy="2743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22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/>
          </a:p>
        </p:txBody>
      </p:sp>
      <p:sp>
        <p:nvSpPr>
          <p:cNvPr id="24" name="Text 21"/>
          <p:cNvSpPr/>
          <p:nvPr/>
        </p:nvSpPr>
        <p:spPr>
          <a:xfrm>
            <a:off x="1280160" y="470916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Reconfirm BAA coverage for every feature — especially any preview or beta capability.</a:t>
            </a:r>
            <a:endParaRPr lang="en-US" sz="1300"/>
          </a:p>
        </p:txBody>
      </p:sp>
      <p:sp>
        <p:nvSpPr>
          <p:cNvPr id="25" name="Shape 22"/>
          <p:cNvSpPr/>
          <p:nvPr/>
        </p:nvSpPr>
        <p:spPr>
          <a:xfrm>
            <a:off x="822960" y="54406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A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051560" y="5532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Disclaimer: an internal technical implementation guide, not legal advice. Confirm all obligations with your HIPAA compliance/legal team and validate current Microsoft service coverage against your executed BAA/DPA before processing ePHI.</a:t>
            </a:r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fbde396-1a24-4c79-8edf-9254a0f35055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3755</Words>
  <Application>Microsoft Office PowerPoint</Application>
  <PresentationFormat>Widescreen</PresentationFormat>
  <Paragraphs>530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Cook</dc:creator>
  <cp:lastModifiedBy>Sam Cook</cp:lastModifiedBy>
  <cp:revision>1</cp:revision>
  <dcterms:created xsi:type="dcterms:W3CDTF">2026-10-16T17:36:21Z</dcterms:created>
  <dcterms:modified xsi:type="dcterms:W3CDTF">2026-10-16T17:36:21Z</dcterms:modified>
</cp:coreProperties>
</file>